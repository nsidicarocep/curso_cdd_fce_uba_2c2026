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3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5943600" y="73152"/>
            <a:ext cx="3200400" cy="50703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 a R: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entorno y sintaxis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práctica — Viernes 20 de marzo, 2026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63040"/>
            <a:ext cx="1554480" cy="155448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200400"/>
            <a:ext cx="1097280" cy="1097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7"/>
          <p:cNvSpPr/>
          <p:nvPr/>
        </p:nvSpPr>
        <p:spPr>
          <a:xfrm>
            <a:off x="457200" y="4663440"/>
            <a:ext cx="7315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54864" cy="4206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12471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051560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R? Comparación con Excel, Stata y Python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1545336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640080" y="1545336"/>
            <a:ext cx="54864" cy="4206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868680" y="15453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1848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1545336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de R + RStudio / Google Colab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2039112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1"/>
          <p:cNvSpPr/>
          <p:nvPr/>
        </p:nvSpPr>
        <p:spPr>
          <a:xfrm>
            <a:off x="640080" y="2039112"/>
            <a:ext cx="54864" cy="4206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2"/>
          <p:cNvSpPr/>
          <p:nvPr/>
        </p:nvSpPr>
        <p:spPr>
          <a:xfrm>
            <a:off x="868680" y="203911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21122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2039112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vectores, listas y data frames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2532888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5"/>
          <p:cNvSpPr/>
          <p:nvPr/>
        </p:nvSpPr>
        <p:spPr>
          <a:xfrm>
            <a:off x="640080" y="2532888"/>
            <a:ext cx="54864" cy="4206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6"/>
          <p:cNvSpPr/>
          <p:nvPr/>
        </p:nvSpPr>
        <p:spPr>
          <a:xfrm>
            <a:off x="868680" y="253288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260604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2532888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aritméticos, lógicos y de asignación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3026664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19"/>
          <p:cNvSpPr/>
          <p:nvPr/>
        </p:nvSpPr>
        <p:spPr>
          <a:xfrm>
            <a:off x="640080" y="3026664"/>
            <a:ext cx="54864" cy="4206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Text 20"/>
          <p:cNvSpPr/>
          <p:nvPr/>
        </p:nvSpPr>
        <p:spPr>
          <a:xfrm>
            <a:off x="868680" y="30266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309981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3026664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básicas: sum(), mean(), length(), class()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0080" y="3520440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0" name="Shape 23"/>
          <p:cNvSpPr/>
          <p:nvPr/>
        </p:nvSpPr>
        <p:spPr>
          <a:xfrm>
            <a:off x="640080" y="3520440"/>
            <a:ext cx="54864" cy="4206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Text 24"/>
          <p:cNvSpPr/>
          <p:nvPr/>
        </p:nvSpPr>
        <p:spPr>
          <a:xfrm>
            <a:off x="868680" y="352044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40" y="359359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645920" y="3520440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archivos: .R y .Rmd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40080" y="4014216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5" name="Shape 27"/>
          <p:cNvSpPr/>
          <p:nvPr/>
        </p:nvSpPr>
        <p:spPr>
          <a:xfrm>
            <a:off x="640080" y="4014216"/>
            <a:ext cx="54864" cy="4206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28"/>
          <p:cNvSpPr/>
          <p:nvPr/>
        </p:nvSpPr>
        <p:spPr>
          <a:xfrm>
            <a:off x="868680" y="401421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4440" y="4087368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645920" y="4014216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pedir ayuda en R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0" name="Text 31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41" name="Text 32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vs. las herramientas que ya conocés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834640" y="1188720"/>
            <a:ext cx="201168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283464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1920240" cy="411480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1188720"/>
            <a:ext cx="1554480" cy="4114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13232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69164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77724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(scripts)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 (.do)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103120"/>
            <a:ext cx="8046720" cy="3840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77724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(licencia)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2103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(licencia)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51460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77724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2514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 (ggplot2)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514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Básica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926080"/>
            <a:ext cx="8046720" cy="3840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77724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Grandes volúmenes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34640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926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~1M filas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926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33756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77724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y paquetes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34640" y="3337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18.000+ paquetes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3749040"/>
            <a:ext cx="8046720" cy="3840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777240" y="3749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de aprendizaje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749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4206240"/>
            <a:ext cx="786384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822960" y="4206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Python?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651760" y="42062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similar en capacidades. R tiene ventaja en estadística y visualización; Python en ML y desarrollo. En esta materia usamos R, pero los conceptos son transferibles.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y Python: similitudes y diferencias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972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comparten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4173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son gratuitos y open source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80160" y="16459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son lenguajes de programación (no solo herramientas de punto y click)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80160" y="18745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conceptos fundamentales (variables, funciones, loops) son idénticos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80160" y="21031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tienen ecosistemas enormes de paquetes para ciencia de datos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640080" y="2606040"/>
            <a:ext cx="374904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7004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brilla en...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1440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estadístico y econometría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14400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datos (ggplot2)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14400" y="3749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interactiva de datos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14400" y="4023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especializados en economía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0" y="26060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6"/>
          <p:cNvSpPr/>
          <p:nvPr/>
        </p:nvSpPr>
        <p:spPr>
          <a:xfrm>
            <a:off x="4754880" y="2606040"/>
            <a:ext cx="3749040" cy="457200"/>
          </a:xfrm>
          <a:prstGeom prst="rect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7"/>
          <p:cNvSpPr/>
          <p:nvPr/>
        </p:nvSpPr>
        <p:spPr>
          <a:xfrm>
            <a:off x="52578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brilla en...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02920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e IA (TensorFlow, PyTorch)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029200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web y aplicaciones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29200" y="3749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general y scripting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029200" y="4023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de lenguaje natural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40080" y="4526280"/>
            <a:ext cx="78638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4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Instalación: R + RStudio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4904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155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(el lenguaje)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192024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914400" y="1920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8016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a cran.r-project.org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242316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914400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801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Descargar la versión para tu sistema operativo (Windows, Mac o Linux)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4400" y="292608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91440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8016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el instalador con opciones por defecto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" y="342900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5"/>
          <p:cNvSpPr/>
          <p:nvPr/>
        </p:nvSpPr>
        <p:spPr>
          <a:xfrm>
            <a:off x="914400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8016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es el motor — ejecuta el código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10515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8"/>
          <p:cNvSpPr/>
          <p:nvPr/>
        </p:nvSpPr>
        <p:spPr>
          <a:xfrm>
            <a:off x="4754880" y="1051560"/>
            <a:ext cx="3749040" cy="5943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15568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321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 (el entorno)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029200" y="1920240"/>
            <a:ext cx="228600" cy="2286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1"/>
          <p:cNvSpPr/>
          <p:nvPr/>
        </p:nvSpPr>
        <p:spPr>
          <a:xfrm>
            <a:off x="5029200" y="1920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39496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a posit.co/downloads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0" y="2423160"/>
            <a:ext cx="228600" cy="2286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4"/>
          <p:cNvSpPr/>
          <p:nvPr/>
        </p:nvSpPr>
        <p:spPr>
          <a:xfrm>
            <a:off x="5029200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3949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Descargar RStudio Desktop (gratuito)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029200" y="2926080"/>
            <a:ext cx="228600" cy="2286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Text 27"/>
          <p:cNvSpPr/>
          <p:nvPr/>
        </p:nvSpPr>
        <p:spPr>
          <a:xfrm>
            <a:off x="502920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39496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después de haber instalado R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0" y="3429000"/>
            <a:ext cx="228600" cy="2286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4" name="Text 30"/>
          <p:cNvSpPr/>
          <p:nvPr/>
        </p:nvSpPr>
        <p:spPr>
          <a:xfrm>
            <a:off x="5029200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39496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es el tablero — donde escribís y ves todo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7" name="Text 33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Alternativa: Google Colab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podés instalar R en tu computadora, usá Google Colab como plan 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727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con 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8745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Ir a  colab.research.google.com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Crear un nuevo notebook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Cambiar el runtime a R:  Runtime &gt; Change runtime type &gt; R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Escribir código en las celdas y ejecutar con Shift + Enter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3749040" cy="10972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91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14400" y="3611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requiere instalación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desde cualquier navegador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desde cualquier dispositivo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54880" y="3154680"/>
            <a:ext cx="3749040" cy="10972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2918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49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29200" y="3611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 los paneles de RStudio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conexión a internet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Algunas librerías no están disponibles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4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y asignación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variable es un nombre que apunta a un valor guardado en memoria.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29200" cy="2560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Asignación con &lt;-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&lt;- "Argentina"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 &lt;- 632.8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es_latam &lt;- TRUE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También funciona =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poblacion = 46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el valor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   # [1] "Argentina"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4572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  &lt;-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estándar en R para asignar valores. Atajo: Alt + -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5943600" y="2011680"/>
            <a:ext cx="4572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12648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 a mayúsculas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≠ Nombre ≠ NOMBRE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5943600" y="2651760"/>
            <a:ext cx="4572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espacios ni tildes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snake_case: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pbi_per_capita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329184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5943600" y="3291840"/>
            <a:ext cx="4572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612648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numeric, character,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logical, integer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vector es una secuencia ordenada de elementos del mismo tipo. Es la estructura más básica de 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29200" cy="2926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vectores con c()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provincias &lt;- c("CABA", "Buenos Aires", "Córdoba")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pbi_miles &lt;- c(215, 180, 95)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Secuencias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anios &lt;- 2010:2024        # del 2010 al 2024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meses &lt;- seq(1, 12, by=1) # secuencia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Acceder a elementos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provincias[1]   # "CABA"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pbi_miles[2:3]  # 180  95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630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R, los índices empiezan en 1 (no en 0 como en Python).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26060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612648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operaciones se aplican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a elemento: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pbi_miles * 1000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0" y="3794760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612648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elementos deben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del mismo tipo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lista puede contener elementos de distintos tipos (y tamaños). Es como una caja con compartimentos.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29200" cy="2743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una lista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 &lt;- list(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  = "Argentina",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pbi      = 632.8,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vecinos  = c("Brasil", "Chile", "Uruguay")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Acceder con $ o [[]]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pais$nombre       # "Argentina"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pais[["vecinos"]] # "Brasil" "Chile" ...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1264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vs Lista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4944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0" y="2130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0" y="2130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solo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2130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v[i]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l$x  l[[i]]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2770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2770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2770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3429000"/>
            <a:ext cx="2743200" cy="82296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126480" y="3493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clave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data.frame (tabla) es una lista de vectores de igual longitud.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Frames: la tabla de 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más parecido a una hoja de Excel dentro del mundo R. Es la estructura que más vamos a usar en la materia.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754880" cy="2103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un data frame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&lt;- data.frame(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pais     = c("ARG", "BRA", "CHL"),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pbi      = c(632, 1920, 301),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poblacion = c(46, 214, 19)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datos$pbi        # acceder a una columna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301752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58064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ve el data frame: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100584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66928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691640"/>
            <a:ext cx="100584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67512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1691640"/>
            <a:ext cx="100584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768096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poblacion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0116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66928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0116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67512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0116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768096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331720"/>
            <a:ext cx="100584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5669280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331720"/>
            <a:ext cx="100584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6675120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0" y="2331720"/>
            <a:ext cx="100584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7680960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265176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566928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265176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667512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0" y="265176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768096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6118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640080" y="3611880"/>
            <a:ext cx="45720" cy="868680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86868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a Excel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3913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= observaciones (países, personas)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= variables (PBI, población)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columna tiene un tipo de dato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6118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8" name="Shape 36"/>
          <p:cNvSpPr/>
          <p:nvPr/>
        </p:nvSpPr>
        <p:spPr>
          <a:xfrm>
            <a:off x="4754880" y="3611880"/>
            <a:ext cx="4572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498348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que Excel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913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 práctico de filas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reproducibles con código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integra con todo el ecosistema de 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Operadores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56032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Aritméticos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Suma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 Resta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Multiplicación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División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    Potencia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   Módulo (resto)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051560"/>
            <a:ext cx="25603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47472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0" y="15087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6576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 Igual 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   Distinto 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  Mayor 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   Menor que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  Mayor o igual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   Menor o igual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051560"/>
            <a:ext cx="256032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30936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5087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649224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   Y (AND)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O (OR)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   Negación (NOT)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%in% Pertenencia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 &gt; 500 &amp; poblacion &lt; 50   # TRUE    |    "CABA" %in% provincias   # TRUE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Funciones básicas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nombre_funcion(argumento1, argumento2, ...)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4864" cy="65836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719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todos los elementos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47548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3657600" y="1463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sum(c(10, 20, 30))  →  60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4864" cy="65836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144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mean(x)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496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aritmético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240280"/>
            <a:ext cx="47548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65760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mean(c(10, 20, 30))  →  20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640080" y="2926080"/>
            <a:ext cx="54864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length(x)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273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elementos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0" y="3017520"/>
            <a:ext cx="47548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365760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length(c(10, 20, 30))  →  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54864" cy="65836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9144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class(x)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050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dato del objeto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0" y="3794760"/>
            <a:ext cx="47548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365760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class("hola")  →  "character"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archivos en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4904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155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 .R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8288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de texto plano con código 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 línea por línea o por bloque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scripts de análisis, funciones y automatización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comenta con  #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vamos a usar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esta materia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749040" cy="5943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155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Markdown  .Rmd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18288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código R con texto narrativo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reportes en HTML, PDF o Word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va dentro de "chunks"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documentar análisis y compartir resultados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para el trabajo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 la materia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1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pedir ayuda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1887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R / RStudio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25880" y="14813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?mean  o  help(mean)  — Documentación de una función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325880" y="17007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??regression  — Buscar en toda la ayuda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325880" y="1920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example(mean)  — Ver ejemplos de uso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2377440"/>
            <a:ext cx="7863840" cy="105156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9"/>
          <p:cNvSpPr/>
          <p:nvPr/>
        </p:nvSpPr>
        <p:spPr>
          <a:xfrm>
            <a:off x="640080" y="237744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online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25880" y="27614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 (tag [r]) — Preguntas y respuestas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325880" y="298094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for Data Science (r4ds.hadley.nz) — Libro gratuito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25880" y="32004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Cheatsheets (posit.co/resources) — Resúmenes visuales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5"/>
          <p:cNvSpPr/>
          <p:nvPr/>
        </p:nvSpPr>
        <p:spPr>
          <a:xfrm>
            <a:off x="640080" y="365760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al buscar ayuda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25880" y="40416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Googlear el error exacto (entre comillas)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325880" y="4261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ejemplo mínimo reproducible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325880" y="44805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la pestaña Help de RStudio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1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1547</Words>
  <Application>Microsoft Office PowerPoint</Application>
  <PresentationFormat>Presentación en pantalla (16:9)</PresentationFormat>
  <Paragraphs>312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2 - Introducción a R: entorno y sintaxis</dc:title>
  <dc:subject>PptxGenJS Presentation</dc:subject>
  <dc:creator>Nicolás Sidicaro</dc:creator>
  <cp:lastModifiedBy>SIDICARO NICOLAS LEONARDO</cp:lastModifiedBy>
  <cp:revision>1</cp:revision>
  <dcterms:created xsi:type="dcterms:W3CDTF">2026-03-03T11:52:13Z</dcterms:created>
  <dcterms:modified xsi:type="dcterms:W3CDTF">2026-03-20T12:57:38Z</dcterms:modified>
</cp:coreProperties>
</file>