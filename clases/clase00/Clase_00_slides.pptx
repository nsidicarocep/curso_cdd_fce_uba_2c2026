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75" r:id="rId3"/>
    <p:sldId id="257" r:id="rId4"/>
    <p:sldId id="258" r:id="rId5"/>
    <p:sldId id="267" r:id="rId6"/>
    <p:sldId id="268" r:id="rId7"/>
    <p:sldId id="259" r:id="rId8"/>
    <p:sldId id="260" r:id="rId9"/>
    <p:sldId id="276" r:id="rId10"/>
    <p:sldId id="261" r:id="rId11"/>
    <p:sldId id="271" r:id="rId12"/>
    <p:sldId id="262" r:id="rId13"/>
    <p:sldId id="263" r:id="rId14"/>
    <p:sldId id="272" r:id="rId15"/>
    <p:sldId id="274" r:id="rId16"/>
    <p:sldId id="264" r:id="rId17"/>
    <p:sldId id="269" r:id="rId18"/>
    <p:sldId id="277" r:id="rId19"/>
    <p:sldId id="266"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56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7468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CB246-C26C-FD8D-9717-806AF81F7F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9C4E3A-1ED9-1E90-8CA2-97997754AB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13D37D-AEA1-24E9-E136-8D33E514BE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0CDBE6-E324-F1B9-0BBB-4E71C1C9B07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140203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C6457-1438-E859-E3D7-3EC71ECF41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FF4AF9-9471-C3DD-C028-25D0878A10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864194-AD55-877B-F70D-694EE9B8AE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78A661-7368-5ECD-6B36-5A474775010B}"/>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654906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FBD85-1B36-1BFD-F520-2D7F90DFBD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F06DBC-3BD5-66EF-EDC0-07EA5A9BBD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5776F6-D6CE-A440-B351-1F4DF3E76E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62F1AD-6036-58E2-C57B-47D0987AD0F8}"/>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3941336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848B2-3B14-5593-1AA4-FB712C800D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B1275E-5773-1C16-5344-341304E2A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C1E76-6389-D58D-9E2A-924CD47CF6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803072-B93A-83D2-EA08-FFA6EF0E65CB}"/>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571350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D6CA0-7D0B-E1AF-93E8-48533E3AD2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2AF582-6A74-4665-513A-530E65F85C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4D9E4A-638E-F326-A8FD-48A11D5F5D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B2D0B4-7194-6C99-8AF0-C6693BD9841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031440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00EAA-3B91-B76E-3202-20904E78C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40DCCB-51CE-D9D4-51EC-73DA36BABA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8227AB-45A0-8275-1E6B-44DE1A0520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00F9C3-BA4A-B0A1-36A0-5F146C88C4F1}"/>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6501442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4CD40-D4D1-B815-DCE5-56E3E10C99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D6D9E8-3D7E-5F56-1FBF-3B89FAD34F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31ACEF-8D48-527F-69B0-1315612BEA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B334FD-AD89-6624-E34C-9DC392F6E98E}"/>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6205167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F1408-0FDE-FB2E-01CD-20C20E2811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ED0139-4540-BE66-83F2-7C84781417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38A9F1-C56B-8CAF-76D5-BF28D8FD71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F3E5A8-B70B-5D82-1BF1-3FF91F9D80A6}"/>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8040791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3D64F-E283-5024-EAF3-DF3043BE6C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93BB05-13FE-AC89-0A40-8F39242AD1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A44402-7D35-2FF3-C4CD-C30D48CC8A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DA1FDB-753E-97A8-4D4B-1E8EBDDDF46E}"/>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8047335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www.geeksforgeeks.org/git/difference-between-fork-and-clone-in-github/"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B4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Shape 1"/>
          <p:cNvSpPr/>
          <p:nvPr/>
        </p:nvSpPr>
        <p:spPr>
          <a:xfrm>
            <a:off x="0" y="54864"/>
            <a:ext cx="36576" cy="5088636"/>
          </a:xfrm>
          <a:prstGeom prst="rect">
            <a:avLst/>
          </a:prstGeom>
          <a:solidFill>
            <a:srgbClr val="2E9EBF">
              <a:alpha val="60000"/>
            </a:srgbClr>
          </a:solidFill>
          <a:ln/>
        </p:spPr>
        <p:txBody>
          <a:bodyPr/>
          <a:lstStyle/>
          <a:p>
            <a:endParaRPr lang="es-AR" noProof="0" dirty="0"/>
          </a:p>
        </p:txBody>
      </p:sp>
      <p:pic>
        <p:nvPicPr>
          <p:cNvPr id="4" name="Image 0" descr="preencoded.png"/>
          <p:cNvPicPr>
            <a:picLocks noChangeAspect="1"/>
          </p:cNvPicPr>
          <p:nvPr/>
        </p:nvPicPr>
        <p:blipFill>
          <a:blip r:embed="rId3"/>
          <a:stretch>
            <a:fillRect/>
          </a:stretch>
        </p:blipFill>
        <p:spPr>
          <a:xfrm>
            <a:off x="4114800" y="640080"/>
            <a:ext cx="914400" cy="914400"/>
          </a:xfrm>
          <a:prstGeom prst="rect">
            <a:avLst/>
          </a:prstGeom>
        </p:spPr>
      </p:pic>
      <p:sp>
        <p:nvSpPr>
          <p:cNvPr id="5" name="Text 2"/>
          <p:cNvSpPr/>
          <p:nvPr/>
        </p:nvSpPr>
        <p:spPr>
          <a:xfrm>
            <a:off x="731520" y="1645920"/>
            <a:ext cx="7680960" cy="1280160"/>
          </a:xfrm>
          <a:prstGeom prst="rect">
            <a:avLst/>
          </a:prstGeom>
          <a:noFill/>
          <a:ln/>
        </p:spPr>
        <p:txBody>
          <a:bodyPr wrap="square" rtlCol="0" anchor="ctr"/>
          <a:lstStyle/>
          <a:p>
            <a:pPr marL="0" indent="0" algn="ctr">
              <a:lnSpc>
                <a:spcPct val="115000"/>
              </a:lnSpc>
              <a:buNone/>
            </a:pPr>
            <a:r>
              <a:rPr lang="es-AR" sz="3400" b="1" noProof="0" dirty="0">
                <a:solidFill>
                  <a:srgbClr val="FFFFFF"/>
                </a:solidFill>
                <a:latin typeface="Georgia" pitchFamily="34" charset="0"/>
                <a:ea typeface="Georgia" pitchFamily="34" charset="-122"/>
                <a:cs typeface="Georgia" pitchFamily="34" charset="-120"/>
              </a:rPr>
              <a:t>Ciencia de Datos</a:t>
            </a:r>
            <a:endParaRPr lang="es-AR" sz="3400" noProof="0" dirty="0"/>
          </a:p>
          <a:p>
            <a:pPr marL="0" indent="0" algn="ctr">
              <a:lnSpc>
                <a:spcPct val="115000"/>
              </a:lnSpc>
              <a:buNone/>
            </a:pPr>
            <a:r>
              <a:rPr lang="es-AR" sz="3400" b="1" noProof="0" dirty="0">
                <a:solidFill>
                  <a:srgbClr val="FFFFFF"/>
                </a:solidFill>
                <a:latin typeface="Georgia" pitchFamily="34" charset="0"/>
                <a:ea typeface="Georgia" pitchFamily="34" charset="-122"/>
                <a:cs typeface="Georgia" pitchFamily="34" charset="-120"/>
              </a:rPr>
              <a:t>para Economía y Negocios</a:t>
            </a:r>
            <a:endParaRPr lang="es-AR" sz="3400" noProof="0" dirty="0"/>
          </a:p>
        </p:txBody>
      </p:sp>
      <p:sp>
        <p:nvSpPr>
          <p:cNvPr id="6" name="Shape 3"/>
          <p:cNvSpPr/>
          <p:nvPr/>
        </p:nvSpPr>
        <p:spPr>
          <a:xfrm>
            <a:off x="3200400" y="3063240"/>
            <a:ext cx="2743200" cy="22860"/>
          </a:xfrm>
          <a:prstGeom prst="rect">
            <a:avLst/>
          </a:prstGeom>
          <a:solidFill>
            <a:srgbClr val="E8963E"/>
          </a:solidFill>
          <a:ln/>
        </p:spPr>
        <p:txBody>
          <a:bodyPr/>
          <a:lstStyle/>
          <a:p>
            <a:endParaRPr lang="es-AR" noProof="0" dirty="0"/>
          </a:p>
        </p:txBody>
      </p:sp>
      <p:sp>
        <p:nvSpPr>
          <p:cNvPr id="7" name="Text 4"/>
          <p:cNvSpPr/>
          <p:nvPr/>
        </p:nvSpPr>
        <p:spPr>
          <a:xfrm>
            <a:off x="914400" y="3246120"/>
            <a:ext cx="7315200" cy="457200"/>
          </a:xfrm>
          <a:prstGeom prst="rect">
            <a:avLst/>
          </a:prstGeom>
          <a:noFill/>
          <a:ln/>
        </p:spPr>
        <p:txBody>
          <a:bodyPr wrap="square" rtlCol="0" anchor="ctr"/>
          <a:lstStyle/>
          <a:p>
            <a:pPr marL="0" indent="0" algn="ctr">
              <a:buNone/>
            </a:pPr>
            <a:r>
              <a:rPr lang="es-AR" sz="1800" noProof="0" dirty="0">
                <a:solidFill>
                  <a:srgbClr val="2E9EBF"/>
                </a:solidFill>
                <a:latin typeface="Calibri" pitchFamily="34" charset="0"/>
                <a:ea typeface="Calibri" pitchFamily="34" charset="-122"/>
                <a:cs typeface="Calibri" pitchFamily="34" charset="-120"/>
              </a:rPr>
              <a:t>Clase 1: Presentación del Curso</a:t>
            </a:r>
            <a:endParaRPr lang="es-AR" sz="1800" noProof="0" dirty="0"/>
          </a:p>
        </p:txBody>
      </p:sp>
      <p:sp>
        <p:nvSpPr>
          <p:cNvPr id="8" name="Text 5"/>
          <p:cNvSpPr/>
          <p:nvPr/>
        </p:nvSpPr>
        <p:spPr>
          <a:xfrm>
            <a:off x="914400" y="3794760"/>
            <a:ext cx="7315200" cy="640080"/>
          </a:xfrm>
          <a:prstGeom prst="rect">
            <a:avLst/>
          </a:prstGeom>
          <a:noFill/>
          <a:ln/>
        </p:spPr>
        <p:txBody>
          <a:bodyPr wrap="square" rtlCol="0" anchor="ctr"/>
          <a:lstStyle/>
          <a:p>
            <a:pPr marL="0" indent="0" algn="ctr">
              <a:lnSpc>
                <a:spcPct val="140000"/>
              </a:lnSpc>
              <a:buNone/>
            </a:pPr>
            <a:r>
              <a:rPr lang="es-AR" sz="1300" noProof="0" dirty="0">
                <a:solidFill>
                  <a:srgbClr val="7FA8C4"/>
                </a:solidFill>
                <a:latin typeface="Calibri" pitchFamily="34" charset="0"/>
                <a:ea typeface="Calibri" pitchFamily="34" charset="-122"/>
                <a:cs typeface="Calibri" pitchFamily="34" charset="-120"/>
              </a:rPr>
              <a:t>Facultad de Ciencias Económicas — Universidad de Buenos Aires</a:t>
            </a:r>
            <a:endParaRPr lang="es-AR" sz="1300" noProof="0" dirty="0"/>
          </a:p>
          <a:p>
            <a:pPr marL="0" indent="0" algn="ctr">
              <a:lnSpc>
                <a:spcPct val="140000"/>
              </a:lnSpc>
              <a:buNone/>
            </a:pPr>
            <a:r>
              <a:rPr lang="es-AR" sz="1300" dirty="0">
                <a:solidFill>
                  <a:srgbClr val="7FA8C4"/>
                </a:solidFill>
                <a:latin typeface="Calibri" pitchFamily="34" charset="0"/>
                <a:ea typeface="Calibri" pitchFamily="34" charset="-122"/>
                <a:cs typeface="Calibri" pitchFamily="34" charset="-120"/>
              </a:rPr>
              <a:t>2do</a:t>
            </a:r>
            <a:r>
              <a:rPr lang="es-AR" sz="1300" noProof="0" dirty="0">
                <a:solidFill>
                  <a:srgbClr val="7FA8C4"/>
                </a:solidFill>
                <a:latin typeface="Calibri" pitchFamily="34" charset="0"/>
                <a:ea typeface="Calibri" pitchFamily="34" charset="-122"/>
                <a:cs typeface="Calibri" pitchFamily="34" charset="-120"/>
              </a:rPr>
              <a:t> Cuatrimestre 2026</a:t>
            </a:r>
            <a:endParaRPr lang="es-AR" sz="1300" noProof="0" dirty="0"/>
          </a:p>
        </p:txBody>
      </p:sp>
      <p:sp>
        <p:nvSpPr>
          <p:cNvPr id="9" name="Shape 6"/>
          <p:cNvSpPr/>
          <p:nvPr/>
        </p:nvSpPr>
        <p:spPr>
          <a:xfrm>
            <a:off x="0" y="4709160"/>
            <a:ext cx="9144000" cy="434340"/>
          </a:xfrm>
          <a:prstGeom prst="rect">
            <a:avLst/>
          </a:prstGeom>
          <a:solidFill>
            <a:srgbClr val="071520"/>
          </a:solidFill>
          <a:ln/>
        </p:spPr>
        <p:txBody>
          <a:bodyPr/>
          <a:lstStyle/>
          <a:p>
            <a:endParaRPr lang="es-AR" noProof="0" dirty="0"/>
          </a:p>
        </p:txBody>
      </p:sp>
      <p:sp>
        <p:nvSpPr>
          <p:cNvPr id="10" name="Text 7"/>
          <p:cNvSpPr/>
          <p:nvPr/>
        </p:nvSpPr>
        <p:spPr>
          <a:xfrm>
            <a:off x="457200" y="4709160"/>
            <a:ext cx="8229600" cy="434340"/>
          </a:xfrm>
          <a:prstGeom prst="rect">
            <a:avLst/>
          </a:prstGeom>
          <a:noFill/>
          <a:ln/>
        </p:spPr>
        <p:txBody>
          <a:bodyPr wrap="square" lIns="0" tIns="0" rIns="0" bIns="0" rtlCol="0" anchor="ctr"/>
          <a:lstStyle/>
          <a:p>
            <a:pPr marL="0" indent="0" algn="ctr">
              <a:buNone/>
            </a:pPr>
            <a:r>
              <a:rPr lang="es-AR" sz="850" noProof="0" dirty="0">
                <a:solidFill>
                  <a:srgbClr val="7FA8C4"/>
                </a:solidFill>
                <a:latin typeface="Calibri" pitchFamily="34" charset="0"/>
                <a:ea typeface="Calibri" pitchFamily="34" charset="-122"/>
                <a:cs typeface="Calibri" pitchFamily="34" charset="-120"/>
              </a:rPr>
              <a:t>Ciencia de Datos para Economía y Negocios  |  FCE-UBA  |  Nicolás Sidicaro y Maida Beltrán</a:t>
            </a:r>
            <a:endParaRPr lang="es-AR" sz="85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49A10-3B94-A216-F8F7-4BA16EA3349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26E0ED1-EDCD-05C4-69D1-D393B797E668}"/>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B4712408-132B-B600-A6FB-1E50F77A845B}"/>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Presentación</a:t>
            </a:r>
            <a:endParaRPr lang="es-AR" sz="3000" noProof="0" dirty="0"/>
          </a:p>
        </p:txBody>
      </p:sp>
      <p:sp>
        <p:nvSpPr>
          <p:cNvPr id="4" name="Text 2">
            <a:extLst>
              <a:ext uri="{FF2B5EF4-FFF2-40B4-BE49-F238E27FC236}">
                <a16:creationId xmlns:a16="http://schemas.microsoft.com/office/drawing/2014/main" id="{FB5F928A-E01E-3D59-9783-970F1A7D1667}"/>
              </a:ext>
            </a:extLst>
          </p:cNvPr>
          <p:cNvSpPr/>
          <p:nvPr/>
        </p:nvSpPr>
        <p:spPr>
          <a:xfrm>
            <a:off x="640080" y="960120"/>
            <a:ext cx="7863840" cy="685800"/>
          </a:xfrm>
          <a:prstGeom prst="rect">
            <a:avLst/>
          </a:prstGeom>
          <a:noFill/>
          <a:ln/>
        </p:spPr>
        <p:txBody>
          <a:bodyPr wrap="square" rtlCol="0" anchor="t"/>
          <a:lstStyle/>
          <a:p>
            <a:pPr marL="0" indent="0" algn="l">
              <a:lnSpc>
                <a:spcPct val="135000"/>
              </a:lnSpc>
              <a:buNone/>
            </a:pPr>
            <a:r>
              <a:rPr lang="es-AR" sz="1300" noProof="0" dirty="0">
                <a:solidFill>
                  <a:srgbClr val="5A7184"/>
                </a:solidFill>
                <a:latin typeface="Calibri" pitchFamily="34" charset="0"/>
                <a:ea typeface="Calibri" pitchFamily="34" charset="-122"/>
                <a:cs typeface="Calibri" pitchFamily="34" charset="-120"/>
              </a:rPr>
              <a:t>Docente: Nicolás Sidicaro</a:t>
            </a:r>
          </a:p>
          <a:p>
            <a:pPr marL="0" indent="0" algn="l">
              <a:lnSpc>
                <a:spcPct val="135000"/>
              </a:lnSpc>
              <a:buNone/>
            </a:pPr>
            <a:r>
              <a:rPr lang="es-AR" sz="1300" dirty="0">
                <a:solidFill>
                  <a:srgbClr val="5A7184"/>
                </a:solidFill>
                <a:latin typeface="Calibri" pitchFamily="34" charset="0"/>
                <a:cs typeface="Calibri" pitchFamily="34" charset="-120"/>
              </a:rPr>
              <a:t>Mail: nsidicaro.fce@gmail.com</a:t>
            </a:r>
            <a:endParaRPr lang="es-AR" sz="1300" noProof="0" dirty="0"/>
          </a:p>
        </p:txBody>
      </p:sp>
      <p:sp>
        <p:nvSpPr>
          <p:cNvPr id="5" name="Shape 3">
            <a:extLst>
              <a:ext uri="{FF2B5EF4-FFF2-40B4-BE49-F238E27FC236}">
                <a16:creationId xmlns:a16="http://schemas.microsoft.com/office/drawing/2014/main" id="{C8CC17E7-7E81-ADF8-3DA0-BAD076D9D46C}"/>
              </a:ext>
            </a:extLst>
          </p:cNvPr>
          <p:cNvSpPr/>
          <p:nvPr/>
        </p:nvSpPr>
        <p:spPr>
          <a:xfrm>
            <a:off x="640080" y="1828800"/>
            <a:ext cx="2514600" cy="2331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6" name="Shape 4">
            <a:extLst>
              <a:ext uri="{FF2B5EF4-FFF2-40B4-BE49-F238E27FC236}">
                <a16:creationId xmlns:a16="http://schemas.microsoft.com/office/drawing/2014/main" id="{0DE83D8A-6A86-A540-73B3-B60C49950138}"/>
              </a:ext>
            </a:extLst>
          </p:cNvPr>
          <p:cNvSpPr/>
          <p:nvPr/>
        </p:nvSpPr>
        <p:spPr>
          <a:xfrm>
            <a:off x="640080" y="1828800"/>
            <a:ext cx="2514600" cy="54864"/>
          </a:xfrm>
          <a:prstGeom prst="rect">
            <a:avLst/>
          </a:prstGeom>
          <a:solidFill>
            <a:srgbClr val="1A6B8A"/>
          </a:solidFill>
          <a:ln/>
        </p:spPr>
        <p:txBody>
          <a:bodyPr/>
          <a:lstStyle/>
          <a:p>
            <a:endParaRPr lang="es-AR" noProof="0" dirty="0"/>
          </a:p>
        </p:txBody>
      </p:sp>
      <p:sp>
        <p:nvSpPr>
          <p:cNvPr id="8" name="Text 5">
            <a:extLst>
              <a:ext uri="{FF2B5EF4-FFF2-40B4-BE49-F238E27FC236}">
                <a16:creationId xmlns:a16="http://schemas.microsoft.com/office/drawing/2014/main" id="{65942137-9000-888B-AE2D-85D355BD5486}"/>
              </a:ext>
            </a:extLst>
          </p:cNvPr>
          <p:cNvSpPr/>
          <p:nvPr/>
        </p:nvSpPr>
        <p:spPr>
          <a:xfrm>
            <a:off x="822960" y="2016901"/>
            <a:ext cx="2148840" cy="365760"/>
          </a:xfrm>
          <a:prstGeom prst="rect">
            <a:avLst/>
          </a:prstGeom>
          <a:noFill/>
          <a:ln/>
        </p:spPr>
        <p:txBody>
          <a:bodyPr wrap="square" lIns="0" tIns="0" rIns="0" bIns="0" rtlCol="0" anchor="ctr"/>
          <a:lstStyle/>
          <a:p>
            <a:pPr marL="0" indent="0" algn="ctr">
              <a:buNone/>
            </a:pPr>
            <a:r>
              <a:rPr lang="es-AR" sz="1500" b="1" noProof="0" dirty="0">
                <a:solidFill>
                  <a:srgbClr val="0F2B46"/>
                </a:solidFill>
                <a:latin typeface="Georgia" pitchFamily="34" charset="0"/>
                <a:ea typeface="Georgia" pitchFamily="34" charset="-122"/>
                <a:cs typeface="Georgia" pitchFamily="34" charset="-120"/>
              </a:rPr>
              <a:t>Trabajo</a:t>
            </a:r>
            <a:endParaRPr lang="es-AR" sz="1500" noProof="0" dirty="0"/>
          </a:p>
        </p:txBody>
      </p:sp>
      <p:sp>
        <p:nvSpPr>
          <p:cNvPr id="9" name="Text 6">
            <a:extLst>
              <a:ext uri="{FF2B5EF4-FFF2-40B4-BE49-F238E27FC236}">
                <a16:creationId xmlns:a16="http://schemas.microsoft.com/office/drawing/2014/main" id="{3E6212A8-D4B9-1CF5-169A-78C74B05E994}"/>
              </a:ext>
            </a:extLst>
          </p:cNvPr>
          <p:cNvSpPr/>
          <p:nvPr/>
        </p:nvSpPr>
        <p:spPr>
          <a:xfrm>
            <a:off x="822960" y="2368296"/>
            <a:ext cx="2148840" cy="1517904"/>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Fundar (</a:t>
            </a:r>
            <a:r>
              <a:rPr lang="es-AR" sz="1100" noProof="0" dirty="0" err="1">
                <a:solidFill>
                  <a:srgbClr val="5A7184"/>
                </a:solidFill>
                <a:latin typeface="Calibri" pitchFamily="34" charset="0"/>
                <a:ea typeface="Calibri" pitchFamily="34" charset="-122"/>
                <a:cs typeface="Calibri" pitchFamily="34" charset="-120"/>
              </a:rPr>
              <a:t>Think</a:t>
            </a:r>
            <a:r>
              <a:rPr lang="es-AR" sz="1100" noProof="0" dirty="0">
                <a:solidFill>
                  <a:srgbClr val="5A7184"/>
                </a:solidFill>
                <a:latin typeface="Calibri" pitchFamily="34" charset="0"/>
                <a:ea typeface="Calibri" pitchFamily="34" charset="-122"/>
                <a:cs typeface="Calibri" pitchFamily="34" charset="-120"/>
              </a:rPr>
              <a:t> </a:t>
            </a:r>
            <a:r>
              <a:rPr lang="es-AR" sz="1100" noProof="0" dirty="0" err="1">
                <a:solidFill>
                  <a:srgbClr val="5A7184"/>
                </a:solidFill>
                <a:latin typeface="Calibri" pitchFamily="34" charset="0"/>
                <a:ea typeface="Calibri" pitchFamily="34" charset="-122"/>
                <a:cs typeface="Calibri" pitchFamily="34" charset="-120"/>
              </a:rPr>
              <a:t>Tank</a:t>
            </a:r>
            <a:r>
              <a:rPr lang="es-AR" sz="1100" noProof="0" dirty="0">
                <a:solidFill>
                  <a:srgbClr val="5A7184"/>
                </a:solidFill>
                <a:latin typeface="Calibri" pitchFamily="34" charset="0"/>
                <a:ea typeface="Calibri" pitchFamily="34" charset="-122"/>
                <a:cs typeface="Calibri" pitchFamily="34" charset="-120"/>
              </a:rPr>
              <a:t>)</a:t>
            </a:r>
          </a:p>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Ministerio de Economía</a:t>
            </a:r>
          </a:p>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Sector privado</a:t>
            </a:r>
          </a:p>
          <a:p>
            <a:pPr marL="0" indent="0" algn="ctr">
              <a:lnSpc>
                <a:spcPct val="130000"/>
              </a:lnSpc>
              <a:buNone/>
            </a:pPr>
            <a:endParaRPr lang="es-AR" sz="1100" dirty="0">
              <a:solidFill>
                <a:srgbClr val="5A7184"/>
              </a:solidFill>
              <a:latin typeface="Calibri" pitchFamily="34" charset="0"/>
              <a:cs typeface="Calibri" pitchFamily="34" charset="-120"/>
            </a:endParaRPr>
          </a:p>
          <a:p>
            <a:pPr marL="0" indent="0" algn="ctr">
              <a:lnSpc>
                <a:spcPct val="130000"/>
              </a:lnSpc>
              <a:buNone/>
            </a:pPr>
            <a:r>
              <a:rPr lang="es-AR" sz="1100" noProof="0" dirty="0">
                <a:solidFill>
                  <a:srgbClr val="5A7184"/>
                </a:solidFill>
                <a:latin typeface="Calibri" pitchFamily="34" charset="0"/>
                <a:cs typeface="Calibri" pitchFamily="34" charset="-120"/>
              </a:rPr>
              <a:t>Docente de Econometría (UADE) y Ciencia de Datos (UBA)</a:t>
            </a:r>
            <a:endParaRPr lang="es-AR" sz="1100" noProof="0" dirty="0"/>
          </a:p>
        </p:txBody>
      </p:sp>
      <p:sp>
        <p:nvSpPr>
          <p:cNvPr id="10" name="Shape 7">
            <a:extLst>
              <a:ext uri="{FF2B5EF4-FFF2-40B4-BE49-F238E27FC236}">
                <a16:creationId xmlns:a16="http://schemas.microsoft.com/office/drawing/2014/main" id="{3814B89B-50AD-4870-FED5-795647D9DB86}"/>
              </a:ext>
            </a:extLst>
          </p:cNvPr>
          <p:cNvSpPr/>
          <p:nvPr/>
        </p:nvSpPr>
        <p:spPr>
          <a:xfrm>
            <a:off x="3429000" y="1828800"/>
            <a:ext cx="2514600" cy="2331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1" name="Shape 8">
            <a:extLst>
              <a:ext uri="{FF2B5EF4-FFF2-40B4-BE49-F238E27FC236}">
                <a16:creationId xmlns:a16="http://schemas.microsoft.com/office/drawing/2014/main" id="{997FB800-CF24-0ECC-1907-F4C861AEEA93}"/>
              </a:ext>
            </a:extLst>
          </p:cNvPr>
          <p:cNvSpPr/>
          <p:nvPr/>
        </p:nvSpPr>
        <p:spPr>
          <a:xfrm>
            <a:off x="3429000" y="1828800"/>
            <a:ext cx="2514600" cy="54864"/>
          </a:xfrm>
          <a:prstGeom prst="rect">
            <a:avLst/>
          </a:prstGeom>
          <a:solidFill>
            <a:srgbClr val="1A6B8A"/>
          </a:solidFill>
          <a:ln/>
        </p:spPr>
        <p:txBody>
          <a:bodyPr/>
          <a:lstStyle/>
          <a:p>
            <a:endParaRPr lang="es-AR" noProof="0" dirty="0"/>
          </a:p>
        </p:txBody>
      </p:sp>
      <p:sp>
        <p:nvSpPr>
          <p:cNvPr id="13" name="Text 9">
            <a:extLst>
              <a:ext uri="{FF2B5EF4-FFF2-40B4-BE49-F238E27FC236}">
                <a16:creationId xmlns:a16="http://schemas.microsoft.com/office/drawing/2014/main" id="{FEB6D645-6275-5485-5EC0-2BECD9BC804C}"/>
              </a:ext>
            </a:extLst>
          </p:cNvPr>
          <p:cNvSpPr/>
          <p:nvPr/>
        </p:nvSpPr>
        <p:spPr>
          <a:xfrm>
            <a:off x="3611880" y="2002536"/>
            <a:ext cx="2148840" cy="365760"/>
          </a:xfrm>
          <a:prstGeom prst="rect">
            <a:avLst/>
          </a:prstGeom>
          <a:noFill/>
          <a:ln/>
        </p:spPr>
        <p:txBody>
          <a:bodyPr wrap="square" lIns="0" tIns="0" rIns="0" bIns="0" rtlCol="0" anchor="ctr"/>
          <a:lstStyle/>
          <a:p>
            <a:pPr marL="0" indent="0" algn="ctr">
              <a:buNone/>
            </a:pPr>
            <a:r>
              <a:rPr lang="es-AR" sz="1500" b="1" noProof="0" dirty="0">
                <a:solidFill>
                  <a:srgbClr val="0F2B46"/>
                </a:solidFill>
                <a:latin typeface="Georgia" pitchFamily="34" charset="0"/>
                <a:ea typeface="Georgia" pitchFamily="34" charset="-122"/>
                <a:cs typeface="Georgia" pitchFamily="34" charset="-120"/>
              </a:rPr>
              <a:t>Estudios</a:t>
            </a:r>
            <a:endParaRPr lang="es-AR" sz="1500" noProof="0" dirty="0"/>
          </a:p>
        </p:txBody>
      </p:sp>
      <p:sp>
        <p:nvSpPr>
          <p:cNvPr id="14" name="Text 10">
            <a:extLst>
              <a:ext uri="{FF2B5EF4-FFF2-40B4-BE49-F238E27FC236}">
                <a16:creationId xmlns:a16="http://schemas.microsoft.com/office/drawing/2014/main" id="{520D6901-9C8E-0E22-9E9A-3D68B4579929}"/>
              </a:ext>
            </a:extLst>
          </p:cNvPr>
          <p:cNvSpPr/>
          <p:nvPr/>
        </p:nvSpPr>
        <p:spPr>
          <a:xfrm>
            <a:off x="3611880" y="2377440"/>
            <a:ext cx="2148840" cy="7772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Economista (UBA)</a:t>
            </a:r>
          </a:p>
          <a:p>
            <a:pPr marL="0" indent="0" algn="ctr">
              <a:lnSpc>
                <a:spcPct val="130000"/>
              </a:lnSpc>
              <a:buNone/>
            </a:pPr>
            <a:r>
              <a:rPr lang="es-AR" sz="1100" dirty="0">
                <a:solidFill>
                  <a:srgbClr val="5A7184"/>
                </a:solidFill>
                <a:latin typeface="Calibri" pitchFamily="34" charset="0"/>
                <a:cs typeface="Calibri" pitchFamily="34" charset="-120"/>
              </a:rPr>
              <a:t>Especialista en Políticas Sociales (UNTREF)</a:t>
            </a:r>
          </a:p>
          <a:p>
            <a:pPr marL="0" indent="0" algn="ctr">
              <a:lnSpc>
                <a:spcPct val="130000"/>
              </a:lnSpc>
              <a:buNone/>
            </a:pPr>
            <a:r>
              <a:rPr lang="es-AR" sz="1100" noProof="0" dirty="0">
                <a:solidFill>
                  <a:srgbClr val="5A7184"/>
                </a:solidFill>
                <a:latin typeface="Calibri" pitchFamily="34" charset="0"/>
                <a:cs typeface="Calibri" pitchFamily="34" charset="-120"/>
              </a:rPr>
              <a:t>Maestrando en Desarrollo Económico (UNSAM)</a:t>
            </a:r>
            <a:endParaRPr lang="es-AR" sz="1100" noProof="0" dirty="0"/>
          </a:p>
        </p:txBody>
      </p:sp>
      <p:sp>
        <p:nvSpPr>
          <p:cNvPr id="15" name="Shape 11">
            <a:extLst>
              <a:ext uri="{FF2B5EF4-FFF2-40B4-BE49-F238E27FC236}">
                <a16:creationId xmlns:a16="http://schemas.microsoft.com/office/drawing/2014/main" id="{2B35C7F6-8E1E-A3BC-6843-62C8B21A5C44}"/>
              </a:ext>
            </a:extLst>
          </p:cNvPr>
          <p:cNvSpPr/>
          <p:nvPr/>
        </p:nvSpPr>
        <p:spPr>
          <a:xfrm>
            <a:off x="6217920" y="1828800"/>
            <a:ext cx="2514600" cy="2331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6" name="Shape 12">
            <a:extLst>
              <a:ext uri="{FF2B5EF4-FFF2-40B4-BE49-F238E27FC236}">
                <a16:creationId xmlns:a16="http://schemas.microsoft.com/office/drawing/2014/main" id="{D8EB5247-4A94-1709-28D5-9685965CF185}"/>
              </a:ext>
            </a:extLst>
          </p:cNvPr>
          <p:cNvSpPr/>
          <p:nvPr/>
        </p:nvSpPr>
        <p:spPr>
          <a:xfrm>
            <a:off x="6217920" y="1828800"/>
            <a:ext cx="2514600" cy="54864"/>
          </a:xfrm>
          <a:prstGeom prst="rect">
            <a:avLst/>
          </a:prstGeom>
          <a:solidFill>
            <a:srgbClr val="1A6B8A"/>
          </a:solidFill>
          <a:ln/>
        </p:spPr>
        <p:txBody>
          <a:bodyPr/>
          <a:lstStyle/>
          <a:p>
            <a:endParaRPr lang="es-AR" noProof="0" dirty="0"/>
          </a:p>
        </p:txBody>
      </p:sp>
      <p:sp>
        <p:nvSpPr>
          <p:cNvPr id="18" name="Text 13">
            <a:extLst>
              <a:ext uri="{FF2B5EF4-FFF2-40B4-BE49-F238E27FC236}">
                <a16:creationId xmlns:a16="http://schemas.microsoft.com/office/drawing/2014/main" id="{C864023C-7D9E-028E-A397-F90AEB84C3FA}"/>
              </a:ext>
            </a:extLst>
          </p:cNvPr>
          <p:cNvSpPr/>
          <p:nvPr/>
        </p:nvSpPr>
        <p:spPr>
          <a:xfrm>
            <a:off x="6290554" y="2016901"/>
            <a:ext cx="2148840" cy="365760"/>
          </a:xfrm>
          <a:prstGeom prst="rect">
            <a:avLst/>
          </a:prstGeom>
          <a:noFill/>
          <a:ln/>
        </p:spPr>
        <p:txBody>
          <a:bodyPr wrap="square" lIns="0" tIns="0" rIns="0" bIns="0" rtlCol="0" anchor="ctr"/>
          <a:lstStyle/>
          <a:p>
            <a:pPr marL="0" indent="0" algn="ctr">
              <a:buNone/>
            </a:pPr>
            <a:r>
              <a:rPr lang="es-AR" sz="1500" b="1" noProof="0" dirty="0">
                <a:solidFill>
                  <a:srgbClr val="0F2B46"/>
                </a:solidFill>
                <a:latin typeface="Georgia" pitchFamily="34" charset="0"/>
                <a:ea typeface="Georgia" pitchFamily="34" charset="-122"/>
                <a:cs typeface="Georgia" pitchFamily="34" charset="-120"/>
              </a:rPr>
              <a:t>Temas de interés</a:t>
            </a:r>
            <a:endParaRPr lang="es-AR" sz="1500" noProof="0" dirty="0"/>
          </a:p>
        </p:txBody>
      </p:sp>
      <p:sp>
        <p:nvSpPr>
          <p:cNvPr id="19" name="Text 14">
            <a:extLst>
              <a:ext uri="{FF2B5EF4-FFF2-40B4-BE49-F238E27FC236}">
                <a16:creationId xmlns:a16="http://schemas.microsoft.com/office/drawing/2014/main" id="{5349E908-FF5E-E595-4193-CF8FBF509453}"/>
              </a:ext>
            </a:extLst>
          </p:cNvPr>
          <p:cNvSpPr/>
          <p:nvPr/>
        </p:nvSpPr>
        <p:spPr>
          <a:xfrm>
            <a:off x="6400800" y="2383973"/>
            <a:ext cx="2148840" cy="7772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Desarrollo productivo</a:t>
            </a:r>
          </a:p>
          <a:p>
            <a:pPr marL="0" indent="0" algn="ctr">
              <a:lnSpc>
                <a:spcPct val="130000"/>
              </a:lnSpc>
              <a:buNone/>
            </a:pPr>
            <a:r>
              <a:rPr lang="es-AR" sz="1100" dirty="0">
                <a:solidFill>
                  <a:srgbClr val="5A7184"/>
                </a:solidFill>
                <a:latin typeface="Calibri" pitchFamily="34" charset="0"/>
                <a:cs typeface="Calibri" pitchFamily="34" charset="-120"/>
              </a:rPr>
              <a:t>Políticas públicas</a:t>
            </a:r>
          </a:p>
          <a:p>
            <a:pPr marL="0" indent="0" algn="ctr">
              <a:lnSpc>
                <a:spcPct val="130000"/>
              </a:lnSpc>
              <a:buNone/>
            </a:pPr>
            <a:r>
              <a:rPr lang="es-AR" sz="1100" noProof="0" dirty="0">
                <a:solidFill>
                  <a:srgbClr val="5A7184"/>
                </a:solidFill>
                <a:latin typeface="Calibri" pitchFamily="34" charset="0"/>
                <a:cs typeface="Calibri" pitchFamily="34" charset="-120"/>
              </a:rPr>
              <a:t>Desarrollo económico regional</a:t>
            </a:r>
          </a:p>
          <a:p>
            <a:pPr marL="0" indent="0" algn="ctr">
              <a:lnSpc>
                <a:spcPct val="130000"/>
              </a:lnSpc>
              <a:buNone/>
            </a:pPr>
            <a:endParaRPr lang="es-AR" sz="1100" dirty="0">
              <a:solidFill>
                <a:srgbClr val="5A7184"/>
              </a:solidFill>
              <a:latin typeface="Calibri" pitchFamily="34" charset="0"/>
              <a:cs typeface="Calibri" pitchFamily="34" charset="-120"/>
            </a:endParaRPr>
          </a:p>
          <a:p>
            <a:pPr marL="0" indent="0" algn="ctr">
              <a:lnSpc>
                <a:spcPct val="130000"/>
              </a:lnSpc>
              <a:buNone/>
            </a:pPr>
            <a:r>
              <a:rPr lang="es-AR" sz="1100" noProof="0" dirty="0">
                <a:solidFill>
                  <a:srgbClr val="5A7184"/>
                </a:solidFill>
                <a:latin typeface="Calibri" pitchFamily="34" charset="0"/>
                <a:cs typeface="Calibri" pitchFamily="34" charset="-120"/>
              </a:rPr>
              <a:t>Trabajos recientes: índice de precios relativos internacional, espacio-producto, monitor de empresas, </a:t>
            </a:r>
            <a:r>
              <a:rPr lang="es-AR" sz="1100" noProof="0" dirty="0" err="1">
                <a:solidFill>
                  <a:srgbClr val="5A7184"/>
                </a:solidFill>
                <a:latin typeface="Calibri" pitchFamily="34" charset="0"/>
                <a:cs typeface="Calibri" pitchFamily="34" charset="-120"/>
              </a:rPr>
              <a:t>Vinodata</a:t>
            </a:r>
            <a:r>
              <a:rPr lang="es-AR" sz="1100" noProof="0" dirty="0">
                <a:solidFill>
                  <a:srgbClr val="5A7184"/>
                </a:solidFill>
                <a:latin typeface="Calibri" pitchFamily="34" charset="0"/>
                <a:cs typeface="Calibri" pitchFamily="34" charset="-120"/>
              </a:rPr>
              <a:t>, TOAR</a:t>
            </a:r>
            <a:endParaRPr lang="es-AR" sz="1100" noProof="0" dirty="0"/>
          </a:p>
        </p:txBody>
      </p:sp>
      <p:sp>
        <p:nvSpPr>
          <p:cNvPr id="20" name="Shape 15">
            <a:extLst>
              <a:ext uri="{FF2B5EF4-FFF2-40B4-BE49-F238E27FC236}">
                <a16:creationId xmlns:a16="http://schemas.microsoft.com/office/drawing/2014/main" id="{6B090C23-F942-2CC5-6C3C-2C94504A4CDF}"/>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1" name="Text 16">
            <a:extLst>
              <a:ext uri="{FF2B5EF4-FFF2-40B4-BE49-F238E27FC236}">
                <a16:creationId xmlns:a16="http://schemas.microsoft.com/office/drawing/2014/main" id="{18E971E9-2006-D835-B478-493F03569AED}"/>
              </a:ext>
            </a:extLst>
          </p:cNvPr>
          <p:cNvSpPr/>
          <p:nvPr/>
        </p:nvSpPr>
        <p:spPr>
          <a:xfrm>
            <a:off x="457200" y="4709160"/>
            <a:ext cx="8229600" cy="434340"/>
          </a:xfrm>
          <a:prstGeom prst="rect">
            <a:avLst/>
          </a:prstGeom>
          <a:noFill/>
          <a:ln/>
        </p:spPr>
        <p:txBody>
          <a:bodyPr wrap="square" lIns="0" tIns="0" rIns="0" bIns="0" rtlCol="0" anchor="ctr"/>
          <a:lstStyle/>
          <a:p>
            <a:pPr algn="ct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 </a:t>
            </a:r>
            <a:r>
              <a:rPr lang="es-AR" sz="850" dirty="0">
                <a:solidFill>
                  <a:srgbClr val="7FA8C4"/>
                </a:solidFill>
                <a:latin typeface="Calibri" pitchFamily="34" charset="0"/>
                <a:ea typeface="Calibri" pitchFamily="34" charset="-122"/>
                <a:cs typeface="Calibri" pitchFamily="34" charset="-120"/>
              </a:rPr>
              <a:t>y Maida Beltrán</a:t>
            </a:r>
            <a:endParaRPr lang="es-AR" sz="850" noProof="0" dirty="0"/>
          </a:p>
        </p:txBody>
      </p:sp>
      <p:sp>
        <p:nvSpPr>
          <p:cNvPr id="22" name="Text 17">
            <a:extLst>
              <a:ext uri="{FF2B5EF4-FFF2-40B4-BE49-F238E27FC236}">
                <a16:creationId xmlns:a16="http://schemas.microsoft.com/office/drawing/2014/main" id="{36E32B14-1E66-0C89-A340-9568262D0CB7}"/>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2 / 11</a:t>
            </a:r>
            <a:endParaRPr lang="es-AR" sz="800" noProof="0" dirty="0"/>
          </a:p>
        </p:txBody>
      </p:sp>
    </p:spTree>
    <p:extLst>
      <p:ext uri="{BB962C8B-B14F-4D97-AF65-F5344CB8AC3E}">
        <p14:creationId xmlns:p14="http://schemas.microsoft.com/office/powerpoint/2010/main" val="792934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¿Qué es Ciencia de Datos?</a:t>
            </a:r>
            <a:endParaRPr lang="es-AR" sz="3000" noProof="0" dirty="0"/>
          </a:p>
        </p:txBody>
      </p:sp>
      <p:sp>
        <p:nvSpPr>
          <p:cNvPr id="4" name="Text 2"/>
          <p:cNvSpPr/>
          <p:nvPr/>
        </p:nvSpPr>
        <p:spPr>
          <a:xfrm>
            <a:off x="640080" y="960120"/>
            <a:ext cx="7863840" cy="685800"/>
          </a:xfrm>
          <a:prstGeom prst="rect">
            <a:avLst/>
          </a:prstGeom>
          <a:noFill/>
          <a:ln/>
        </p:spPr>
        <p:txBody>
          <a:bodyPr wrap="square" rtlCol="0" anchor="t"/>
          <a:lstStyle/>
          <a:p>
            <a:pPr marL="0" indent="0" algn="l">
              <a:lnSpc>
                <a:spcPct val="135000"/>
              </a:lnSpc>
              <a:buNone/>
            </a:pPr>
            <a:r>
              <a:rPr lang="es-AR" sz="1300" noProof="0" dirty="0">
                <a:solidFill>
                  <a:srgbClr val="5A7184"/>
                </a:solidFill>
                <a:latin typeface="Calibri" pitchFamily="34" charset="0"/>
                <a:ea typeface="Calibri" pitchFamily="34" charset="-122"/>
                <a:cs typeface="Calibri" pitchFamily="34" charset="-120"/>
              </a:rPr>
              <a:t>Es un campo interdisciplinario que utiliza métodos estadísticos, algoritmos y herramientas computacionales para extraer conocimiento y valor a partir de datos estructurados y no estructurados.</a:t>
            </a:r>
            <a:endParaRPr lang="es-AR" sz="1300" noProof="0" dirty="0"/>
          </a:p>
        </p:txBody>
      </p:sp>
      <p:sp>
        <p:nvSpPr>
          <p:cNvPr id="5" name="Shape 3"/>
          <p:cNvSpPr/>
          <p:nvPr/>
        </p:nvSpPr>
        <p:spPr>
          <a:xfrm>
            <a:off x="640080" y="1828800"/>
            <a:ext cx="2514600" cy="2331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6" name="Shape 4"/>
          <p:cNvSpPr/>
          <p:nvPr/>
        </p:nvSpPr>
        <p:spPr>
          <a:xfrm>
            <a:off x="640080" y="1828800"/>
            <a:ext cx="2514600" cy="54864"/>
          </a:xfrm>
          <a:prstGeom prst="rect">
            <a:avLst/>
          </a:prstGeom>
          <a:solidFill>
            <a:srgbClr val="1A6B8A"/>
          </a:solidFill>
          <a:ln/>
        </p:spPr>
        <p:txBody>
          <a:bodyPr/>
          <a:lstStyle/>
          <a:p>
            <a:endParaRPr lang="es-AR" noProof="0" dirty="0"/>
          </a:p>
        </p:txBody>
      </p:sp>
      <p:pic>
        <p:nvPicPr>
          <p:cNvPr id="7" name="Image 0" descr="preencoded.png"/>
          <p:cNvPicPr>
            <a:picLocks noChangeAspect="1"/>
          </p:cNvPicPr>
          <p:nvPr/>
        </p:nvPicPr>
        <p:blipFill>
          <a:blip r:embed="rId3"/>
          <a:stretch>
            <a:fillRect/>
          </a:stretch>
        </p:blipFill>
        <p:spPr>
          <a:xfrm>
            <a:off x="1554480" y="2103120"/>
            <a:ext cx="640080" cy="640080"/>
          </a:xfrm>
          <a:prstGeom prst="rect">
            <a:avLst/>
          </a:prstGeom>
        </p:spPr>
      </p:pic>
      <p:sp>
        <p:nvSpPr>
          <p:cNvPr id="8" name="Text 5"/>
          <p:cNvSpPr/>
          <p:nvPr/>
        </p:nvSpPr>
        <p:spPr>
          <a:xfrm>
            <a:off x="822960" y="2834640"/>
            <a:ext cx="2148840" cy="365760"/>
          </a:xfrm>
          <a:prstGeom prst="rect">
            <a:avLst/>
          </a:prstGeom>
          <a:noFill/>
          <a:ln/>
        </p:spPr>
        <p:txBody>
          <a:bodyPr wrap="square" lIns="0" tIns="0" rIns="0" bIns="0" rtlCol="0" anchor="ctr"/>
          <a:lstStyle/>
          <a:p>
            <a:pPr marL="0" indent="0" algn="ctr">
              <a:buNone/>
            </a:pPr>
            <a:r>
              <a:rPr lang="es-AR" sz="1500" b="1" noProof="0" dirty="0">
                <a:solidFill>
                  <a:srgbClr val="0F2B46"/>
                </a:solidFill>
                <a:latin typeface="Georgia" pitchFamily="34" charset="0"/>
                <a:ea typeface="Georgia" pitchFamily="34" charset="-122"/>
                <a:cs typeface="Georgia" pitchFamily="34" charset="-120"/>
              </a:rPr>
              <a:t>Programación</a:t>
            </a:r>
            <a:endParaRPr lang="es-AR" sz="1500" noProof="0" dirty="0"/>
          </a:p>
        </p:txBody>
      </p:sp>
      <p:sp>
        <p:nvSpPr>
          <p:cNvPr id="9" name="Text 6"/>
          <p:cNvSpPr/>
          <p:nvPr/>
        </p:nvSpPr>
        <p:spPr>
          <a:xfrm>
            <a:off x="822960" y="3246120"/>
            <a:ext cx="2148840" cy="7772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Herramientas para manipular, limpiar y transformar datos de forma reproducible</a:t>
            </a:r>
            <a:endParaRPr lang="es-AR" sz="1100" noProof="0" dirty="0"/>
          </a:p>
        </p:txBody>
      </p:sp>
      <p:sp>
        <p:nvSpPr>
          <p:cNvPr id="10" name="Shape 7"/>
          <p:cNvSpPr/>
          <p:nvPr/>
        </p:nvSpPr>
        <p:spPr>
          <a:xfrm>
            <a:off x="3429000" y="1828800"/>
            <a:ext cx="2514600" cy="2331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1" name="Shape 8"/>
          <p:cNvSpPr/>
          <p:nvPr/>
        </p:nvSpPr>
        <p:spPr>
          <a:xfrm>
            <a:off x="3429000" y="1828800"/>
            <a:ext cx="2514600" cy="54864"/>
          </a:xfrm>
          <a:prstGeom prst="rect">
            <a:avLst/>
          </a:prstGeom>
          <a:solidFill>
            <a:srgbClr val="1A6B8A"/>
          </a:solidFill>
          <a:ln/>
        </p:spPr>
        <p:txBody>
          <a:bodyPr/>
          <a:lstStyle/>
          <a:p>
            <a:endParaRPr lang="es-AR" noProof="0" dirty="0"/>
          </a:p>
        </p:txBody>
      </p:sp>
      <p:pic>
        <p:nvPicPr>
          <p:cNvPr id="12" name="Image 1" descr="preencoded.png"/>
          <p:cNvPicPr>
            <a:picLocks noChangeAspect="1"/>
          </p:cNvPicPr>
          <p:nvPr/>
        </p:nvPicPr>
        <p:blipFill>
          <a:blip r:embed="rId4"/>
          <a:stretch>
            <a:fillRect/>
          </a:stretch>
        </p:blipFill>
        <p:spPr>
          <a:xfrm>
            <a:off x="4343400" y="2103120"/>
            <a:ext cx="640080" cy="640080"/>
          </a:xfrm>
          <a:prstGeom prst="rect">
            <a:avLst/>
          </a:prstGeom>
        </p:spPr>
      </p:pic>
      <p:sp>
        <p:nvSpPr>
          <p:cNvPr id="13" name="Text 9"/>
          <p:cNvSpPr/>
          <p:nvPr/>
        </p:nvSpPr>
        <p:spPr>
          <a:xfrm>
            <a:off x="3611880" y="2834640"/>
            <a:ext cx="2148840" cy="365760"/>
          </a:xfrm>
          <a:prstGeom prst="rect">
            <a:avLst/>
          </a:prstGeom>
          <a:noFill/>
          <a:ln/>
        </p:spPr>
        <p:txBody>
          <a:bodyPr wrap="square" lIns="0" tIns="0" rIns="0" bIns="0" rtlCol="0" anchor="ctr"/>
          <a:lstStyle/>
          <a:p>
            <a:pPr marL="0" indent="0" algn="ctr">
              <a:buNone/>
            </a:pPr>
            <a:r>
              <a:rPr lang="es-AR" sz="1500" b="1" noProof="0" dirty="0">
                <a:solidFill>
                  <a:srgbClr val="0F2B46"/>
                </a:solidFill>
                <a:latin typeface="Georgia" pitchFamily="34" charset="0"/>
                <a:ea typeface="Georgia" pitchFamily="34" charset="-122"/>
                <a:cs typeface="Georgia" pitchFamily="34" charset="-120"/>
              </a:rPr>
              <a:t>Estadística</a:t>
            </a:r>
            <a:endParaRPr lang="es-AR" sz="1500" noProof="0" dirty="0"/>
          </a:p>
        </p:txBody>
      </p:sp>
      <p:sp>
        <p:nvSpPr>
          <p:cNvPr id="14" name="Text 10"/>
          <p:cNvSpPr/>
          <p:nvPr/>
        </p:nvSpPr>
        <p:spPr>
          <a:xfrm>
            <a:off x="3611880" y="3246120"/>
            <a:ext cx="2148840" cy="7772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Métodos para describir patrones, testear hipótesis y modelar relaciones</a:t>
            </a:r>
            <a:endParaRPr lang="es-AR" sz="1100" noProof="0" dirty="0"/>
          </a:p>
        </p:txBody>
      </p:sp>
      <p:sp>
        <p:nvSpPr>
          <p:cNvPr id="15" name="Shape 11"/>
          <p:cNvSpPr/>
          <p:nvPr/>
        </p:nvSpPr>
        <p:spPr>
          <a:xfrm>
            <a:off x="6217920" y="1828800"/>
            <a:ext cx="2514600" cy="23317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6" name="Shape 12"/>
          <p:cNvSpPr/>
          <p:nvPr/>
        </p:nvSpPr>
        <p:spPr>
          <a:xfrm>
            <a:off x="6217920" y="1828800"/>
            <a:ext cx="2514600" cy="54864"/>
          </a:xfrm>
          <a:prstGeom prst="rect">
            <a:avLst/>
          </a:prstGeom>
          <a:solidFill>
            <a:srgbClr val="1A6B8A"/>
          </a:solidFill>
          <a:ln/>
        </p:spPr>
        <p:txBody>
          <a:bodyPr/>
          <a:lstStyle/>
          <a:p>
            <a:endParaRPr lang="es-AR" noProof="0" dirty="0"/>
          </a:p>
        </p:txBody>
      </p:sp>
      <p:pic>
        <p:nvPicPr>
          <p:cNvPr id="17" name="Image 2" descr="preencoded.png"/>
          <p:cNvPicPr>
            <a:picLocks noChangeAspect="1"/>
          </p:cNvPicPr>
          <p:nvPr/>
        </p:nvPicPr>
        <p:blipFill>
          <a:blip r:embed="rId5"/>
          <a:stretch>
            <a:fillRect/>
          </a:stretch>
        </p:blipFill>
        <p:spPr>
          <a:xfrm>
            <a:off x="7132320" y="2103120"/>
            <a:ext cx="640080" cy="640080"/>
          </a:xfrm>
          <a:prstGeom prst="rect">
            <a:avLst/>
          </a:prstGeom>
        </p:spPr>
      </p:pic>
      <p:sp>
        <p:nvSpPr>
          <p:cNvPr id="18" name="Text 13"/>
          <p:cNvSpPr/>
          <p:nvPr/>
        </p:nvSpPr>
        <p:spPr>
          <a:xfrm>
            <a:off x="6400800" y="2834640"/>
            <a:ext cx="2148840" cy="365760"/>
          </a:xfrm>
          <a:prstGeom prst="rect">
            <a:avLst/>
          </a:prstGeom>
          <a:noFill/>
          <a:ln/>
        </p:spPr>
        <p:txBody>
          <a:bodyPr wrap="square" lIns="0" tIns="0" rIns="0" bIns="0" rtlCol="0" anchor="ctr"/>
          <a:lstStyle/>
          <a:p>
            <a:pPr marL="0" indent="0" algn="ctr">
              <a:buNone/>
            </a:pPr>
            <a:r>
              <a:rPr lang="es-AR" sz="1500" b="1" noProof="0" dirty="0">
                <a:solidFill>
                  <a:srgbClr val="0F2B46"/>
                </a:solidFill>
                <a:latin typeface="Georgia" pitchFamily="34" charset="0"/>
                <a:ea typeface="Georgia" pitchFamily="34" charset="-122"/>
                <a:cs typeface="Georgia" pitchFamily="34" charset="-120"/>
              </a:rPr>
              <a:t>Dominio</a:t>
            </a:r>
            <a:endParaRPr lang="es-AR" sz="1500" noProof="0" dirty="0"/>
          </a:p>
        </p:txBody>
      </p:sp>
      <p:sp>
        <p:nvSpPr>
          <p:cNvPr id="19" name="Text 14"/>
          <p:cNvSpPr/>
          <p:nvPr/>
        </p:nvSpPr>
        <p:spPr>
          <a:xfrm>
            <a:off x="6400800" y="3246120"/>
            <a:ext cx="2148840" cy="7772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Conocimiento del contexto (economía, negocios) para formular preguntas relevantes</a:t>
            </a:r>
            <a:endParaRPr lang="es-AR" sz="1100" noProof="0" dirty="0"/>
          </a:p>
        </p:txBody>
      </p:sp>
      <p:sp>
        <p:nvSpPr>
          <p:cNvPr id="20" name="Shape 15"/>
          <p:cNvSpPr/>
          <p:nvPr/>
        </p:nvSpPr>
        <p:spPr>
          <a:xfrm>
            <a:off x="0" y="4709160"/>
            <a:ext cx="9144000" cy="434340"/>
          </a:xfrm>
          <a:prstGeom prst="rect">
            <a:avLst/>
          </a:prstGeom>
          <a:solidFill>
            <a:srgbClr val="0F2B46"/>
          </a:solidFill>
          <a:ln/>
        </p:spPr>
        <p:txBody>
          <a:bodyPr/>
          <a:lstStyle/>
          <a:p>
            <a:endParaRPr lang="es-AR" noProof="0" dirty="0"/>
          </a:p>
        </p:txBody>
      </p:sp>
      <p:sp>
        <p:nvSpPr>
          <p:cNvPr id="21" name="Text 16"/>
          <p:cNvSpPr/>
          <p:nvPr/>
        </p:nvSpPr>
        <p:spPr>
          <a:xfrm>
            <a:off x="457200" y="4709160"/>
            <a:ext cx="8229600" cy="434340"/>
          </a:xfrm>
          <a:prstGeom prst="rect">
            <a:avLst/>
          </a:prstGeom>
          <a:noFill/>
          <a:ln/>
        </p:spPr>
        <p:txBody>
          <a:bodyPr wrap="square" lIns="0" tIns="0" rIns="0" bIns="0" rtlCol="0" anchor="ctr"/>
          <a:lstStyle/>
          <a:p>
            <a:pPr algn="ct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 </a:t>
            </a:r>
            <a:r>
              <a:rPr lang="es-AR" sz="850" dirty="0">
                <a:solidFill>
                  <a:srgbClr val="7FA8C4"/>
                </a:solidFill>
                <a:latin typeface="Calibri" pitchFamily="34" charset="0"/>
                <a:ea typeface="Calibri" pitchFamily="34" charset="-122"/>
                <a:cs typeface="Calibri" pitchFamily="34" charset="-120"/>
              </a:rPr>
              <a:t>y Maida Beltrán</a:t>
            </a:r>
            <a:endParaRPr lang="es-AR" sz="850" noProof="0" dirty="0"/>
          </a:p>
        </p:txBody>
      </p:sp>
      <p:sp>
        <p:nvSpPr>
          <p:cNvPr id="22" name="Text 17"/>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2 / 11</a:t>
            </a:r>
            <a:endParaRPr lang="es-AR" sz="8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94360"/>
          </a:xfrm>
          <a:prstGeom prst="rect">
            <a:avLst/>
          </a:prstGeom>
          <a:noFill/>
          <a:ln/>
        </p:spPr>
        <p:txBody>
          <a:bodyPr wrap="square" lIns="0" tIns="0" rIns="0" bIns="0" rtlCol="0" anchor="ctr"/>
          <a:lstStyle/>
          <a:p>
            <a:pPr marL="0" indent="0">
              <a:buNone/>
            </a:pPr>
            <a:r>
              <a:rPr lang="es-AR" sz="2700" b="1" noProof="0" dirty="0">
                <a:solidFill>
                  <a:srgbClr val="0F2B46"/>
                </a:solidFill>
                <a:latin typeface="Georgia" pitchFamily="34" charset="0"/>
                <a:ea typeface="Georgia" pitchFamily="34" charset="-122"/>
                <a:cs typeface="Georgia" pitchFamily="34" charset="-120"/>
              </a:rPr>
              <a:t>¿Para qué sirve la materia en la era de </a:t>
            </a:r>
            <a:r>
              <a:rPr lang="es-AR" sz="2700" b="1" noProof="0" dirty="0" err="1">
                <a:solidFill>
                  <a:srgbClr val="0F2B46"/>
                </a:solidFill>
                <a:latin typeface="Georgia" pitchFamily="34" charset="0"/>
                <a:ea typeface="Georgia" pitchFamily="34" charset="-122"/>
                <a:cs typeface="Georgia" pitchFamily="34" charset="-120"/>
              </a:rPr>
              <a:t>LLMs</a:t>
            </a:r>
            <a:r>
              <a:rPr lang="es-AR" sz="2700" b="1" noProof="0" dirty="0">
                <a:solidFill>
                  <a:srgbClr val="0F2B46"/>
                </a:solidFill>
                <a:latin typeface="Georgia" pitchFamily="34" charset="0"/>
                <a:ea typeface="Georgia" pitchFamily="34" charset="-122"/>
                <a:cs typeface="Georgia" pitchFamily="34" charset="-120"/>
              </a:rPr>
              <a:t> e </a:t>
            </a:r>
            <a:r>
              <a:rPr lang="es-AR" sz="2700" b="1" noProof="0" dirty="0" err="1">
                <a:solidFill>
                  <a:srgbClr val="0F2B46"/>
                </a:solidFill>
                <a:latin typeface="Georgia" pitchFamily="34" charset="0"/>
                <a:ea typeface="Georgia" pitchFamily="34" charset="-122"/>
                <a:cs typeface="Georgia" pitchFamily="34" charset="-120"/>
              </a:rPr>
              <a:t>IAs</a:t>
            </a:r>
            <a:r>
              <a:rPr lang="es-AR" sz="2700" b="1" noProof="0" dirty="0">
                <a:solidFill>
                  <a:srgbClr val="0F2B46"/>
                </a:solidFill>
                <a:latin typeface="Georgia" pitchFamily="34" charset="0"/>
                <a:ea typeface="Georgia" pitchFamily="34" charset="-122"/>
                <a:cs typeface="Georgia" pitchFamily="34" charset="-120"/>
              </a:rPr>
              <a:t>?</a:t>
            </a:r>
            <a:endParaRPr lang="es-AR" sz="2700" noProof="0" dirty="0"/>
          </a:p>
        </p:txBody>
      </p:sp>
      <p:sp>
        <p:nvSpPr>
          <p:cNvPr id="4" name="Shape 2"/>
          <p:cNvSpPr/>
          <p:nvPr/>
        </p:nvSpPr>
        <p:spPr>
          <a:xfrm>
            <a:off x="640080" y="1051560"/>
            <a:ext cx="3931920" cy="3337560"/>
          </a:xfrm>
          <a:prstGeom prst="rect">
            <a:avLst/>
          </a:prstGeom>
          <a:solidFill>
            <a:srgbClr val="0F2B46"/>
          </a:solidFill>
          <a:ln/>
          <a:effectLst>
            <a:outerShdw blurRad="76200" dist="25400" dir="8100000" algn="bl" rotWithShape="0">
              <a:srgbClr val="000000">
                <a:alpha val="12000"/>
              </a:srgbClr>
            </a:outerShdw>
          </a:effectLst>
        </p:spPr>
        <p:txBody>
          <a:bodyPr/>
          <a:lstStyle/>
          <a:p>
            <a:endParaRPr lang="es-AR" noProof="0" dirty="0"/>
          </a:p>
        </p:txBody>
      </p:sp>
      <p:pic>
        <p:nvPicPr>
          <p:cNvPr id="5" name="Image 0" descr="preencoded.png"/>
          <p:cNvPicPr>
            <a:picLocks noChangeAspect="1"/>
          </p:cNvPicPr>
          <p:nvPr/>
        </p:nvPicPr>
        <p:blipFill>
          <a:blip r:embed="rId3"/>
          <a:stretch>
            <a:fillRect/>
          </a:stretch>
        </p:blipFill>
        <p:spPr>
          <a:xfrm>
            <a:off x="2240280" y="1325880"/>
            <a:ext cx="640080" cy="640080"/>
          </a:xfrm>
          <a:prstGeom prst="rect">
            <a:avLst/>
          </a:prstGeom>
        </p:spPr>
      </p:pic>
      <p:sp>
        <p:nvSpPr>
          <p:cNvPr id="6" name="Text 3"/>
          <p:cNvSpPr/>
          <p:nvPr/>
        </p:nvSpPr>
        <p:spPr>
          <a:xfrm>
            <a:off x="914400" y="2057400"/>
            <a:ext cx="3383280" cy="640080"/>
          </a:xfrm>
          <a:prstGeom prst="rect">
            <a:avLst/>
          </a:prstGeom>
          <a:noFill/>
          <a:ln/>
        </p:spPr>
        <p:txBody>
          <a:bodyPr wrap="square" rtlCol="0" anchor="ctr"/>
          <a:lstStyle/>
          <a:p>
            <a:pPr marL="0" indent="0" algn="ctr">
              <a:lnSpc>
                <a:spcPct val="120000"/>
              </a:lnSpc>
              <a:buNone/>
            </a:pPr>
            <a:r>
              <a:rPr lang="es-AR" sz="1700" b="1" noProof="0" dirty="0">
                <a:solidFill>
                  <a:srgbClr val="FFFFFF"/>
                </a:solidFill>
                <a:latin typeface="Georgia" pitchFamily="34" charset="0"/>
                <a:ea typeface="Georgia" pitchFamily="34" charset="-122"/>
                <a:cs typeface="Georgia" pitchFamily="34" charset="-120"/>
              </a:rPr>
              <a:t>Las </a:t>
            </a:r>
            <a:r>
              <a:rPr lang="es-AR" sz="1700" b="1" noProof="0" dirty="0" err="1">
                <a:solidFill>
                  <a:srgbClr val="FFFFFF"/>
                </a:solidFill>
                <a:latin typeface="Georgia" pitchFamily="34" charset="0"/>
                <a:ea typeface="Georgia" pitchFamily="34" charset="-122"/>
                <a:cs typeface="Georgia" pitchFamily="34" charset="-120"/>
              </a:rPr>
              <a:t>IAs</a:t>
            </a:r>
            <a:r>
              <a:rPr lang="es-AR" sz="1700" b="1" noProof="0" dirty="0">
                <a:solidFill>
                  <a:srgbClr val="FFFFFF"/>
                </a:solidFill>
                <a:latin typeface="Georgia" pitchFamily="34" charset="0"/>
                <a:ea typeface="Georgia" pitchFamily="34" charset="-122"/>
                <a:cs typeface="Georgia" pitchFamily="34" charset="-120"/>
              </a:rPr>
              <a:t> no reemplaza</a:t>
            </a:r>
            <a:endParaRPr lang="es-AR" sz="1700" noProof="0" dirty="0"/>
          </a:p>
          <a:p>
            <a:pPr marL="0" indent="0" algn="ctr">
              <a:lnSpc>
                <a:spcPct val="120000"/>
              </a:lnSpc>
              <a:buNone/>
            </a:pPr>
            <a:r>
              <a:rPr lang="es-AR" sz="1700" b="1" noProof="0" dirty="0">
                <a:solidFill>
                  <a:srgbClr val="FFFFFF"/>
                </a:solidFill>
                <a:latin typeface="Georgia" pitchFamily="34" charset="0"/>
                <a:ea typeface="Georgia" pitchFamily="34" charset="-122"/>
                <a:cs typeface="Georgia" pitchFamily="34" charset="-120"/>
              </a:rPr>
              <a:t>pensar</a:t>
            </a:r>
            <a:endParaRPr lang="es-AR" sz="1700" noProof="0" dirty="0"/>
          </a:p>
        </p:txBody>
      </p:sp>
      <p:sp>
        <p:nvSpPr>
          <p:cNvPr id="7" name="Text 4"/>
          <p:cNvSpPr/>
          <p:nvPr/>
        </p:nvSpPr>
        <p:spPr>
          <a:xfrm>
            <a:off x="640080" y="2788920"/>
            <a:ext cx="3931920" cy="914400"/>
          </a:xfrm>
          <a:prstGeom prst="rect">
            <a:avLst/>
          </a:prstGeom>
          <a:noFill/>
          <a:ln/>
        </p:spPr>
        <p:txBody>
          <a:bodyPr wrap="square" rtlCol="0" anchor="t"/>
          <a:lstStyle/>
          <a:p>
            <a:pPr marL="0" indent="0" algn="ctr">
              <a:lnSpc>
                <a:spcPct val="135000"/>
              </a:lnSpc>
              <a:buNone/>
            </a:pPr>
            <a:r>
              <a:rPr lang="es-AR" sz="1200" noProof="0" dirty="0">
                <a:solidFill>
                  <a:srgbClr val="B0C8D8"/>
                </a:solidFill>
                <a:latin typeface="Calibri" pitchFamily="34" charset="0"/>
                <a:ea typeface="Calibri" pitchFamily="34" charset="-122"/>
                <a:cs typeface="Calibri" pitchFamily="34" charset="-120"/>
              </a:rPr>
              <a:t>Los </a:t>
            </a:r>
            <a:r>
              <a:rPr lang="es-AR" sz="1200" noProof="0" dirty="0" err="1">
                <a:solidFill>
                  <a:srgbClr val="B0C8D8"/>
                </a:solidFill>
                <a:latin typeface="Calibri" pitchFamily="34" charset="0"/>
                <a:ea typeface="Calibri" pitchFamily="34" charset="-122"/>
                <a:cs typeface="Calibri" pitchFamily="34" charset="-120"/>
              </a:rPr>
              <a:t>LLMs</a:t>
            </a:r>
            <a:r>
              <a:rPr lang="es-AR" sz="1200" noProof="0" dirty="0">
                <a:solidFill>
                  <a:srgbClr val="B0C8D8"/>
                </a:solidFill>
                <a:latin typeface="Calibri" pitchFamily="34" charset="0"/>
                <a:ea typeface="Calibri" pitchFamily="34" charset="-122"/>
                <a:cs typeface="Calibri" pitchFamily="34" charset="-120"/>
              </a:rPr>
              <a:t> pueden generar código y análisis, pero sin entender los fundamentos no </a:t>
            </a:r>
            <a:r>
              <a:rPr lang="es-AR" sz="1200" noProof="0" dirty="0" err="1">
                <a:solidFill>
                  <a:srgbClr val="B0C8D8"/>
                </a:solidFill>
                <a:latin typeface="Calibri" pitchFamily="34" charset="0"/>
                <a:ea typeface="Calibri" pitchFamily="34" charset="-122"/>
                <a:cs typeface="Calibri" pitchFamily="34" charset="-120"/>
              </a:rPr>
              <a:t>podés</a:t>
            </a:r>
            <a:r>
              <a:rPr lang="es-AR" sz="1200" noProof="0" dirty="0">
                <a:solidFill>
                  <a:srgbClr val="B0C8D8"/>
                </a:solidFill>
                <a:latin typeface="Calibri" pitchFamily="34" charset="0"/>
                <a:ea typeface="Calibri" pitchFamily="34" charset="-122"/>
                <a:cs typeface="Calibri" pitchFamily="34" charset="-120"/>
              </a:rPr>
              <a:t> evaluar si lo que producen es correcto, relevante o engañoso. Tampoco </a:t>
            </a:r>
            <a:r>
              <a:rPr lang="es-AR" sz="1200" noProof="0" dirty="0" err="1">
                <a:solidFill>
                  <a:srgbClr val="B0C8D8"/>
                </a:solidFill>
                <a:latin typeface="Calibri" pitchFamily="34" charset="0"/>
                <a:ea typeface="Calibri" pitchFamily="34" charset="-122"/>
                <a:cs typeface="Calibri" pitchFamily="34" charset="-120"/>
              </a:rPr>
              <a:t>podés</a:t>
            </a:r>
            <a:r>
              <a:rPr lang="es-AR" sz="1200" noProof="0" dirty="0">
                <a:solidFill>
                  <a:srgbClr val="B0C8D8"/>
                </a:solidFill>
                <a:latin typeface="Calibri" pitchFamily="34" charset="0"/>
                <a:ea typeface="Calibri" pitchFamily="34" charset="-122"/>
                <a:cs typeface="Calibri" pitchFamily="34" charset="-120"/>
              </a:rPr>
              <a:t> pedir bien qué se necesita</a:t>
            </a:r>
            <a:endParaRPr lang="es-AR" sz="1200" noProof="0" dirty="0"/>
          </a:p>
        </p:txBody>
      </p:sp>
      <p:pic>
        <p:nvPicPr>
          <p:cNvPr id="9" name="Image 1" descr="preencoded.png"/>
          <p:cNvPicPr>
            <a:picLocks noChangeAspect="1"/>
          </p:cNvPicPr>
          <p:nvPr/>
        </p:nvPicPr>
        <p:blipFill>
          <a:blip r:embed="rId4"/>
          <a:stretch>
            <a:fillRect/>
          </a:stretch>
        </p:blipFill>
        <p:spPr>
          <a:xfrm>
            <a:off x="4846320" y="1124712"/>
            <a:ext cx="320040" cy="320040"/>
          </a:xfrm>
          <a:prstGeom prst="rect">
            <a:avLst/>
          </a:prstGeom>
        </p:spPr>
      </p:pic>
      <p:sp>
        <p:nvSpPr>
          <p:cNvPr id="10" name="Text 6"/>
          <p:cNvSpPr/>
          <p:nvPr/>
        </p:nvSpPr>
        <p:spPr>
          <a:xfrm>
            <a:off x="5303520" y="1051560"/>
            <a:ext cx="3383280" cy="320040"/>
          </a:xfrm>
          <a:prstGeom prst="rect">
            <a:avLst/>
          </a:prstGeom>
          <a:noFill/>
          <a:ln/>
        </p:spPr>
        <p:txBody>
          <a:bodyPr wrap="square" lIns="0" tIns="0" rIns="0" bIns="0" rtlCol="0" anchor="ctr"/>
          <a:lstStyle/>
          <a:p>
            <a:pPr marL="0" indent="0" algn="l">
              <a:buNone/>
            </a:pPr>
            <a:r>
              <a:rPr lang="es-AR" sz="1300" b="1" noProof="0" dirty="0">
                <a:solidFill>
                  <a:srgbClr val="0F2B46"/>
                </a:solidFill>
                <a:latin typeface="Georgia" pitchFamily="34" charset="0"/>
                <a:ea typeface="Georgia" pitchFamily="34" charset="-122"/>
                <a:cs typeface="Georgia" pitchFamily="34" charset="-120"/>
              </a:rPr>
              <a:t>Validar resultados</a:t>
            </a:r>
            <a:endParaRPr lang="es-AR" sz="1300" noProof="0" dirty="0"/>
          </a:p>
        </p:txBody>
      </p:sp>
      <p:sp>
        <p:nvSpPr>
          <p:cNvPr id="11" name="Text 7"/>
          <p:cNvSpPr/>
          <p:nvPr/>
        </p:nvSpPr>
        <p:spPr>
          <a:xfrm>
            <a:off x="5303520" y="1399032"/>
            <a:ext cx="3383280" cy="384048"/>
          </a:xfrm>
          <a:prstGeom prst="rect">
            <a:avLst/>
          </a:prstGeom>
          <a:noFill/>
          <a:ln/>
        </p:spPr>
        <p:txBody>
          <a:bodyPr wrap="square" lIns="0" tIns="0" rIns="0" bIns="0" rtlCol="0" anchor="t"/>
          <a:lstStyle/>
          <a:p>
            <a:pPr marL="0" indent="0" algn="l">
              <a:lnSpc>
                <a:spcPct val="120000"/>
              </a:lnSpc>
              <a:buNone/>
            </a:pPr>
            <a:r>
              <a:rPr lang="es-AR" sz="1100" noProof="0" dirty="0">
                <a:solidFill>
                  <a:srgbClr val="5A7184"/>
                </a:solidFill>
                <a:latin typeface="Calibri" pitchFamily="34" charset="0"/>
                <a:ea typeface="Calibri" pitchFamily="34" charset="-122"/>
                <a:cs typeface="Calibri" pitchFamily="34" charset="-120"/>
              </a:rPr>
              <a:t>Saber si un output estadístico tiene sentido o es una alucinación de la IA</a:t>
            </a:r>
            <a:endParaRPr lang="es-AR" sz="1100" noProof="0" dirty="0"/>
          </a:p>
        </p:txBody>
      </p:sp>
      <p:pic>
        <p:nvPicPr>
          <p:cNvPr id="12" name="Image 2" descr="preencoded.png"/>
          <p:cNvPicPr>
            <a:picLocks noChangeAspect="1"/>
          </p:cNvPicPr>
          <p:nvPr/>
        </p:nvPicPr>
        <p:blipFill>
          <a:blip r:embed="rId4"/>
          <a:stretch>
            <a:fillRect/>
          </a:stretch>
        </p:blipFill>
        <p:spPr>
          <a:xfrm>
            <a:off x="4846320" y="1947672"/>
            <a:ext cx="320040" cy="320040"/>
          </a:xfrm>
          <a:prstGeom prst="rect">
            <a:avLst/>
          </a:prstGeom>
        </p:spPr>
      </p:pic>
      <p:sp>
        <p:nvSpPr>
          <p:cNvPr id="13" name="Text 8"/>
          <p:cNvSpPr/>
          <p:nvPr/>
        </p:nvSpPr>
        <p:spPr>
          <a:xfrm>
            <a:off x="5303520" y="1874520"/>
            <a:ext cx="3383280" cy="320040"/>
          </a:xfrm>
          <a:prstGeom prst="rect">
            <a:avLst/>
          </a:prstGeom>
          <a:noFill/>
          <a:ln/>
        </p:spPr>
        <p:txBody>
          <a:bodyPr wrap="square" lIns="0" tIns="0" rIns="0" bIns="0" rtlCol="0" anchor="ctr"/>
          <a:lstStyle/>
          <a:p>
            <a:pPr marL="0" indent="0" algn="l">
              <a:buNone/>
            </a:pPr>
            <a:r>
              <a:rPr lang="es-AR" sz="1300" b="1" noProof="0" dirty="0">
                <a:solidFill>
                  <a:srgbClr val="0F2B46"/>
                </a:solidFill>
                <a:latin typeface="Georgia" pitchFamily="34" charset="0"/>
                <a:ea typeface="Georgia" pitchFamily="34" charset="-122"/>
                <a:cs typeface="Georgia" pitchFamily="34" charset="-120"/>
              </a:rPr>
              <a:t>Formular preguntas</a:t>
            </a:r>
            <a:endParaRPr lang="es-AR" sz="1300" noProof="0" dirty="0"/>
          </a:p>
        </p:txBody>
      </p:sp>
      <p:sp>
        <p:nvSpPr>
          <p:cNvPr id="14" name="Text 9"/>
          <p:cNvSpPr/>
          <p:nvPr/>
        </p:nvSpPr>
        <p:spPr>
          <a:xfrm>
            <a:off x="5303520" y="2221992"/>
            <a:ext cx="3383280" cy="384048"/>
          </a:xfrm>
          <a:prstGeom prst="rect">
            <a:avLst/>
          </a:prstGeom>
          <a:noFill/>
          <a:ln/>
        </p:spPr>
        <p:txBody>
          <a:bodyPr wrap="square" lIns="0" tIns="0" rIns="0" bIns="0" rtlCol="0" anchor="t"/>
          <a:lstStyle/>
          <a:p>
            <a:pPr marL="0" indent="0" algn="l">
              <a:lnSpc>
                <a:spcPct val="120000"/>
              </a:lnSpc>
              <a:buNone/>
            </a:pPr>
            <a:r>
              <a:rPr lang="es-AR" sz="1100" noProof="0" dirty="0">
                <a:solidFill>
                  <a:srgbClr val="5A7184"/>
                </a:solidFill>
                <a:latin typeface="Calibri" pitchFamily="34" charset="0"/>
                <a:ea typeface="Calibri" pitchFamily="34" charset="-122"/>
                <a:cs typeface="Calibri" pitchFamily="34" charset="-120"/>
              </a:rPr>
              <a:t>La IA responde, pero formular la pregunta correcta requiere criterio humano</a:t>
            </a:r>
            <a:endParaRPr lang="es-AR" sz="1100" noProof="0" dirty="0"/>
          </a:p>
        </p:txBody>
      </p:sp>
      <p:pic>
        <p:nvPicPr>
          <p:cNvPr id="15" name="Image 3" descr="preencoded.png"/>
          <p:cNvPicPr>
            <a:picLocks noChangeAspect="1"/>
          </p:cNvPicPr>
          <p:nvPr/>
        </p:nvPicPr>
        <p:blipFill>
          <a:blip r:embed="rId4"/>
          <a:stretch>
            <a:fillRect/>
          </a:stretch>
        </p:blipFill>
        <p:spPr>
          <a:xfrm>
            <a:off x="4846320" y="2770632"/>
            <a:ext cx="320040" cy="320040"/>
          </a:xfrm>
          <a:prstGeom prst="rect">
            <a:avLst/>
          </a:prstGeom>
        </p:spPr>
      </p:pic>
      <p:sp>
        <p:nvSpPr>
          <p:cNvPr id="16" name="Text 10"/>
          <p:cNvSpPr/>
          <p:nvPr/>
        </p:nvSpPr>
        <p:spPr>
          <a:xfrm>
            <a:off x="5303520" y="2697480"/>
            <a:ext cx="3383280" cy="320040"/>
          </a:xfrm>
          <a:prstGeom prst="rect">
            <a:avLst/>
          </a:prstGeom>
          <a:noFill/>
          <a:ln/>
        </p:spPr>
        <p:txBody>
          <a:bodyPr wrap="square" lIns="0" tIns="0" rIns="0" bIns="0" rtlCol="0" anchor="ctr"/>
          <a:lstStyle/>
          <a:p>
            <a:pPr marL="0" indent="0" algn="l">
              <a:buNone/>
            </a:pPr>
            <a:r>
              <a:rPr lang="es-AR" sz="1300" b="1" noProof="0" dirty="0">
                <a:solidFill>
                  <a:srgbClr val="0F2B46"/>
                </a:solidFill>
                <a:latin typeface="Georgia" pitchFamily="34" charset="0"/>
                <a:ea typeface="Georgia" pitchFamily="34" charset="-122"/>
                <a:cs typeface="Georgia" pitchFamily="34" charset="-120"/>
              </a:rPr>
              <a:t>Interpretar datos</a:t>
            </a:r>
            <a:endParaRPr lang="es-AR" sz="1300" noProof="0" dirty="0"/>
          </a:p>
        </p:txBody>
      </p:sp>
      <p:sp>
        <p:nvSpPr>
          <p:cNvPr id="17" name="Text 11"/>
          <p:cNvSpPr/>
          <p:nvPr/>
        </p:nvSpPr>
        <p:spPr>
          <a:xfrm>
            <a:off x="5303520" y="3044952"/>
            <a:ext cx="3383280" cy="384048"/>
          </a:xfrm>
          <a:prstGeom prst="rect">
            <a:avLst/>
          </a:prstGeom>
          <a:noFill/>
          <a:ln/>
        </p:spPr>
        <p:txBody>
          <a:bodyPr wrap="square" lIns="0" tIns="0" rIns="0" bIns="0" rtlCol="0" anchor="t"/>
          <a:lstStyle/>
          <a:p>
            <a:pPr marL="0" indent="0" algn="l">
              <a:lnSpc>
                <a:spcPct val="120000"/>
              </a:lnSpc>
              <a:buNone/>
            </a:pPr>
            <a:r>
              <a:rPr lang="es-AR" sz="1100" noProof="0" dirty="0">
                <a:solidFill>
                  <a:srgbClr val="5A7184"/>
                </a:solidFill>
                <a:latin typeface="Calibri" pitchFamily="34" charset="0"/>
                <a:ea typeface="Calibri" pitchFamily="34" charset="-122"/>
                <a:cs typeface="Calibri" pitchFamily="34" charset="-120"/>
              </a:rPr>
              <a:t>Distinguir correlación de causalidad, identificar sesgos, evaluar significancia</a:t>
            </a:r>
            <a:endParaRPr lang="es-AR" sz="1100" noProof="0" dirty="0"/>
          </a:p>
        </p:txBody>
      </p:sp>
      <p:pic>
        <p:nvPicPr>
          <p:cNvPr id="18" name="Image 4" descr="preencoded.png"/>
          <p:cNvPicPr>
            <a:picLocks noChangeAspect="1"/>
          </p:cNvPicPr>
          <p:nvPr/>
        </p:nvPicPr>
        <p:blipFill>
          <a:blip r:embed="rId4"/>
          <a:stretch>
            <a:fillRect/>
          </a:stretch>
        </p:blipFill>
        <p:spPr>
          <a:xfrm>
            <a:off x="4846320" y="3593592"/>
            <a:ext cx="320040" cy="320040"/>
          </a:xfrm>
          <a:prstGeom prst="rect">
            <a:avLst/>
          </a:prstGeom>
        </p:spPr>
      </p:pic>
      <p:sp>
        <p:nvSpPr>
          <p:cNvPr id="19" name="Text 12"/>
          <p:cNvSpPr/>
          <p:nvPr/>
        </p:nvSpPr>
        <p:spPr>
          <a:xfrm>
            <a:off x="5303520" y="3520440"/>
            <a:ext cx="3383280" cy="320040"/>
          </a:xfrm>
          <a:prstGeom prst="rect">
            <a:avLst/>
          </a:prstGeom>
          <a:noFill/>
          <a:ln/>
        </p:spPr>
        <p:txBody>
          <a:bodyPr wrap="square" lIns="0" tIns="0" rIns="0" bIns="0" rtlCol="0" anchor="ctr"/>
          <a:lstStyle/>
          <a:p>
            <a:pPr marL="0" indent="0" algn="l">
              <a:buNone/>
            </a:pPr>
            <a:r>
              <a:rPr lang="es-AR" sz="1300" b="1" noProof="0" dirty="0">
                <a:solidFill>
                  <a:srgbClr val="0F2B46"/>
                </a:solidFill>
                <a:latin typeface="Georgia" pitchFamily="34" charset="0"/>
                <a:ea typeface="Georgia" pitchFamily="34" charset="-122"/>
                <a:cs typeface="Georgia" pitchFamily="34" charset="-120"/>
              </a:rPr>
              <a:t>Comunicar hallazgos</a:t>
            </a:r>
            <a:endParaRPr lang="es-AR" sz="1300" noProof="0" dirty="0"/>
          </a:p>
        </p:txBody>
      </p:sp>
      <p:sp>
        <p:nvSpPr>
          <p:cNvPr id="20" name="Text 13"/>
          <p:cNvSpPr/>
          <p:nvPr/>
        </p:nvSpPr>
        <p:spPr>
          <a:xfrm>
            <a:off x="5303520" y="3867912"/>
            <a:ext cx="3383280" cy="384048"/>
          </a:xfrm>
          <a:prstGeom prst="rect">
            <a:avLst/>
          </a:prstGeom>
          <a:noFill/>
          <a:ln/>
        </p:spPr>
        <p:txBody>
          <a:bodyPr wrap="square" lIns="0" tIns="0" rIns="0" bIns="0" rtlCol="0" anchor="t"/>
          <a:lstStyle/>
          <a:p>
            <a:pPr marL="0" indent="0" algn="l">
              <a:lnSpc>
                <a:spcPct val="120000"/>
              </a:lnSpc>
              <a:buNone/>
            </a:pPr>
            <a:r>
              <a:rPr lang="es-AR" sz="1100" noProof="0" dirty="0">
                <a:solidFill>
                  <a:srgbClr val="5A7184"/>
                </a:solidFill>
                <a:latin typeface="Calibri" pitchFamily="34" charset="0"/>
                <a:ea typeface="Calibri" pitchFamily="34" charset="-122"/>
                <a:cs typeface="Calibri" pitchFamily="34" charset="-120"/>
              </a:rPr>
              <a:t>Diseñar visualizaciones claras y contar historias con datos de forma rigurosa</a:t>
            </a:r>
            <a:endParaRPr lang="es-AR" sz="1100" noProof="0" dirty="0"/>
          </a:p>
        </p:txBody>
      </p:sp>
      <p:sp>
        <p:nvSpPr>
          <p:cNvPr id="21" name="Shape 14"/>
          <p:cNvSpPr/>
          <p:nvPr/>
        </p:nvSpPr>
        <p:spPr>
          <a:xfrm>
            <a:off x="0" y="4709160"/>
            <a:ext cx="9144000" cy="434340"/>
          </a:xfrm>
          <a:prstGeom prst="rect">
            <a:avLst/>
          </a:prstGeom>
          <a:solidFill>
            <a:srgbClr val="0F2B46"/>
          </a:solidFill>
          <a:ln/>
        </p:spPr>
        <p:txBody>
          <a:bodyPr/>
          <a:lstStyle/>
          <a:p>
            <a:endParaRPr lang="es-AR" noProof="0" dirty="0"/>
          </a:p>
        </p:txBody>
      </p:sp>
      <p:sp>
        <p:nvSpPr>
          <p:cNvPr id="22" name="Text 15"/>
          <p:cNvSpPr/>
          <p:nvPr/>
        </p:nvSpPr>
        <p:spPr>
          <a:xfrm>
            <a:off x="457200" y="4709160"/>
            <a:ext cx="8229600" cy="434340"/>
          </a:xfrm>
          <a:prstGeom prst="rect">
            <a:avLst/>
          </a:prstGeom>
          <a:noFill/>
          <a:ln/>
        </p:spPr>
        <p:txBody>
          <a:bodyPr wrap="square" lIns="0" tIns="0" rIns="0" bIns="0" rtlCol="0" anchor="ctr"/>
          <a:lstStyle/>
          <a:p>
            <a:pPr algn="ct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 </a:t>
            </a:r>
            <a:r>
              <a:rPr lang="es-AR" sz="850" dirty="0">
                <a:solidFill>
                  <a:srgbClr val="7FA8C4"/>
                </a:solidFill>
                <a:latin typeface="Calibri" pitchFamily="34" charset="0"/>
                <a:ea typeface="Calibri" pitchFamily="34" charset="-122"/>
                <a:cs typeface="Calibri" pitchFamily="34" charset="-120"/>
              </a:rPr>
              <a:t>y Maida Beltrán</a:t>
            </a:r>
            <a:endParaRPr lang="es-AR" sz="850" noProof="0" dirty="0"/>
          </a:p>
        </p:txBody>
      </p:sp>
      <p:sp>
        <p:nvSpPr>
          <p:cNvPr id="23" name="Text 16"/>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3 / 11</a:t>
            </a:r>
            <a:endParaRPr lang="es-AR" sz="80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0871D-A35D-02ED-8509-03EAA806EAA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41AB541-75C7-5B5C-924B-90D697ACA882}"/>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4963B09B-DA1A-B550-8F08-B2FA44ABABBF}"/>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2700" b="1" noProof="0" dirty="0">
                <a:solidFill>
                  <a:srgbClr val="0F2B46"/>
                </a:solidFill>
                <a:latin typeface="Georgia" pitchFamily="34" charset="0"/>
                <a:ea typeface="Georgia" pitchFamily="34" charset="-122"/>
                <a:cs typeface="Georgia" pitchFamily="34" charset="-120"/>
              </a:rPr>
              <a:t>¿Para qué sirve la materia en la era de </a:t>
            </a:r>
            <a:r>
              <a:rPr lang="es-AR" sz="2700" b="1" noProof="0" dirty="0" err="1">
                <a:solidFill>
                  <a:srgbClr val="0F2B46"/>
                </a:solidFill>
                <a:latin typeface="Georgia" pitchFamily="34" charset="0"/>
                <a:ea typeface="Georgia" pitchFamily="34" charset="-122"/>
                <a:cs typeface="Georgia" pitchFamily="34" charset="-120"/>
              </a:rPr>
              <a:t>LLMs</a:t>
            </a:r>
            <a:r>
              <a:rPr lang="es-AR" sz="2700" b="1" noProof="0" dirty="0">
                <a:solidFill>
                  <a:srgbClr val="0F2B46"/>
                </a:solidFill>
                <a:latin typeface="Georgia" pitchFamily="34" charset="0"/>
                <a:ea typeface="Georgia" pitchFamily="34" charset="-122"/>
                <a:cs typeface="Georgia" pitchFamily="34" charset="-120"/>
              </a:rPr>
              <a:t> e </a:t>
            </a:r>
            <a:r>
              <a:rPr lang="es-AR" sz="2700" b="1" noProof="0" dirty="0" err="1">
                <a:solidFill>
                  <a:srgbClr val="0F2B46"/>
                </a:solidFill>
                <a:latin typeface="Georgia" pitchFamily="34" charset="0"/>
                <a:ea typeface="Georgia" pitchFamily="34" charset="-122"/>
                <a:cs typeface="Georgia" pitchFamily="34" charset="-120"/>
              </a:rPr>
              <a:t>IAs</a:t>
            </a:r>
            <a:r>
              <a:rPr lang="es-AR" sz="2700" b="1" noProof="0" dirty="0">
                <a:solidFill>
                  <a:srgbClr val="0F2B46"/>
                </a:solidFill>
                <a:latin typeface="Georgia" pitchFamily="34" charset="0"/>
                <a:ea typeface="Georgia" pitchFamily="34" charset="-122"/>
                <a:cs typeface="Georgia" pitchFamily="34" charset="-120"/>
              </a:rPr>
              <a:t>?</a:t>
            </a:r>
            <a:endParaRPr lang="es-AR" sz="2700" noProof="0" dirty="0"/>
          </a:p>
        </p:txBody>
      </p:sp>
      <p:sp>
        <p:nvSpPr>
          <p:cNvPr id="21" name="Shape 14">
            <a:extLst>
              <a:ext uri="{FF2B5EF4-FFF2-40B4-BE49-F238E27FC236}">
                <a16:creationId xmlns:a16="http://schemas.microsoft.com/office/drawing/2014/main" id="{34C249EC-839E-4B15-0899-29C713E9369F}"/>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2" name="Text 15">
            <a:extLst>
              <a:ext uri="{FF2B5EF4-FFF2-40B4-BE49-F238E27FC236}">
                <a16:creationId xmlns:a16="http://schemas.microsoft.com/office/drawing/2014/main" id="{43B3048C-B69A-74CE-A5DA-D17B44BE4BFE}"/>
              </a:ext>
            </a:extLst>
          </p:cNvPr>
          <p:cNvSpPr/>
          <p:nvPr/>
        </p:nvSpPr>
        <p:spPr>
          <a:xfrm>
            <a:off x="457200" y="4709160"/>
            <a:ext cx="8229600" cy="434340"/>
          </a:xfrm>
          <a:prstGeom prst="rect">
            <a:avLst/>
          </a:prstGeom>
          <a:noFill/>
          <a:ln/>
        </p:spPr>
        <p:txBody>
          <a:bodyPr wrap="square" lIns="0" tIns="0" rIns="0" bIns="0" rtlCol="0" anchor="ctr"/>
          <a:lstStyle/>
          <a:p>
            <a:pPr algn="ct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 </a:t>
            </a:r>
            <a:r>
              <a:rPr lang="es-AR" sz="850" dirty="0">
                <a:solidFill>
                  <a:srgbClr val="7FA8C4"/>
                </a:solidFill>
                <a:latin typeface="Calibri" pitchFamily="34" charset="0"/>
                <a:ea typeface="Calibri" pitchFamily="34" charset="-122"/>
                <a:cs typeface="Calibri" pitchFamily="34" charset="-120"/>
              </a:rPr>
              <a:t>y Maida Beltrán</a:t>
            </a:r>
            <a:endParaRPr lang="es-AR" sz="850" noProof="0" dirty="0"/>
          </a:p>
        </p:txBody>
      </p:sp>
      <p:sp>
        <p:nvSpPr>
          <p:cNvPr id="23" name="Text 16">
            <a:extLst>
              <a:ext uri="{FF2B5EF4-FFF2-40B4-BE49-F238E27FC236}">
                <a16:creationId xmlns:a16="http://schemas.microsoft.com/office/drawing/2014/main" id="{8B7C58B3-2B50-C174-52C7-4B94C1456EE7}"/>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3 / 11</a:t>
            </a:r>
            <a:endParaRPr lang="es-AR" sz="800" noProof="0" dirty="0"/>
          </a:p>
        </p:txBody>
      </p:sp>
      <p:pic>
        <p:nvPicPr>
          <p:cNvPr id="1026" name="Picture 2">
            <a:extLst>
              <a:ext uri="{FF2B5EF4-FFF2-40B4-BE49-F238E27FC236}">
                <a16:creationId xmlns:a16="http://schemas.microsoft.com/office/drawing/2014/main" id="{B46E9C78-D06F-598A-F93E-9202C6A96A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1716" y="663695"/>
            <a:ext cx="3717273" cy="3969665"/>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DC33FA8C-E8DE-962A-37E5-E425380DE62C}"/>
              </a:ext>
            </a:extLst>
          </p:cNvPr>
          <p:cNvSpPr txBox="1"/>
          <p:nvPr/>
        </p:nvSpPr>
        <p:spPr>
          <a:xfrm>
            <a:off x="1507799" y="1290563"/>
            <a:ext cx="2666198" cy="584775"/>
          </a:xfrm>
          <a:prstGeom prst="rect">
            <a:avLst/>
          </a:prstGeom>
          <a:noFill/>
        </p:spPr>
        <p:txBody>
          <a:bodyPr wrap="square" rtlCol="0">
            <a:spAutoFit/>
          </a:bodyPr>
          <a:lstStyle/>
          <a:p>
            <a:r>
              <a:rPr lang="es-AR" sz="3200" b="1" noProof="0" dirty="0"/>
              <a:t>Ustedes ahora</a:t>
            </a:r>
          </a:p>
        </p:txBody>
      </p:sp>
      <p:sp>
        <p:nvSpPr>
          <p:cNvPr id="25" name="CuadroTexto 24">
            <a:extLst>
              <a:ext uri="{FF2B5EF4-FFF2-40B4-BE49-F238E27FC236}">
                <a16:creationId xmlns:a16="http://schemas.microsoft.com/office/drawing/2014/main" id="{3B675265-0FE0-E76B-9BFF-1DC7F8FD4FFA}"/>
              </a:ext>
            </a:extLst>
          </p:cNvPr>
          <p:cNvSpPr txBox="1"/>
          <p:nvPr/>
        </p:nvSpPr>
        <p:spPr>
          <a:xfrm>
            <a:off x="1507799" y="3118173"/>
            <a:ext cx="2666198" cy="1077218"/>
          </a:xfrm>
          <a:prstGeom prst="rect">
            <a:avLst/>
          </a:prstGeom>
          <a:noFill/>
        </p:spPr>
        <p:txBody>
          <a:bodyPr wrap="square" rtlCol="0">
            <a:spAutoFit/>
          </a:bodyPr>
          <a:lstStyle/>
          <a:p>
            <a:r>
              <a:rPr lang="es-AR" sz="3200" b="1" noProof="0" dirty="0"/>
              <a:t>Ustedes al final de curso</a:t>
            </a:r>
          </a:p>
        </p:txBody>
      </p:sp>
      <p:sp>
        <p:nvSpPr>
          <p:cNvPr id="26" name="Flecha: a la derecha 25">
            <a:extLst>
              <a:ext uri="{FF2B5EF4-FFF2-40B4-BE49-F238E27FC236}">
                <a16:creationId xmlns:a16="http://schemas.microsoft.com/office/drawing/2014/main" id="{6E5A4177-8246-F1D6-9C23-69F82B271E14}"/>
              </a:ext>
            </a:extLst>
          </p:cNvPr>
          <p:cNvSpPr/>
          <p:nvPr/>
        </p:nvSpPr>
        <p:spPr>
          <a:xfrm>
            <a:off x="4254366" y="1443789"/>
            <a:ext cx="572703" cy="3801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noProof="0" dirty="0"/>
          </a:p>
        </p:txBody>
      </p:sp>
      <p:sp>
        <p:nvSpPr>
          <p:cNvPr id="27" name="Flecha: a la derecha 26">
            <a:extLst>
              <a:ext uri="{FF2B5EF4-FFF2-40B4-BE49-F238E27FC236}">
                <a16:creationId xmlns:a16="http://schemas.microsoft.com/office/drawing/2014/main" id="{582720AF-9EEA-2778-6361-2C0115C6863D}"/>
              </a:ext>
            </a:extLst>
          </p:cNvPr>
          <p:cNvSpPr/>
          <p:nvPr/>
        </p:nvSpPr>
        <p:spPr>
          <a:xfrm>
            <a:off x="4231431" y="3466683"/>
            <a:ext cx="572703" cy="3801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noProof="0" dirty="0"/>
          </a:p>
        </p:txBody>
      </p:sp>
    </p:spTree>
    <p:extLst>
      <p:ext uri="{BB962C8B-B14F-4D97-AF65-F5344CB8AC3E}">
        <p14:creationId xmlns:p14="http://schemas.microsoft.com/office/powerpoint/2010/main" val="3024466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D348C-9DB1-A836-DA70-A6758C70833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E19ED6B-660B-8ABB-022A-045EF6AE36F3}"/>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D2E72B68-5A28-B42B-EC6E-AB699A72A611}"/>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2700" b="1" noProof="0" dirty="0">
                <a:solidFill>
                  <a:srgbClr val="0F2B46"/>
                </a:solidFill>
                <a:latin typeface="Georgia" pitchFamily="34" charset="0"/>
                <a:ea typeface="Georgia" pitchFamily="34" charset="-122"/>
                <a:cs typeface="Georgia" pitchFamily="34" charset="-120"/>
              </a:rPr>
              <a:t>Hasta que….</a:t>
            </a:r>
            <a:endParaRPr lang="es-AR" sz="2700" noProof="0" dirty="0"/>
          </a:p>
        </p:txBody>
      </p:sp>
      <p:sp>
        <p:nvSpPr>
          <p:cNvPr id="21" name="Shape 14">
            <a:extLst>
              <a:ext uri="{FF2B5EF4-FFF2-40B4-BE49-F238E27FC236}">
                <a16:creationId xmlns:a16="http://schemas.microsoft.com/office/drawing/2014/main" id="{1BB11852-C41A-8E80-0EB6-714481B0A934}"/>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2" name="Text 15">
            <a:extLst>
              <a:ext uri="{FF2B5EF4-FFF2-40B4-BE49-F238E27FC236}">
                <a16:creationId xmlns:a16="http://schemas.microsoft.com/office/drawing/2014/main" id="{789A0FD2-6A04-2171-2CB0-B8120C774331}"/>
              </a:ext>
            </a:extLst>
          </p:cNvPr>
          <p:cNvSpPr/>
          <p:nvPr/>
        </p:nvSpPr>
        <p:spPr>
          <a:xfrm>
            <a:off x="457200" y="4709160"/>
            <a:ext cx="8229600" cy="434340"/>
          </a:xfrm>
          <a:prstGeom prst="rect">
            <a:avLst/>
          </a:prstGeom>
          <a:noFill/>
          <a:ln/>
        </p:spPr>
        <p:txBody>
          <a:bodyPr wrap="square" lIns="0" tIns="0" rIns="0" bIns="0" rtlCol="0" anchor="ctr"/>
          <a:lstStyle/>
          <a:p>
            <a:pPr algn="ct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 </a:t>
            </a:r>
            <a:r>
              <a:rPr lang="es-AR" sz="850" dirty="0">
                <a:solidFill>
                  <a:srgbClr val="7FA8C4"/>
                </a:solidFill>
                <a:latin typeface="Calibri" pitchFamily="34" charset="0"/>
                <a:ea typeface="Calibri" pitchFamily="34" charset="-122"/>
                <a:cs typeface="Calibri" pitchFamily="34" charset="-120"/>
              </a:rPr>
              <a:t>y Maida Beltrán</a:t>
            </a:r>
            <a:endParaRPr lang="es-AR" sz="850" noProof="0" dirty="0"/>
          </a:p>
        </p:txBody>
      </p:sp>
      <p:sp>
        <p:nvSpPr>
          <p:cNvPr id="23" name="Text 16">
            <a:extLst>
              <a:ext uri="{FF2B5EF4-FFF2-40B4-BE49-F238E27FC236}">
                <a16:creationId xmlns:a16="http://schemas.microsoft.com/office/drawing/2014/main" id="{3A06419A-E772-35C1-4BB2-45D330642555}"/>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3 / 11</a:t>
            </a:r>
            <a:endParaRPr lang="es-AR" sz="800" noProof="0" dirty="0"/>
          </a:p>
        </p:txBody>
      </p:sp>
      <p:pic>
        <p:nvPicPr>
          <p:cNvPr id="2050" name="Picture 2" descr="Terminator 2 crítica de la película y opiniones ¿Está o no ...">
            <a:extLst>
              <a:ext uri="{FF2B5EF4-FFF2-40B4-BE49-F238E27FC236}">
                <a16:creationId xmlns:a16="http://schemas.microsoft.com/office/drawing/2014/main" id="{9F514CA6-8F00-DF38-84D9-2306659903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467" y="797102"/>
            <a:ext cx="6959065" cy="39120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822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Unidades del Curso</a:t>
            </a:r>
            <a:endParaRPr lang="es-AR" sz="3000" noProof="0" dirty="0"/>
          </a:p>
        </p:txBody>
      </p:sp>
      <p:sp>
        <p:nvSpPr>
          <p:cNvPr id="4" name="Shape 2"/>
          <p:cNvSpPr/>
          <p:nvPr/>
        </p:nvSpPr>
        <p:spPr>
          <a:xfrm>
            <a:off x="1221795" y="1051560"/>
            <a:ext cx="1572768" cy="3383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p:cNvSpPr/>
          <p:nvPr/>
        </p:nvSpPr>
        <p:spPr>
          <a:xfrm>
            <a:off x="1221795" y="1051560"/>
            <a:ext cx="1572768" cy="54864"/>
          </a:xfrm>
          <a:prstGeom prst="rect">
            <a:avLst/>
          </a:prstGeom>
          <a:solidFill>
            <a:srgbClr val="1A6B8A"/>
          </a:solidFill>
          <a:ln/>
        </p:spPr>
        <p:txBody>
          <a:bodyPr/>
          <a:lstStyle/>
          <a:p>
            <a:endParaRPr lang="es-AR" noProof="0" dirty="0"/>
          </a:p>
        </p:txBody>
      </p:sp>
      <p:sp>
        <p:nvSpPr>
          <p:cNvPr id="6" name="Text 4"/>
          <p:cNvSpPr/>
          <p:nvPr/>
        </p:nvSpPr>
        <p:spPr>
          <a:xfrm>
            <a:off x="1221795" y="1234440"/>
            <a:ext cx="1572768" cy="502920"/>
          </a:xfrm>
          <a:prstGeom prst="rect">
            <a:avLst/>
          </a:prstGeom>
          <a:noFill/>
          <a:ln/>
        </p:spPr>
        <p:txBody>
          <a:bodyPr wrap="square" lIns="0" tIns="0" rIns="0" bIns="0" rtlCol="0" anchor="ctr"/>
          <a:lstStyle/>
          <a:p>
            <a:pPr marL="0" indent="0" algn="ctr">
              <a:buNone/>
            </a:pPr>
            <a:r>
              <a:rPr lang="es-AR" sz="2800" b="1" noProof="0" dirty="0">
                <a:solidFill>
                  <a:srgbClr val="E8EEF2"/>
                </a:solidFill>
                <a:latin typeface="Georgia" pitchFamily="34" charset="0"/>
                <a:ea typeface="Georgia" pitchFamily="34" charset="-122"/>
                <a:cs typeface="Georgia" pitchFamily="34" charset="-120"/>
              </a:rPr>
              <a:t>01</a:t>
            </a:r>
            <a:endParaRPr lang="es-AR" sz="2800" noProof="0" dirty="0"/>
          </a:p>
        </p:txBody>
      </p:sp>
      <p:pic>
        <p:nvPicPr>
          <p:cNvPr id="7" name="Image 0" descr="preencoded.png"/>
          <p:cNvPicPr>
            <a:picLocks noChangeAspect="1"/>
          </p:cNvPicPr>
          <p:nvPr/>
        </p:nvPicPr>
        <p:blipFill>
          <a:blip r:embed="rId3"/>
          <a:stretch>
            <a:fillRect/>
          </a:stretch>
        </p:blipFill>
        <p:spPr>
          <a:xfrm>
            <a:off x="1752147" y="1783080"/>
            <a:ext cx="512064" cy="512064"/>
          </a:xfrm>
          <a:prstGeom prst="rect">
            <a:avLst/>
          </a:prstGeom>
        </p:spPr>
      </p:pic>
      <p:sp>
        <p:nvSpPr>
          <p:cNvPr id="8" name="Text 5"/>
          <p:cNvSpPr/>
          <p:nvPr/>
        </p:nvSpPr>
        <p:spPr>
          <a:xfrm>
            <a:off x="1313235" y="2377440"/>
            <a:ext cx="1389888" cy="640080"/>
          </a:xfrm>
          <a:prstGeom prst="rect">
            <a:avLst/>
          </a:prstGeom>
          <a:noFill/>
          <a:ln/>
        </p:spPr>
        <p:txBody>
          <a:bodyPr wrap="square" lIns="0" tIns="0" rIns="0" bIns="0" rtlCol="0" anchor="ctr"/>
          <a:lstStyle/>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Introducción a la</a:t>
            </a:r>
            <a:endParaRPr lang="es-AR" sz="1150" noProof="0" dirty="0"/>
          </a:p>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Programación en R</a:t>
            </a:r>
            <a:endParaRPr lang="es-AR" sz="1150" noProof="0" dirty="0"/>
          </a:p>
        </p:txBody>
      </p:sp>
      <p:sp>
        <p:nvSpPr>
          <p:cNvPr id="9" name="Text 6"/>
          <p:cNvSpPr/>
          <p:nvPr/>
        </p:nvSpPr>
        <p:spPr>
          <a:xfrm>
            <a:off x="1313235" y="3063240"/>
            <a:ext cx="1389888" cy="123444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Lógica de programación, sintaxis de R, </a:t>
            </a:r>
            <a:r>
              <a:rPr lang="es-AR" sz="950" noProof="0" dirty="0" err="1">
                <a:solidFill>
                  <a:srgbClr val="5A7184"/>
                </a:solidFill>
                <a:latin typeface="Calibri" pitchFamily="34" charset="0"/>
                <a:ea typeface="Calibri" pitchFamily="34" charset="-122"/>
                <a:cs typeface="Calibri" pitchFamily="34" charset="-120"/>
              </a:rPr>
              <a:t>tidyverse</a:t>
            </a:r>
            <a:r>
              <a:rPr lang="es-AR" sz="950" noProof="0" dirty="0">
                <a:solidFill>
                  <a:srgbClr val="5A7184"/>
                </a:solidFill>
                <a:latin typeface="Calibri" pitchFamily="34" charset="0"/>
                <a:ea typeface="Calibri" pitchFamily="34" charset="-122"/>
                <a:cs typeface="Calibri" pitchFamily="34" charset="-120"/>
              </a:rPr>
              <a:t>, manipulación y limpieza de datos</a:t>
            </a:r>
            <a:endParaRPr lang="es-AR" sz="950" noProof="0" dirty="0"/>
          </a:p>
        </p:txBody>
      </p:sp>
      <p:sp>
        <p:nvSpPr>
          <p:cNvPr id="10" name="Shape 7"/>
          <p:cNvSpPr/>
          <p:nvPr/>
        </p:nvSpPr>
        <p:spPr>
          <a:xfrm>
            <a:off x="2940867" y="1051560"/>
            <a:ext cx="1572768" cy="3383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1" name="Shape 8"/>
          <p:cNvSpPr/>
          <p:nvPr/>
        </p:nvSpPr>
        <p:spPr>
          <a:xfrm>
            <a:off x="2940867" y="1051560"/>
            <a:ext cx="1572768" cy="54864"/>
          </a:xfrm>
          <a:prstGeom prst="rect">
            <a:avLst/>
          </a:prstGeom>
          <a:solidFill>
            <a:srgbClr val="2E9EBF"/>
          </a:solidFill>
          <a:ln/>
        </p:spPr>
        <p:txBody>
          <a:bodyPr/>
          <a:lstStyle/>
          <a:p>
            <a:endParaRPr lang="es-AR" noProof="0" dirty="0"/>
          </a:p>
        </p:txBody>
      </p:sp>
      <p:sp>
        <p:nvSpPr>
          <p:cNvPr id="12" name="Text 9"/>
          <p:cNvSpPr/>
          <p:nvPr/>
        </p:nvSpPr>
        <p:spPr>
          <a:xfrm>
            <a:off x="2940867" y="1234440"/>
            <a:ext cx="1572768" cy="502920"/>
          </a:xfrm>
          <a:prstGeom prst="rect">
            <a:avLst/>
          </a:prstGeom>
          <a:noFill/>
          <a:ln/>
        </p:spPr>
        <p:txBody>
          <a:bodyPr wrap="square" lIns="0" tIns="0" rIns="0" bIns="0" rtlCol="0" anchor="ctr"/>
          <a:lstStyle/>
          <a:p>
            <a:pPr marL="0" indent="0" algn="ctr">
              <a:buNone/>
            </a:pPr>
            <a:r>
              <a:rPr lang="es-AR" sz="2800" b="1" noProof="0" dirty="0">
                <a:solidFill>
                  <a:srgbClr val="E8EEF2"/>
                </a:solidFill>
                <a:latin typeface="Georgia" pitchFamily="34" charset="0"/>
                <a:ea typeface="Georgia" pitchFamily="34" charset="-122"/>
                <a:cs typeface="Georgia" pitchFamily="34" charset="-120"/>
              </a:rPr>
              <a:t>02</a:t>
            </a:r>
            <a:endParaRPr lang="es-AR" sz="2800" noProof="0" dirty="0"/>
          </a:p>
        </p:txBody>
      </p:sp>
      <p:pic>
        <p:nvPicPr>
          <p:cNvPr id="13" name="Image 1" descr="preencoded.png"/>
          <p:cNvPicPr>
            <a:picLocks noChangeAspect="1"/>
          </p:cNvPicPr>
          <p:nvPr/>
        </p:nvPicPr>
        <p:blipFill>
          <a:blip r:embed="rId4"/>
          <a:stretch>
            <a:fillRect/>
          </a:stretch>
        </p:blipFill>
        <p:spPr>
          <a:xfrm>
            <a:off x="3471219" y="1783080"/>
            <a:ext cx="512064" cy="512064"/>
          </a:xfrm>
          <a:prstGeom prst="rect">
            <a:avLst/>
          </a:prstGeom>
        </p:spPr>
      </p:pic>
      <p:sp>
        <p:nvSpPr>
          <p:cNvPr id="14" name="Text 10"/>
          <p:cNvSpPr/>
          <p:nvPr/>
        </p:nvSpPr>
        <p:spPr>
          <a:xfrm>
            <a:off x="3032307" y="2377440"/>
            <a:ext cx="1389888" cy="640080"/>
          </a:xfrm>
          <a:prstGeom prst="rect">
            <a:avLst/>
          </a:prstGeom>
          <a:noFill/>
          <a:ln/>
        </p:spPr>
        <p:txBody>
          <a:bodyPr wrap="square" lIns="0" tIns="0" rIns="0" bIns="0" rtlCol="0" anchor="ctr"/>
          <a:lstStyle/>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Estadística para</a:t>
            </a:r>
            <a:endParaRPr lang="es-AR" sz="1150" noProof="0" dirty="0"/>
          </a:p>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Ciencia de Datos</a:t>
            </a:r>
            <a:endParaRPr lang="es-AR" sz="1150" noProof="0" dirty="0"/>
          </a:p>
        </p:txBody>
      </p:sp>
      <p:sp>
        <p:nvSpPr>
          <p:cNvPr id="15" name="Text 11"/>
          <p:cNvSpPr/>
          <p:nvPr/>
        </p:nvSpPr>
        <p:spPr>
          <a:xfrm>
            <a:off x="3032307" y="3063240"/>
            <a:ext cx="1389888" cy="123444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Descriptiva, inferencia, </a:t>
            </a:r>
            <a:r>
              <a:rPr lang="es-AR" sz="950" noProof="0" dirty="0" err="1">
                <a:solidFill>
                  <a:srgbClr val="5A7184"/>
                </a:solidFill>
                <a:latin typeface="Calibri" pitchFamily="34" charset="0"/>
                <a:ea typeface="Calibri" pitchFamily="34" charset="-122"/>
                <a:cs typeface="Calibri" pitchFamily="34" charset="-120"/>
              </a:rPr>
              <a:t>tests</a:t>
            </a:r>
            <a:r>
              <a:rPr lang="es-AR" sz="950" noProof="0" dirty="0">
                <a:solidFill>
                  <a:srgbClr val="5A7184"/>
                </a:solidFill>
                <a:latin typeface="Calibri" pitchFamily="34" charset="0"/>
                <a:ea typeface="Calibri" pitchFamily="34" charset="-122"/>
                <a:cs typeface="Calibri" pitchFamily="34" charset="-120"/>
              </a:rPr>
              <a:t> de hipótesis, regresión, series de tiempo</a:t>
            </a:r>
            <a:endParaRPr lang="es-AR" sz="950" noProof="0" dirty="0"/>
          </a:p>
        </p:txBody>
      </p:sp>
      <p:sp>
        <p:nvSpPr>
          <p:cNvPr id="16" name="Shape 12"/>
          <p:cNvSpPr/>
          <p:nvPr/>
        </p:nvSpPr>
        <p:spPr>
          <a:xfrm>
            <a:off x="4659939" y="1051560"/>
            <a:ext cx="1572768" cy="3383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7" name="Shape 13"/>
          <p:cNvSpPr/>
          <p:nvPr/>
        </p:nvSpPr>
        <p:spPr>
          <a:xfrm>
            <a:off x="4659939" y="1051560"/>
            <a:ext cx="1572768" cy="54864"/>
          </a:xfrm>
          <a:prstGeom prst="rect">
            <a:avLst/>
          </a:prstGeom>
          <a:solidFill>
            <a:srgbClr val="1A6B8A"/>
          </a:solidFill>
          <a:ln/>
        </p:spPr>
        <p:txBody>
          <a:bodyPr/>
          <a:lstStyle/>
          <a:p>
            <a:endParaRPr lang="es-AR" noProof="0" dirty="0"/>
          </a:p>
        </p:txBody>
      </p:sp>
      <p:sp>
        <p:nvSpPr>
          <p:cNvPr id="18" name="Text 14"/>
          <p:cNvSpPr/>
          <p:nvPr/>
        </p:nvSpPr>
        <p:spPr>
          <a:xfrm>
            <a:off x="4659939" y="1234440"/>
            <a:ext cx="1572768" cy="502920"/>
          </a:xfrm>
          <a:prstGeom prst="rect">
            <a:avLst/>
          </a:prstGeom>
          <a:noFill/>
          <a:ln/>
        </p:spPr>
        <p:txBody>
          <a:bodyPr wrap="square" lIns="0" tIns="0" rIns="0" bIns="0" rtlCol="0" anchor="ctr"/>
          <a:lstStyle/>
          <a:p>
            <a:pPr marL="0" indent="0" algn="ctr">
              <a:buNone/>
            </a:pPr>
            <a:r>
              <a:rPr lang="es-AR" sz="2800" b="1" noProof="0" dirty="0">
                <a:solidFill>
                  <a:srgbClr val="E8EEF2"/>
                </a:solidFill>
                <a:latin typeface="Georgia" pitchFamily="34" charset="0"/>
                <a:ea typeface="Georgia" pitchFamily="34" charset="-122"/>
                <a:cs typeface="Georgia" pitchFamily="34" charset="-120"/>
              </a:rPr>
              <a:t>03</a:t>
            </a:r>
            <a:endParaRPr lang="es-AR" sz="2800" noProof="0" dirty="0"/>
          </a:p>
        </p:txBody>
      </p:sp>
      <p:pic>
        <p:nvPicPr>
          <p:cNvPr id="19" name="Image 2" descr="preencoded.png"/>
          <p:cNvPicPr>
            <a:picLocks noChangeAspect="1"/>
          </p:cNvPicPr>
          <p:nvPr/>
        </p:nvPicPr>
        <p:blipFill>
          <a:blip r:embed="rId5"/>
          <a:stretch>
            <a:fillRect/>
          </a:stretch>
        </p:blipFill>
        <p:spPr>
          <a:xfrm>
            <a:off x="5190291" y="1783080"/>
            <a:ext cx="512064" cy="512064"/>
          </a:xfrm>
          <a:prstGeom prst="rect">
            <a:avLst/>
          </a:prstGeom>
        </p:spPr>
      </p:pic>
      <p:sp>
        <p:nvSpPr>
          <p:cNvPr id="20" name="Text 15"/>
          <p:cNvSpPr/>
          <p:nvPr/>
        </p:nvSpPr>
        <p:spPr>
          <a:xfrm>
            <a:off x="4751379" y="2377440"/>
            <a:ext cx="1389888" cy="640080"/>
          </a:xfrm>
          <a:prstGeom prst="rect">
            <a:avLst/>
          </a:prstGeom>
          <a:noFill/>
          <a:ln/>
        </p:spPr>
        <p:txBody>
          <a:bodyPr wrap="square" lIns="0" tIns="0" rIns="0" bIns="0" rtlCol="0" anchor="ctr"/>
          <a:lstStyle/>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Herramientas</a:t>
            </a:r>
            <a:endParaRPr lang="es-AR" sz="1150" noProof="0" dirty="0"/>
          </a:p>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Cuantitativas</a:t>
            </a:r>
            <a:endParaRPr lang="es-AR" sz="1150" noProof="0" dirty="0"/>
          </a:p>
        </p:txBody>
      </p:sp>
      <p:sp>
        <p:nvSpPr>
          <p:cNvPr id="21" name="Text 16"/>
          <p:cNvSpPr/>
          <p:nvPr/>
        </p:nvSpPr>
        <p:spPr>
          <a:xfrm>
            <a:off x="4751379" y="3063240"/>
            <a:ext cx="1389888" cy="123444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Índices económicos (HHI, Gini, RCA), números índice de precios, métricas sectoriales</a:t>
            </a:r>
            <a:endParaRPr lang="es-AR" sz="950" noProof="0" dirty="0"/>
          </a:p>
        </p:txBody>
      </p:sp>
      <p:sp>
        <p:nvSpPr>
          <p:cNvPr id="22" name="Shape 17"/>
          <p:cNvSpPr/>
          <p:nvPr/>
        </p:nvSpPr>
        <p:spPr>
          <a:xfrm>
            <a:off x="6379011" y="1051560"/>
            <a:ext cx="1572768" cy="338328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23" name="Shape 18"/>
          <p:cNvSpPr/>
          <p:nvPr/>
        </p:nvSpPr>
        <p:spPr>
          <a:xfrm>
            <a:off x="6379011" y="1051560"/>
            <a:ext cx="1572768" cy="54864"/>
          </a:xfrm>
          <a:prstGeom prst="rect">
            <a:avLst/>
          </a:prstGeom>
          <a:solidFill>
            <a:srgbClr val="2E9EBF"/>
          </a:solidFill>
          <a:ln/>
        </p:spPr>
        <p:txBody>
          <a:bodyPr/>
          <a:lstStyle/>
          <a:p>
            <a:endParaRPr lang="es-AR" noProof="0" dirty="0"/>
          </a:p>
        </p:txBody>
      </p:sp>
      <p:sp>
        <p:nvSpPr>
          <p:cNvPr id="24" name="Text 19"/>
          <p:cNvSpPr/>
          <p:nvPr/>
        </p:nvSpPr>
        <p:spPr>
          <a:xfrm>
            <a:off x="6379011" y="1234440"/>
            <a:ext cx="1572768" cy="502920"/>
          </a:xfrm>
          <a:prstGeom prst="rect">
            <a:avLst/>
          </a:prstGeom>
          <a:noFill/>
          <a:ln/>
        </p:spPr>
        <p:txBody>
          <a:bodyPr wrap="square" lIns="0" tIns="0" rIns="0" bIns="0" rtlCol="0" anchor="ctr"/>
          <a:lstStyle/>
          <a:p>
            <a:pPr marL="0" indent="0" algn="ctr">
              <a:buNone/>
            </a:pPr>
            <a:r>
              <a:rPr lang="es-AR" sz="2800" b="1" noProof="0" dirty="0">
                <a:solidFill>
                  <a:srgbClr val="E8EEF2"/>
                </a:solidFill>
                <a:latin typeface="Georgia" pitchFamily="34" charset="0"/>
                <a:ea typeface="Georgia" pitchFamily="34" charset="-122"/>
                <a:cs typeface="Georgia" pitchFamily="34" charset="-120"/>
              </a:rPr>
              <a:t>04</a:t>
            </a:r>
            <a:endParaRPr lang="es-AR" sz="2800" noProof="0" dirty="0"/>
          </a:p>
        </p:txBody>
      </p:sp>
      <p:pic>
        <p:nvPicPr>
          <p:cNvPr id="25" name="Image 3" descr="preencoded.png"/>
          <p:cNvPicPr>
            <a:picLocks noChangeAspect="1"/>
          </p:cNvPicPr>
          <p:nvPr/>
        </p:nvPicPr>
        <p:blipFill>
          <a:blip r:embed="rId6"/>
          <a:stretch>
            <a:fillRect/>
          </a:stretch>
        </p:blipFill>
        <p:spPr>
          <a:xfrm>
            <a:off x="6909363" y="1783080"/>
            <a:ext cx="512064" cy="512064"/>
          </a:xfrm>
          <a:prstGeom prst="rect">
            <a:avLst/>
          </a:prstGeom>
        </p:spPr>
      </p:pic>
      <p:sp>
        <p:nvSpPr>
          <p:cNvPr id="26" name="Text 20"/>
          <p:cNvSpPr/>
          <p:nvPr/>
        </p:nvSpPr>
        <p:spPr>
          <a:xfrm>
            <a:off x="6470451" y="2377440"/>
            <a:ext cx="1389888" cy="640080"/>
          </a:xfrm>
          <a:prstGeom prst="rect">
            <a:avLst/>
          </a:prstGeom>
          <a:noFill/>
          <a:ln/>
        </p:spPr>
        <p:txBody>
          <a:bodyPr wrap="square" lIns="0" tIns="0" rIns="0" bIns="0" rtlCol="0" anchor="ctr"/>
          <a:lstStyle/>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Visualización</a:t>
            </a:r>
            <a:endParaRPr lang="es-AR" sz="1150" noProof="0" dirty="0"/>
          </a:p>
          <a:p>
            <a:pPr marL="0" indent="0" algn="ctr">
              <a:lnSpc>
                <a:spcPct val="115000"/>
              </a:lnSpc>
              <a:buNone/>
            </a:pPr>
            <a:r>
              <a:rPr lang="es-AR" sz="1150" b="1" noProof="0" dirty="0">
                <a:solidFill>
                  <a:srgbClr val="0F2B46"/>
                </a:solidFill>
                <a:latin typeface="Georgia" pitchFamily="34" charset="0"/>
                <a:ea typeface="Georgia" pitchFamily="34" charset="-122"/>
                <a:cs typeface="Georgia" pitchFamily="34" charset="-120"/>
              </a:rPr>
              <a:t>de Datos</a:t>
            </a:r>
            <a:endParaRPr lang="es-AR" sz="1150" noProof="0" dirty="0"/>
          </a:p>
        </p:txBody>
      </p:sp>
      <p:sp>
        <p:nvSpPr>
          <p:cNvPr id="27" name="Text 21"/>
          <p:cNvSpPr/>
          <p:nvPr/>
        </p:nvSpPr>
        <p:spPr>
          <a:xfrm>
            <a:off x="6470451" y="3063240"/>
            <a:ext cx="1389888" cy="123444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ggplot2, </a:t>
            </a:r>
            <a:r>
              <a:rPr lang="es-AR" sz="950" noProof="0" dirty="0" err="1">
                <a:solidFill>
                  <a:srgbClr val="5A7184"/>
                </a:solidFill>
                <a:latin typeface="Calibri" pitchFamily="34" charset="0"/>
                <a:ea typeface="Calibri" pitchFamily="34" charset="-122"/>
                <a:cs typeface="Calibri" pitchFamily="34" charset="-120"/>
              </a:rPr>
              <a:t>storytelling</a:t>
            </a:r>
            <a:r>
              <a:rPr lang="es-AR" sz="950" noProof="0" dirty="0">
                <a:solidFill>
                  <a:srgbClr val="5A7184"/>
                </a:solidFill>
                <a:latin typeface="Calibri" pitchFamily="34" charset="0"/>
                <a:ea typeface="Calibri" pitchFamily="34" charset="-122"/>
                <a:cs typeface="Calibri" pitchFamily="34" charset="-120"/>
              </a:rPr>
              <a:t> con datos, selección de gráficos, buenas prácticas visuales</a:t>
            </a:r>
            <a:endParaRPr lang="es-AR" sz="950" noProof="0" dirty="0"/>
          </a:p>
        </p:txBody>
      </p:sp>
      <p:sp>
        <p:nvSpPr>
          <p:cNvPr id="34" name="Shape 27"/>
          <p:cNvSpPr/>
          <p:nvPr/>
        </p:nvSpPr>
        <p:spPr>
          <a:xfrm>
            <a:off x="0" y="4709160"/>
            <a:ext cx="9144000" cy="434340"/>
          </a:xfrm>
          <a:prstGeom prst="rect">
            <a:avLst/>
          </a:prstGeom>
          <a:solidFill>
            <a:srgbClr val="0F2B46"/>
          </a:solidFill>
          <a:ln/>
        </p:spPr>
        <p:txBody>
          <a:bodyPr/>
          <a:lstStyle/>
          <a:p>
            <a:endParaRPr lang="es-AR" noProof="0" dirty="0"/>
          </a:p>
        </p:txBody>
      </p:sp>
      <p:sp>
        <p:nvSpPr>
          <p:cNvPr id="35" name="Text 28"/>
          <p:cNvSpPr/>
          <p:nvPr/>
        </p:nvSpPr>
        <p:spPr>
          <a:xfrm>
            <a:off x="457200" y="4709160"/>
            <a:ext cx="8229600" cy="434340"/>
          </a:xfrm>
          <a:prstGeom prst="rect">
            <a:avLst/>
          </a:prstGeom>
          <a:noFill/>
          <a:ln/>
        </p:spPr>
        <p:txBody>
          <a:bodyPr wrap="square" lIns="0" tIns="0" rIns="0" bIns="0" rtlCol="0" anchor="ctr"/>
          <a:lstStyle/>
          <a:p>
            <a:pPr algn="ct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 </a:t>
            </a:r>
            <a:r>
              <a:rPr lang="es-AR" sz="850" dirty="0">
                <a:solidFill>
                  <a:srgbClr val="7FA8C4"/>
                </a:solidFill>
                <a:latin typeface="Calibri" pitchFamily="34" charset="0"/>
                <a:ea typeface="Calibri" pitchFamily="34" charset="-122"/>
                <a:cs typeface="Calibri" pitchFamily="34" charset="-120"/>
              </a:rPr>
              <a:t>y Maida Beltrán</a:t>
            </a:r>
            <a:endParaRPr lang="es-AR" sz="850" noProof="0" dirty="0"/>
          </a:p>
        </p:txBody>
      </p:sp>
      <p:sp>
        <p:nvSpPr>
          <p:cNvPr id="36" name="Text 29"/>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4 / 11</a:t>
            </a:r>
            <a:endParaRPr lang="es-AR" sz="80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4864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Contenidos por Unidad</a:t>
            </a:r>
            <a:endParaRPr lang="es-AR" sz="3000" noProof="0" dirty="0"/>
          </a:p>
        </p:txBody>
      </p:sp>
      <p:sp>
        <p:nvSpPr>
          <p:cNvPr id="4" name="Shape 2"/>
          <p:cNvSpPr/>
          <p:nvPr/>
        </p:nvSpPr>
        <p:spPr>
          <a:xfrm>
            <a:off x="644893" y="96012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p:cNvSpPr/>
          <p:nvPr/>
        </p:nvSpPr>
        <p:spPr>
          <a:xfrm>
            <a:off x="640080" y="960120"/>
            <a:ext cx="54864" cy="1645920"/>
          </a:xfrm>
          <a:prstGeom prst="rect">
            <a:avLst/>
          </a:prstGeom>
          <a:solidFill>
            <a:srgbClr val="1A6B8A"/>
          </a:solidFill>
          <a:ln/>
        </p:spPr>
        <p:txBody>
          <a:bodyPr/>
          <a:lstStyle/>
          <a:p>
            <a:endParaRPr lang="es-AR" noProof="0" dirty="0"/>
          </a:p>
        </p:txBody>
      </p:sp>
      <p:sp>
        <p:nvSpPr>
          <p:cNvPr id="6" name="Text 4"/>
          <p:cNvSpPr/>
          <p:nvPr/>
        </p:nvSpPr>
        <p:spPr>
          <a:xfrm>
            <a:off x="873493" y="103327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Programación en R</a:t>
            </a:r>
            <a:endParaRPr lang="es-AR" sz="1400" noProof="0" dirty="0"/>
          </a:p>
        </p:txBody>
      </p:sp>
      <p:sp>
        <p:nvSpPr>
          <p:cNvPr id="7" name="Text 5"/>
          <p:cNvSpPr/>
          <p:nvPr/>
        </p:nvSpPr>
        <p:spPr>
          <a:xfrm>
            <a:off x="873493" y="1371600"/>
            <a:ext cx="3474720" cy="1143000"/>
          </a:xfrm>
          <a:prstGeom prst="rect">
            <a:avLst/>
          </a:prstGeom>
          <a:noFill/>
          <a:ln/>
        </p:spPr>
        <p:txBody>
          <a:bodyPr wrap="square" rtlCol="0" anchor="t"/>
          <a:lstStyle/>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Pensamiento computacional y pseudocódigo</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Entorno R + </a:t>
            </a:r>
            <a:r>
              <a:rPr lang="es-AR" sz="1050" noProof="0" dirty="0" err="1">
                <a:solidFill>
                  <a:srgbClr val="5A7184"/>
                </a:solidFill>
                <a:latin typeface="Calibri" pitchFamily="34" charset="0"/>
                <a:ea typeface="Calibri" pitchFamily="34" charset="-122"/>
                <a:cs typeface="Calibri" pitchFamily="34" charset="-120"/>
              </a:rPr>
              <a:t>RStudio</a:t>
            </a:r>
            <a:endParaRPr lang="es-AR" sz="1050" noProof="0" dirty="0"/>
          </a:p>
          <a:p>
            <a:pPr marL="342900" indent="-342900">
              <a:spcAft>
                <a:spcPts val="300"/>
              </a:spcAft>
              <a:buSzPct val="100000"/>
              <a:buChar char="•"/>
            </a:pPr>
            <a:r>
              <a:rPr lang="es-AR" sz="1050" noProof="0" dirty="0" err="1">
                <a:solidFill>
                  <a:srgbClr val="5A7184"/>
                </a:solidFill>
                <a:latin typeface="Calibri" pitchFamily="34" charset="0"/>
                <a:ea typeface="Calibri" pitchFamily="34" charset="-122"/>
                <a:cs typeface="Calibri" pitchFamily="34" charset="-120"/>
              </a:rPr>
              <a:t>Tidyverse</a:t>
            </a:r>
            <a:r>
              <a:rPr lang="es-AR" sz="1050" noProof="0" dirty="0">
                <a:solidFill>
                  <a:srgbClr val="5A7184"/>
                </a:solidFill>
                <a:latin typeface="Calibri" pitchFamily="34" charset="0"/>
                <a:ea typeface="Calibri" pitchFamily="34" charset="-122"/>
                <a:cs typeface="Calibri" pitchFamily="34" charset="-120"/>
              </a:rPr>
              <a:t>: </a:t>
            </a:r>
            <a:r>
              <a:rPr lang="es-AR" sz="1050" noProof="0" dirty="0" err="1">
                <a:solidFill>
                  <a:srgbClr val="5A7184"/>
                </a:solidFill>
                <a:latin typeface="Calibri" pitchFamily="34" charset="0"/>
                <a:ea typeface="Calibri" pitchFamily="34" charset="-122"/>
                <a:cs typeface="Calibri" pitchFamily="34" charset="-120"/>
              </a:rPr>
              <a:t>dplyr</a:t>
            </a:r>
            <a:r>
              <a:rPr lang="es-AR" sz="1050" noProof="0" dirty="0">
                <a:solidFill>
                  <a:srgbClr val="5A7184"/>
                </a:solidFill>
                <a:latin typeface="Calibri" pitchFamily="34" charset="0"/>
                <a:ea typeface="Calibri" pitchFamily="34" charset="-122"/>
                <a:cs typeface="Calibri" pitchFamily="34" charset="-120"/>
              </a:rPr>
              <a:t>, </a:t>
            </a:r>
            <a:r>
              <a:rPr lang="es-AR" sz="1050" noProof="0" dirty="0" err="1">
                <a:solidFill>
                  <a:srgbClr val="5A7184"/>
                </a:solidFill>
                <a:latin typeface="Calibri" pitchFamily="34" charset="0"/>
                <a:ea typeface="Calibri" pitchFamily="34" charset="-122"/>
                <a:cs typeface="Calibri" pitchFamily="34" charset="-120"/>
              </a:rPr>
              <a:t>tidyr</a:t>
            </a:r>
            <a:r>
              <a:rPr lang="es-AR" sz="1050" noProof="0" dirty="0">
                <a:solidFill>
                  <a:srgbClr val="5A7184"/>
                </a:solidFill>
                <a:latin typeface="Calibri" pitchFamily="34" charset="0"/>
                <a:ea typeface="Calibri" pitchFamily="34" charset="-122"/>
                <a:cs typeface="Calibri" pitchFamily="34" charset="-120"/>
              </a:rPr>
              <a:t>, </a:t>
            </a:r>
            <a:r>
              <a:rPr lang="es-AR" sz="1050" noProof="0" dirty="0" err="1">
                <a:solidFill>
                  <a:srgbClr val="5A7184"/>
                </a:solidFill>
                <a:latin typeface="Calibri" pitchFamily="34" charset="0"/>
                <a:ea typeface="Calibri" pitchFamily="34" charset="-122"/>
                <a:cs typeface="Calibri" pitchFamily="34" charset="-120"/>
              </a:rPr>
              <a:t>readr</a:t>
            </a:r>
            <a:endParaRPr lang="es-AR" sz="1050" noProof="0" dirty="0"/>
          </a:p>
          <a:p>
            <a:pPr marL="342900" indent="-342900">
              <a:spcAft>
                <a:spcPts val="300"/>
              </a:spcAft>
              <a:buSzPct val="100000"/>
              <a:buChar char="•"/>
            </a:pPr>
            <a:r>
              <a:rPr lang="es-AR" sz="1050" noProof="0" dirty="0" err="1">
                <a:solidFill>
                  <a:srgbClr val="5A7184"/>
                </a:solidFill>
                <a:latin typeface="Calibri" pitchFamily="34" charset="0"/>
                <a:ea typeface="Calibri" pitchFamily="34" charset="-122"/>
                <a:cs typeface="Calibri" pitchFamily="34" charset="-120"/>
              </a:rPr>
              <a:t>Joins</a:t>
            </a:r>
            <a:r>
              <a:rPr lang="es-AR" sz="1050" noProof="0" dirty="0">
                <a:solidFill>
                  <a:srgbClr val="5A7184"/>
                </a:solidFill>
                <a:latin typeface="Calibri" pitchFamily="34" charset="0"/>
                <a:ea typeface="Calibri" pitchFamily="34" charset="-122"/>
                <a:cs typeface="Calibri" pitchFamily="34" charset="-120"/>
              </a:rPr>
              <a:t> y modelos relacionales</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Organización de proyectos</a:t>
            </a:r>
            <a:endParaRPr lang="es-AR" sz="1050" noProof="0" dirty="0"/>
          </a:p>
        </p:txBody>
      </p:sp>
      <p:sp>
        <p:nvSpPr>
          <p:cNvPr id="8" name="Shape 6"/>
          <p:cNvSpPr/>
          <p:nvPr/>
        </p:nvSpPr>
        <p:spPr>
          <a:xfrm>
            <a:off x="4800600" y="96012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9" name="Shape 7"/>
          <p:cNvSpPr/>
          <p:nvPr/>
        </p:nvSpPr>
        <p:spPr>
          <a:xfrm>
            <a:off x="4800600" y="960120"/>
            <a:ext cx="54864" cy="1645920"/>
          </a:xfrm>
          <a:prstGeom prst="rect">
            <a:avLst/>
          </a:prstGeom>
          <a:solidFill>
            <a:srgbClr val="2E9EBF"/>
          </a:solidFill>
          <a:ln/>
        </p:spPr>
        <p:txBody>
          <a:bodyPr/>
          <a:lstStyle/>
          <a:p>
            <a:endParaRPr lang="es-AR" noProof="0" dirty="0"/>
          </a:p>
        </p:txBody>
      </p:sp>
      <p:sp>
        <p:nvSpPr>
          <p:cNvPr id="10" name="Text 8"/>
          <p:cNvSpPr/>
          <p:nvPr/>
        </p:nvSpPr>
        <p:spPr>
          <a:xfrm>
            <a:off x="5029200" y="103327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Estadística</a:t>
            </a:r>
            <a:endParaRPr lang="es-AR" sz="1400" noProof="0" dirty="0"/>
          </a:p>
        </p:txBody>
      </p:sp>
      <p:sp>
        <p:nvSpPr>
          <p:cNvPr id="11" name="Text 9"/>
          <p:cNvSpPr/>
          <p:nvPr/>
        </p:nvSpPr>
        <p:spPr>
          <a:xfrm>
            <a:off x="5029200" y="1371600"/>
            <a:ext cx="3474720" cy="1143000"/>
          </a:xfrm>
          <a:prstGeom prst="rect">
            <a:avLst/>
          </a:prstGeom>
          <a:noFill/>
          <a:ln/>
        </p:spPr>
        <p:txBody>
          <a:bodyPr wrap="square" rtlCol="0" anchor="t"/>
          <a:lstStyle/>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Estadística descriptiva y EDA</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Inferencia: TCL, LGN, intervalos</a:t>
            </a:r>
            <a:endParaRPr lang="es-AR" sz="1050" noProof="0" dirty="0"/>
          </a:p>
          <a:p>
            <a:pPr marL="342900" indent="-342900">
              <a:spcAft>
                <a:spcPts val="300"/>
              </a:spcAft>
              <a:buSzPct val="100000"/>
              <a:buChar char="•"/>
            </a:pPr>
            <a:r>
              <a:rPr lang="es-AR" sz="1050" noProof="0" dirty="0" err="1">
                <a:solidFill>
                  <a:srgbClr val="5A7184"/>
                </a:solidFill>
                <a:latin typeface="Calibri" pitchFamily="34" charset="0"/>
                <a:ea typeface="Calibri" pitchFamily="34" charset="-122"/>
                <a:cs typeface="Calibri" pitchFamily="34" charset="-120"/>
              </a:rPr>
              <a:t>Tests</a:t>
            </a:r>
            <a:r>
              <a:rPr lang="es-AR" sz="1050" noProof="0" dirty="0">
                <a:solidFill>
                  <a:srgbClr val="5A7184"/>
                </a:solidFill>
                <a:latin typeface="Calibri" pitchFamily="34" charset="0"/>
                <a:ea typeface="Calibri" pitchFamily="34" charset="-122"/>
                <a:cs typeface="Calibri" pitchFamily="34" charset="-120"/>
              </a:rPr>
              <a:t> de hipótesis (t-test, ANOVA)</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Regresión lineal (introductorio)</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Series de tiempo (introductorio)</a:t>
            </a:r>
            <a:endParaRPr lang="es-AR" sz="1050" noProof="0" dirty="0"/>
          </a:p>
        </p:txBody>
      </p:sp>
      <p:sp>
        <p:nvSpPr>
          <p:cNvPr id="12" name="Shape 10"/>
          <p:cNvSpPr/>
          <p:nvPr/>
        </p:nvSpPr>
        <p:spPr>
          <a:xfrm>
            <a:off x="640080" y="274320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3" name="Shape 11"/>
          <p:cNvSpPr/>
          <p:nvPr/>
        </p:nvSpPr>
        <p:spPr>
          <a:xfrm>
            <a:off x="640080" y="2743200"/>
            <a:ext cx="54864" cy="1645920"/>
          </a:xfrm>
          <a:prstGeom prst="rect">
            <a:avLst/>
          </a:prstGeom>
          <a:solidFill>
            <a:srgbClr val="1A6B8A"/>
          </a:solidFill>
          <a:ln/>
        </p:spPr>
        <p:txBody>
          <a:bodyPr/>
          <a:lstStyle/>
          <a:p>
            <a:endParaRPr lang="es-AR" noProof="0" dirty="0"/>
          </a:p>
        </p:txBody>
      </p:sp>
      <p:sp>
        <p:nvSpPr>
          <p:cNvPr id="14" name="Text 12"/>
          <p:cNvSpPr/>
          <p:nvPr/>
        </p:nvSpPr>
        <p:spPr>
          <a:xfrm>
            <a:off x="868680" y="281635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Herramientas Cuantitativas</a:t>
            </a:r>
            <a:endParaRPr lang="es-AR" sz="1400" noProof="0" dirty="0"/>
          </a:p>
        </p:txBody>
      </p:sp>
      <p:sp>
        <p:nvSpPr>
          <p:cNvPr id="15" name="Text 13"/>
          <p:cNvSpPr/>
          <p:nvPr/>
        </p:nvSpPr>
        <p:spPr>
          <a:xfrm>
            <a:off x="868680" y="3154680"/>
            <a:ext cx="3474720" cy="1143000"/>
          </a:xfrm>
          <a:prstGeom prst="rect">
            <a:avLst/>
          </a:prstGeom>
          <a:noFill/>
          <a:ln/>
        </p:spPr>
        <p:txBody>
          <a:bodyPr wrap="square" rtlCol="0" anchor="t"/>
          <a:lstStyle/>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Índice </a:t>
            </a:r>
            <a:r>
              <a:rPr lang="es-AR" sz="1050" noProof="0" dirty="0" err="1">
                <a:solidFill>
                  <a:srgbClr val="5A7184"/>
                </a:solidFill>
                <a:latin typeface="Calibri" pitchFamily="34" charset="0"/>
                <a:ea typeface="Calibri" pitchFamily="34" charset="-122"/>
                <a:cs typeface="Calibri" pitchFamily="34" charset="-120"/>
              </a:rPr>
              <a:t>Herfindahl-Hirschman</a:t>
            </a:r>
            <a:r>
              <a:rPr lang="es-AR" sz="1050" noProof="0" dirty="0">
                <a:solidFill>
                  <a:srgbClr val="5A7184"/>
                </a:solidFill>
                <a:latin typeface="Calibri" pitchFamily="34" charset="0"/>
                <a:ea typeface="Calibri" pitchFamily="34" charset="-122"/>
                <a:cs typeface="Calibri" pitchFamily="34" charset="-120"/>
              </a:rPr>
              <a:t> (HHI)</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Coeficiente de Gini</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Ventaja Comparativa Revelada (RCA)</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Índices de precios</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Métricas sectoriales y de mercado</a:t>
            </a:r>
            <a:endParaRPr lang="es-AR" sz="1050" noProof="0" dirty="0"/>
          </a:p>
        </p:txBody>
      </p:sp>
      <p:sp>
        <p:nvSpPr>
          <p:cNvPr id="16" name="Shape 14"/>
          <p:cNvSpPr/>
          <p:nvPr/>
        </p:nvSpPr>
        <p:spPr>
          <a:xfrm>
            <a:off x="4800600" y="274320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7" name="Shape 15"/>
          <p:cNvSpPr/>
          <p:nvPr/>
        </p:nvSpPr>
        <p:spPr>
          <a:xfrm>
            <a:off x="4800600" y="2743200"/>
            <a:ext cx="54864" cy="1645920"/>
          </a:xfrm>
          <a:prstGeom prst="rect">
            <a:avLst/>
          </a:prstGeom>
          <a:solidFill>
            <a:srgbClr val="2E9EBF"/>
          </a:solidFill>
          <a:ln/>
        </p:spPr>
        <p:txBody>
          <a:bodyPr/>
          <a:lstStyle/>
          <a:p>
            <a:endParaRPr lang="es-AR" noProof="0" dirty="0"/>
          </a:p>
        </p:txBody>
      </p:sp>
      <p:sp>
        <p:nvSpPr>
          <p:cNvPr id="18" name="Text 16"/>
          <p:cNvSpPr/>
          <p:nvPr/>
        </p:nvSpPr>
        <p:spPr>
          <a:xfrm>
            <a:off x="5029200" y="281635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Visualización</a:t>
            </a:r>
            <a:endParaRPr lang="es-AR" sz="1400" noProof="0" dirty="0"/>
          </a:p>
        </p:txBody>
      </p:sp>
      <p:sp>
        <p:nvSpPr>
          <p:cNvPr id="19" name="Text 17"/>
          <p:cNvSpPr/>
          <p:nvPr/>
        </p:nvSpPr>
        <p:spPr>
          <a:xfrm>
            <a:off x="5029200" y="3154680"/>
            <a:ext cx="3474720" cy="1143000"/>
          </a:xfrm>
          <a:prstGeom prst="rect">
            <a:avLst/>
          </a:prstGeom>
          <a:noFill/>
          <a:ln/>
        </p:spPr>
        <p:txBody>
          <a:bodyPr wrap="square" rtlCol="0" anchor="t"/>
          <a:lstStyle/>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Gramática de gráficos (ggplot2)</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Principios de buenas visualizaciones</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Selección de tipo de gráfico</a:t>
            </a:r>
            <a:endParaRPr lang="es-AR" sz="1050" noProof="0" dirty="0"/>
          </a:p>
          <a:p>
            <a:pPr marL="342900" indent="-342900">
              <a:spcAft>
                <a:spcPts val="300"/>
              </a:spcAft>
              <a:buSzPct val="100000"/>
              <a:buChar char="•"/>
            </a:pPr>
            <a:r>
              <a:rPr lang="es-AR" sz="1050" noProof="0" dirty="0" err="1">
                <a:solidFill>
                  <a:srgbClr val="5A7184"/>
                </a:solidFill>
                <a:latin typeface="Calibri" pitchFamily="34" charset="0"/>
                <a:ea typeface="Calibri" pitchFamily="34" charset="-122"/>
                <a:cs typeface="Calibri" pitchFamily="34" charset="-120"/>
              </a:rPr>
              <a:t>Storytelling</a:t>
            </a:r>
            <a:r>
              <a:rPr lang="es-AR" sz="1050" noProof="0" dirty="0">
                <a:solidFill>
                  <a:srgbClr val="5A7184"/>
                </a:solidFill>
                <a:latin typeface="Calibri" pitchFamily="34" charset="0"/>
                <a:ea typeface="Calibri" pitchFamily="34" charset="-122"/>
                <a:cs typeface="Calibri" pitchFamily="34" charset="-120"/>
              </a:rPr>
              <a:t> con datos</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Taller integrador</a:t>
            </a:r>
            <a:endParaRPr lang="es-AR" sz="1050" noProof="0" dirty="0"/>
          </a:p>
        </p:txBody>
      </p:sp>
      <p:sp>
        <p:nvSpPr>
          <p:cNvPr id="20" name="Shape 18"/>
          <p:cNvSpPr/>
          <p:nvPr/>
        </p:nvSpPr>
        <p:spPr>
          <a:xfrm>
            <a:off x="0" y="4709160"/>
            <a:ext cx="9144000" cy="434340"/>
          </a:xfrm>
          <a:prstGeom prst="rect">
            <a:avLst/>
          </a:prstGeom>
          <a:solidFill>
            <a:srgbClr val="0F2B46"/>
          </a:solidFill>
          <a:ln/>
        </p:spPr>
        <p:txBody>
          <a:bodyPr/>
          <a:lstStyle/>
          <a:p>
            <a:endParaRPr lang="es-AR" noProof="0" dirty="0"/>
          </a:p>
        </p:txBody>
      </p:sp>
      <p:sp>
        <p:nvSpPr>
          <p:cNvPr id="21" name="Text 19"/>
          <p:cNvSpPr/>
          <p:nvPr/>
        </p:nvSpPr>
        <p:spPr>
          <a:xfrm>
            <a:off x="457200" y="4709160"/>
            <a:ext cx="8229600" cy="434340"/>
          </a:xfrm>
          <a:prstGeom prst="rect">
            <a:avLst/>
          </a:prstGeom>
          <a:noFill/>
          <a:ln/>
        </p:spPr>
        <p:txBody>
          <a:bodyPr wrap="square" lIns="0" tIns="0" rIns="0" bIns="0" rtlCol="0" anchor="ctr"/>
          <a:lstStyle/>
          <a:p>
            <a:pPr algn="ct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 </a:t>
            </a:r>
            <a:r>
              <a:rPr lang="es-AR" sz="850" dirty="0">
                <a:solidFill>
                  <a:srgbClr val="7FA8C4"/>
                </a:solidFill>
                <a:latin typeface="Calibri" pitchFamily="34" charset="0"/>
                <a:ea typeface="Calibri" pitchFamily="34" charset="-122"/>
                <a:cs typeface="Calibri" pitchFamily="34" charset="-120"/>
              </a:rPr>
              <a:t>y Maida Beltrán</a:t>
            </a:r>
            <a:endParaRPr lang="es-AR" sz="850" noProof="0" dirty="0"/>
          </a:p>
        </p:txBody>
      </p:sp>
      <p:sp>
        <p:nvSpPr>
          <p:cNvPr id="22" name="Text 20"/>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5 / 11</a:t>
            </a:r>
            <a:endParaRPr lang="es-AR" sz="800"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D9DF6-9D56-FF34-F26C-2A5D2413C22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56AE6AB-D821-9D2B-DEA1-E4A313EE159E}"/>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BD8FA5FA-6873-D049-B3E6-839A260B9D6F}"/>
              </a:ext>
            </a:extLst>
          </p:cNvPr>
          <p:cNvSpPr/>
          <p:nvPr/>
        </p:nvSpPr>
        <p:spPr>
          <a:xfrm>
            <a:off x="640080" y="228600"/>
            <a:ext cx="7863840" cy="54864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Quedan afuera…</a:t>
            </a:r>
            <a:endParaRPr lang="es-AR" sz="3000" noProof="0" dirty="0"/>
          </a:p>
        </p:txBody>
      </p:sp>
      <p:sp>
        <p:nvSpPr>
          <p:cNvPr id="4" name="Shape 2">
            <a:extLst>
              <a:ext uri="{FF2B5EF4-FFF2-40B4-BE49-F238E27FC236}">
                <a16:creationId xmlns:a16="http://schemas.microsoft.com/office/drawing/2014/main" id="{EC735F75-D649-AABE-D0E1-10477B6FA87A}"/>
              </a:ext>
            </a:extLst>
          </p:cNvPr>
          <p:cNvSpPr/>
          <p:nvPr/>
        </p:nvSpPr>
        <p:spPr>
          <a:xfrm>
            <a:off x="644893" y="96012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a:extLst>
              <a:ext uri="{FF2B5EF4-FFF2-40B4-BE49-F238E27FC236}">
                <a16:creationId xmlns:a16="http://schemas.microsoft.com/office/drawing/2014/main" id="{59422146-5A10-55A2-7122-446414284B9D}"/>
              </a:ext>
            </a:extLst>
          </p:cNvPr>
          <p:cNvSpPr/>
          <p:nvPr/>
        </p:nvSpPr>
        <p:spPr>
          <a:xfrm>
            <a:off x="640080" y="960120"/>
            <a:ext cx="54864" cy="1645920"/>
          </a:xfrm>
          <a:prstGeom prst="rect">
            <a:avLst/>
          </a:prstGeom>
          <a:solidFill>
            <a:srgbClr val="1A6B8A"/>
          </a:solidFill>
          <a:ln/>
        </p:spPr>
        <p:txBody>
          <a:bodyPr/>
          <a:lstStyle/>
          <a:p>
            <a:endParaRPr lang="es-AR" noProof="0" dirty="0"/>
          </a:p>
        </p:txBody>
      </p:sp>
      <p:sp>
        <p:nvSpPr>
          <p:cNvPr id="6" name="Text 4">
            <a:extLst>
              <a:ext uri="{FF2B5EF4-FFF2-40B4-BE49-F238E27FC236}">
                <a16:creationId xmlns:a16="http://schemas.microsoft.com/office/drawing/2014/main" id="{7F6C90DA-2500-8848-504F-A1938C07E831}"/>
              </a:ext>
            </a:extLst>
          </p:cNvPr>
          <p:cNvSpPr/>
          <p:nvPr/>
        </p:nvSpPr>
        <p:spPr>
          <a:xfrm>
            <a:off x="873493" y="103327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Machine </a:t>
            </a:r>
            <a:r>
              <a:rPr lang="es-AR" sz="1400" b="1" noProof="0" dirty="0" err="1">
                <a:solidFill>
                  <a:srgbClr val="0F2B46"/>
                </a:solidFill>
                <a:latin typeface="Georgia" pitchFamily="34" charset="0"/>
                <a:ea typeface="Georgia" pitchFamily="34" charset="-122"/>
                <a:cs typeface="Georgia" pitchFamily="34" charset="-120"/>
              </a:rPr>
              <a:t>Learning</a:t>
            </a:r>
            <a:endParaRPr lang="es-AR" sz="1400" noProof="0" dirty="0"/>
          </a:p>
        </p:txBody>
      </p:sp>
      <p:sp>
        <p:nvSpPr>
          <p:cNvPr id="7" name="Text 5">
            <a:extLst>
              <a:ext uri="{FF2B5EF4-FFF2-40B4-BE49-F238E27FC236}">
                <a16:creationId xmlns:a16="http://schemas.microsoft.com/office/drawing/2014/main" id="{BAF68CC0-AB51-9D62-A498-5F45356A25FB}"/>
              </a:ext>
            </a:extLst>
          </p:cNvPr>
          <p:cNvSpPr/>
          <p:nvPr/>
        </p:nvSpPr>
        <p:spPr>
          <a:xfrm>
            <a:off x="873493" y="1371600"/>
            <a:ext cx="3474720" cy="1143000"/>
          </a:xfrm>
          <a:prstGeom prst="rect">
            <a:avLst/>
          </a:prstGeom>
          <a:noFill/>
          <a:ln/>
        </p:spPr>
        <p:txBody>
          <a:bodyPr wrap="square" rtlCol="0" anchor="t"/>
          <a:lstStyle/>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Algoritmos de aprendizaje supervisado y no supervisado</a:t>
            </a:r>
          </a:p>
          <a:p>
            <a:pPr marL="342900" indent="-342900">
              <a:spcAft>
                <a:spcPts val="300"/>
              </a:spcAft>
              <a:buSzPct val="100000"/>
              <a:buChar char="•"/>
            </a:pPr>
            <a:r>
              <a:rPr lang="es-AR" sz="1050" dirty="0">
                <a:solidFill>
                  <a:srgbClr val="5A7184"/>
                </a:solidFill>
                <a:latin typeface="Calibri" pitchFamily="34" charset="0"/>
                <a:cs typeface="Calibri" pitchFamily="34" charset="-120"/>
              </a:rPr>
              <a:t>Modelos de lenguaje </a:t>
            </a:r>
            <a:endParaRPr lang="es-AR" sz="1050" noProof="0" dirty="0"/>
          </a:p>
        </p:txBody>
      </p:sp>
      <p:sp>
        <p:nvSpPr>
          <p:cNvPr id="8" name="Shape 6">
            <a:extLst>
              <a:ext uri="{FF2B5EF4-FFF2-40B4-BE49-F238E27FC236}">
                <a16:creationId xmlns:a16="http://schemas.microsoft.com/office/drawing/2014/main" id="{0A10E180-7438-A35A-6E37-D92251296962}"/>
              </a:ext>
            </a:extLst>
          </p:cNvPr>
          <p:cNvSpPr/>
          <p:nvPr/>
        </p:nvSpPr>
        <p:spPr>
          <a:xfrm>
            <a:off x="4800600" y="96012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9" name="Shape 7">
            <a:extLst>
              <a:ext uri="{FF2B5EF4-FFF2-40B4-BE49-F238E27FC236}">
                <a16:creationId xmlns:a16="http://schemas.microsoft.com/office/drawing/2014/main" id="{9F211123-54AD-C572-994B-94FECC0142B9}"/>
              </a:ext>
            </a:extLst>
          </p:cNvPr>
          <p:cNvSpPr/>
          <p:nvPr/>
        </p:nvSpPr>
        <p:spPr>
          <a:xfrm>
            <a:off x="4800600" y="960120"/>
            <a:ext cx="54864" cy="1645920"/>
          </a:xfrm>
          <a:prstGeom prst="rect">
            <a:avLst/>
          </a:prstGeom>
          <a:solidFill>
            <a:srgbClr val="2E9EBF"/>
          </a:solidFill>
          <a:ln/>
        </p:spPr>
        <p:txBody>
          <a:bodyPr/>
          <a:lstStyle/>
          <a:p>
            <a:endParaRPr lang="es-AR" noProof="0" dirty="0"/>
          </a:p>
        </p:txBody>
      </p:sp>
      <p:sp>
        <p:nvSpPr>
          <p:cNvPr id="10" name="Text 8">
            <a:extLst>
              <a:ext uri="{FF2B5EF4-FFF2-40B4-BE49-F238E27FC236}">
                <a16:creationId xmlns:a16="http://schemas.microsoft.com/office/drawing/2014/main" id="{8BE468F8-6E3A-90BD-4C58-EE6DD1E9A8D9}"/>
              </a:ext>
            </a:extLst>
          </p:cNvPr>
          <p:cNvSpPr/>
          <p:nvPr/>
        </p:nvSpPr>
        <p:spPr>
          <a:xfrm>
            <a:off x="5029200" y="103327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Análisis de sentimiento</a:t>
            </a:r>
            <a:endParaRPr lang="es-AR" sz="1400" noProof="0" dirty="0"/>
          </a:p>
        </p:txBody>
      </p:sp>
      <p:sp>
        <p:nvSpPr>
          <p:cNvPr id="11" name="Text 9">
            <a:extLst>
              <a:ext uri="{FF2B5EF4-FFF2-40B4-BE49-F238E27FC236}">
                <a16:creationId xmlns:a16="http://schemas.microsoft.com/office/drawing/2014/main" id="{FD0CB1AD-C120-5BB0-185F-39EB4530683C}"/>
              </a:ext>
            </a:extLst>
          </p:cNvPr>
          <p:cNvSpPr/>
          <p:nvPr/>
        </p:nvSpPr>
        <p:spPr>
          <a:xfrm>
            <a:off x="5029200" y="1371600"/>
            <a:ext cx="3474720" cy="1143000"/>
          </a:xfrm>
          <a:prstGeom prst="rect">
            <a:avLst/>
          </a:prstGeom>
          <a:noFill/>
          <a:ln/>
        </p:spPr>
        <p:txBody>
          <a:bodyPr wrap="square" rtlCol="0" anchor="t"/>
          <a:lstStyle/>
          <a:p>
            <a:pPr marL="342900" indent="-342900">
              <a:spcAft>
                <a:spcPts val="300"/>
              </a:spcAft>
              <a:buSzPct val="100000"/>
              <a:buChar char="•"/>
            </a:pPr>
            <a:r>
              <a:rPr lang="es-MX" sz="1050" dirty="0">
                <a:solidFill>
                  <a:srgbClr val="5A7184"/>
                </a:solidFill>
                <a:latin typeface="Calibri" pitchFamily="34" charset="0"/>
                <a:cs typeface="Calibri" pitchFamily="34" charset="-120"/>
              </a:rPr>
              <a:t>A</a:t>
            </a:r>
            <a:r>
              <a:rPr lang="es-AR" sz="1050" dirty="0" err="1">
                <a:solidFill>
                  <a:srgbClr val="5A7184"/>
                </a:solidFill>
                <a:latin typeface="Calibri" pitchFamily="34" charset="0"/>
                <a:cs typeface="Calibri" pitchFamily="34" charset="-120"/>
              </a:rPr>
              <a:t>nálisis</a:t>
            </a:r>
            <a:r>
              <a:rPr lang="es-AR" sz="1050" dirty="0">
                <a:solidFill>
                  <a:srgbClr val="5A7184"/>
                </a:solidFill>
                <a:latin typeface="Calibri" pitchFamily="34" charset="0"/>
                <a:cs typeface="Calibri" pitchFamily="34" charset="-120"/>
              </a:rPr>
              <a:t> programático de texto</a:t>
            </a:r>
          </a:p>
          <a:p>
            <a:pPr marL="342900" indent="-342900">
              <a:spcAft>
                <a:spcPts val="300"/>
              </a:spcAft>
              <a:buSzPct val="100000"/>
              <a:buChar char="•"/>
            </a:pPr>
            <a:r>
              <a:rPr lang="es-AR" sz="1050" dirty="0">
                <a:solidFill>
                  <a:srgbClr val="5A7184"/>
                </a:solidFill>
                <a:latin typeface="Calibri" pitchFamily="34" charset="0"/>
                <a:cs typeface="Calibri" pitchFamily="34" charset="-120"/>
              </a:rPr>
              <a:t>Identificación de las ideas que se esconden detrás de esos textos </a:t>
            </a:r>
          </a:p>
          <a:p>
            <a:pPr marL="342900" indent="-342900">
              <a:spcAft>
                <a:spcPts val="300"/>
              </a:spcAft>
              <a:buSzPct val="100000"/>
              <a:buChar char="•"/>
            </a:pPr>
            <a:r>
              <a:rPr lang="es-AR" sz="1050" dirty="0">
                <a:solidFill>
                  <a:srgbClr val="5A7184"/>
                </a:solidFill>
                <a:latin typeface="Calibri" pitchFamily="34" charset="0"/>
                <a:cs typeface="Calibri" pitchFamily="34" charset="-120"/>
              </a:rPr>
              <a:t>Visualización de los sentimientos</a:t>
            </a:r>
          </a:p>
        </p:txBody>
      </p:sp>
      <p:sp>
        <p:nvSpPr>
          <p:cNvPr id="12" name="Shape 10">
            <a:extLst>
              <a:ext uri="{FF2B5EF4-FFF2-40B4-BE49-F238E27FC236}">
                <a16:creationId xmlns:a16="http://schemas.microsoft.com/office/drawing/2014/main" id="{40BAB532-6DED-9994-540E-E80C865EF737}"/>
              </a:ext>
            </a:extLst>
          </p:cNvPr>
          <p:cNvSpPr/>
          <p:nvPr/>
        </p:nvSpPr>
        <p:spPr>
          <a:xfrm>
            <a:off x="640080" y="274320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3" name="Shape 11">
            <a:extLst>
              <a:ext uri="{FF2B5EF4-FFF2-40B4-BE49-F238E27FC236}">
                <a16:creationId xmlns:a16="http://schemas.microsoft.com/office/drawing/2014/main" id="{7A1D3598-5203-B817-A103-B1861A867D21}"/>
              </a:ext>
            </a:extLst>
          </p:cNvPr>
          <p:cNvSpPr/>
          <p:nvPr/>
        </p:nvSpPr>
        <p:spPr>
          <a:xfrm>
            <a:off x="640080" y="2743200"/>
            <a:ext cx="54864" cy="1645920"/>
          </a:xfrm>
          <a:prstGeom prst="rect">
            <a:avLst/>
          </a:prstGeom>
          <a:solidFill>
            <a:srgbClr val="1A6B8A"/>
          </a:solidFill>
          <a:ln/>
        </p:spPr>
        <p:txBody>
          <a:bodyPr/>
          <a:lstStyle/>
          <a:p>
            <a:endParaRPr lang="es-AR" noProof="0" dirty="0"/>
          </a:p>
        </p:txBody>
      </p:sp>
      <p:sp>
        <p:nvSpPr>
          <p:cNvPr id="14" name="Text 12">
            <a:extLst>
              <a:ext uri="{FF2B5EF4-FFF2-40B4-BE49-F238E27FC236}">
                <a16:creationId xmlns:a16="http://schemas.microsoft.com/office/drawing/2014/main" id="{A17A0900-FA97-C951-FB0E-F4863D824290}"/>
              </a:ext>
            </a:extLst>
          </p:cNvPr>
          <p:cNvSpPr/>
          <p:nvPr/>
        </p:nvSpPr>
        <p:spPr>
          <a:xfrm>
            <a:off x="868680" y="281635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Otras cosas </a:t>
            </a:r>
            <a:endParaRPr lang="es-AR" sz="1400" noProof="0" dirty="0"/>
          </a:p>
        </p:txBody>
      </p:sp>
      <p:sp>
        <p:nvSpPr>
          <p:cNvPr id="15" name="Text 13">
            <a:extLst>
              <a:ext uri="{FF2B5EF4-FFF2-40B4-BE49-F238E27FC236}">
                <a16:creationId xmlns:a16="http://schemas.microsoft.com/office/drawing/2014/main" id="{9524D236-47B7-CBCD-57E1-7269A0F4F460}"/>
              </a:ext>
            </a:extLst>
          </p:cNvPr>
          <p:cNvSpPr/>
          <p:nvPr/>
        </p:nvSpPr>
        <p:spPr>
          <a:xfrm>
            <a:off x="868680" y="3154680"/>
            <a:ext cx="3474720" cy="1143000"/>
          </a:xfrm>
          <a:prstGeom prst="rect">
            <a:avLst/>
          </a:prstGeom>
          <a:noFill/>
          <a:ln/>
        </p:spPr>
        <p:txBody>
          <a:bodyPr wrap="square" rtlCol="0" anchor="t"/>
          <a:lstStyle/>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Trabajo intensivo de arreglo de textos</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SQL y bases de datos </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Gráficos interactivos</a:t>
            </a:r>
            <a:endParaRPr lang="es-AR" sz="1050" noProof="0" dirty="0"/>
          </a:p>
          <a:p>
            <a:pPr marL="342900" indent="-342900">
              <a:spcAft>
                <a:spcPts val="300"/>
              </a:spcAft>
              <a:buSzPct val="100000"/>
              <a:buChar char="•"/>
            </a:pPr>
            <a:endParaRPr lang="es-AR" sz="1050" noProof="0" dirty="0"/>
          </a:p>
        </p:txBody>
      </p:sp>
      <p:sp>
        <p:nvSpPr>
          <p:cNvPr id="16" name="Shape 14">
            <a:extLst>
              <a:ext uri="{FF2B5EF4-FFF2-40B4-BE49-F238E27FC236}">
                <a16:creationId xmlns:a16="http://schemas.microsoft.com/office/drawing/2014/main" id="{C18C46E3-4936-D3EB-2FB1-3DEB0EDAC46D}"/>
              </a:ext>
            </a:extLst>
          </p:cNvPr>
          <p:cNvSpPr/>
          <p:nvPr/>
        </p:nvSpPr>
        <p:spPr>
          <a:xfrm>
            <a:off x="4800600" y="2743200"/>
            <a:ext cx="3886200" cy="16459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7" name="Shape 15">
            <a:extLst>
              <a:ext uri="{FF2B5EF4-FFF2-40B4-BE49-F238E27FC236}">
                <a16:creationId xmlns:a16="http://schemas.microsoft.com/office/drawing/2014/main" id="{AD7C95A7-A8A7-8C4C-9E35-CEAE7FE7A1B7}"/>
              </a:ext>
            </a:extLst>
          </p:cNvPr>
          <p:cNvSpPr/>
          <p:nvPr/>
        </p:nvSpPr>
        <p:spPr>
          <a:xfrm>
            <a:off x="4800600" y="2743200"/>
            <a:ext cx="54864" cy="1645920"/>
          </a:xfrm>
          <a:prstGeom prst="rect">
            <a:avLst/>
          </a:prstGeom>
          <a:solidFill>
            <a:srgbClr val="2E9EBF"/>
          </a:solidFill>
          <a:ln/>
        </p:spPr>
        <p:txBody>
          <a:bodyPr/>
          <a:lstStyle/>
          <a:p>
            <a:endParaRPr lang="es-AR" noProof="0" dirty="0"/>
          </a:p>
        </p:txBody>
      </p:sp>
      <p:sp>
        <p:nvSpPr>
          <p:cNvPr id="18" name="Text 16">
            <a:extLst>
              <a:ext uri="{FF2B5EF4-FFF2-40B4-BE49-F238E27FC236}">
                <a16:creationId xmlns:a16="http://schemas.microsoft.com/office/drawing/2014/main" id="{25F4FEA9-A3F4-6596-7958-8CD63BCEE55D}"/>
              </a:ext>
            </a:extLst>
          </p:cNvPr>
          <p:cNvSpPr/>
          <p:nvPr/>
        </p:nvSpPr>
        <p:spPr>
          <a:xfrm>
            <a:off x="5029200" y="2816352"/>
            <a:ext cx="3474720" cy="320040"/>
          </a:xfrm>
          <a:prstGeom prst="rect">
            <a:avLst/>
          </a:prstGeom>
          <a:noFill/>
          <a:ln/>
        </p:spPr>
        <p:txBody>
          <a:bodyPr wrap="square" lIns="0" tIns="0" rIns="0" bIns="0" rtlCol="0" anchor="ctr"/>
          <a:lstStyle/>
          <a:p>
            <a:pPr marL="0" indent="0" algn="l">
              <a:buNone/>
            </a:pPr>
            <a:r>
              <a:rPr lang="es-AR" sz="1400" b="1" noProof="0" dirty="0">
                <a:solidFill>
                  <a:srgbClr val="0F2B46"/>
                </a:solidFill>
                <a:latin typeface="Georgia" pitchFamily="34" charset="0"/>
                <a:ea typeface="Georgia" pitchFamily="34" charset="-122"/>
                <a:cs typeface="Georgia" pitchFamily="34" charset="-120"/>
              </a:rPr>
              <a:t>Análisis geográfico</a:t>
            </a:r>
            <a:endParaRPr lang="es-AR" sz="1400" noProof="0" dirty="0"/>
          </a:p>
        </p:txBody>
      </p:sp>
      <p:sp>
        <p:nvSpPr>
          <p:cNvPr id="19" name="Text 17">
            <a:extLst>
              <a:ext uri="{FF2B5EF4-FFF2-40B4-BE49-F238E27FC236}">
                <a16:creationId xmlns:a16="http://schemas.microsoft.com/office/drawing/2014/main" id="{6B0B56F4-495E-A70A-0621-D75E832DE38A}"/>
              </a:ext>
            </a:extLst>
          </p:cNvPr>
          <p:cNvSpPr/>
          <p:nvPr/>
        </p:nvSpPr>
        <p:spPr>
          <a:xfrm>
            <a:off x="5029200" y="3154680"/>
            <a:ext cx="3474720" cy="1143000"/>
          </a:xfrm>
          <a:prstGeom prst="rect">
            <a:avLst/>
          </a:prstGeom>
          <a:noFill/>
          <a:ln/>
        </p:spPr>
        <p:txBody>
          <a:bodyPr wrap="square" rtlCol="0" anchor="t"/>
          <a:lstStyle/>
          <a:p>
            <a:pPr marL="342900" indent="-342900">
              <a:spcAft>
                <a:spcPts val="300"/>
              </a:spcAft>
              <a:buSzPct val="100000"/>
              <a:buChar char="•"/>
            </a:pPr>
            <a:r>
              <a:rPr lang="es-AR" sz="1050" dirty="0">
                <a:solidFill>
                  <a:srgbClr val="5A7184"/>
                </a:solidFill>
                <a:latin typeface="Calibri" pitchFamily="34" charset="0"/>
                <a:cs typeface="Calibri" pitchFamily="34" charset="-120"/>
              </a:rPr>
              <a:t>Trabajo con mapas programático</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Georreferenciación</a:t>
            </a:r>
            <a:endParaRPr lang="es-AR" sz="1050" noProof="0" dirty="0"/>
          </a:p>
          <a:p>
            <a:pPr marL="342900" indent="-342900">
              <a:spcAft>
                <a:spcPts val="300"/>
              </a:spcAft>
              <a:buSzPct val="100000"/>
              <a:buChar char="•"/>
            </a:pPr>
            <a:r>
              <a:rPr lang="es-AR" sz="1050" noProof="0" dirty="0">
                <a:solidFill>
                  <a:srgbClr val="5A7184"/>
                </a:solidFill>
                <a:latin typeface="Calibri" pitchFamily="34" charset="0"/>
                <a:ea typeface="Calibri" pitchFamily="34" charset="-122"/>
                <a:cs typeface="Calibri" pitchFamily="34" charset="-120"/>
              </a:rPr>
              <a:t>Coordenadas y vinculación entre datos y aspectos geográficos</a:t>
            </a:r>
            <a:endParaRPr lang="es-AR" sz="1050" noProof="0" dirty="0"/>
          </a:p>
        </p:txBody>
      </p:sp>
      <p:sp>
        <p:nvSpPr>
          <p:cNvPr id="20" name="Shape 18">
            <a:extLst>
              <a:ext uri="{FF2B5EF4-FFF2-40B4-BE49-F238E27FC236}">
                <a16:creationId xmlns:a16="http://schemas.microsoft.com/office/drawing/2014/main" id="{A28392F7-0A7F-BFBE-2921-193B6A5DAAF2}"/>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1" name="Text 19">
            <a:extLst>
              <a:ext uri="{FF2B5EF4-FFF2-40B4-BE49-F238E27FC236}">
                <a16:creationId xmlns:a16="http://schemas.microsoft.com/office/drawing/2014/main" id="{9ADC6889-B7F2-9473-5768-AE79BABCB73C}"/>
              </a:ext>
            </a:extLst>
          </p:cNvPr>
          <p:cNvSpPr/>
          <p:nvPr/>
        </p:nvSpPr>
        <p:spPr>
          <a:xfrm>
            <a:off x="457200" y="4709160"/>
            <a:ext cx="8229600" cy="434340"/>
          </a:xfrm>
          <a:prstGeom prst="rect">
            <a:avLst/>
          </a:prstGeom>
          <a:noFill/>
          <a:ln/>
        </p:spPr>
        <p:txBody>
          <a:bodyPr wrap="square" lIns="0" tIns="0" rIns="0" bIns="0" rtlCol="0" anchor="ctr"/>
          <a:lstStyle/>
          <a:p>
            <a:pPr algn="ct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 </a:t>
            </a:r>
            <a:r>
              <a:rPr lang="es-AR" sz="850" dirty="0">
                <a:solidFill>
                  <a:srgbClr val="7FA8C4"/>
                </a:solidFill>
                <a:latin typeface="Calibri" pitchFamily="34" charset="0"/>
                <a:ea typeface="Calibri" pitchFamily="34" charset="-122"/>
                <a:cs typeface="Calibri" pitchFamily="34" charset="-120"/>
              </a:rPr>
              <a:t>y Maida Beltrán</a:t>
            </a:r>
            <a:endParaRPr lang="es-AR" sz="850" noProof="0" dirty="0"/>
          </a:p>
        </p:txBody>
      </p:sp>
      <p:sp>
        <p:nvSpPr>
          <p:cNvPr id="22" name="Text 20">
            <a:extLst>
              <a:ext uri="{FF2B5EF4-FFF2-40B4-BE49-F238E27FC236}">
                <a16:creationId xmlns:a16="http://schemas.microsoft.com/office/drawing/2014/main" id="{EC59253F-A5FC-EDBA-CBA7-5231CD625562}"/>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5 / 11</a:t>
            </a:r>
            <a:endParaRPr lang="es-AR" sz="800" noProof="0" dirty="0"/>
          </a:p>
        </p:txBody>
      </p:sp>
    </p:spTree>
    <p:extLst>
      <p:ext uri="{BB962C8B-B14F-4D97-AF65-F5344CB8AC3E}">
        <p14:creationId xmlns:p14="http://schemas.microsoft.com/office/powerpoint/2010/main" val="3429869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Software y Herramientas</a:t>
            </a:r>
            <a:endParaRPr lang="es-AR" sz="3000" noProof="0" dirty="0"/>
          </a:p>
        </p:txBody>
      </p:sp>
      <p:sp>
        <p:nvSpPr>
          <p:cNvPr id="4" name="Shape 2"/>
          <p:cNvSpPr/>
          <p:nvPr/>
        </p:nvSpPr>
        <p:spPr>
          <a:xfrm>
            <a:off x="640080" y="1051560"/>
            <a:ext cx="502920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p:cNvSpPr/>
          <p:nvPr/>
        </p:nvSpPr>
        <p:spPr>
          <a:xfrm>
            <a:off x="640080" y="1051560"/>
            <a:ext cx="5029200" cy="54864"/>
          </a:xfrm>
          <a:prstGeom prst="rect">
            <a:avLst/>
          </a:prstGeom>
          <a:solidFill>
            <a:srgbClr val="1A6B8A"/>
          </a:solidFill>
          <a:ln/>
        </p:spPr>
        <p:txBody>
          <a:bodyPr/>
          <a:lstStyle/>
          <a:p>
            <a:endParaRPr lang="es-AR" noProof="0" dirty="0"/>
          </a:p>
        </p:txBody>
      </p:sp>
      <p:sp>
        <p:nvSpPr>
          <p:cNvPr id="6" name="Text 4"/>
          <p:cNvSpPr/>
          <p:nvPr/>
        </p:nvSpPr>
        <p:spPr>
          <a:xfrm>
            <a:off x="914400" y="1280160"/>
            <a:ext cx="1097280" cy="822960"/>
          </a:xfrm>
          <a:prstGeom prst="rect">
            <a:avLst/>
          </a:prstGeom>
          <a:noFill/>
          <a:ln/>
        </p:spPr>
        <p:txBody>
          <a:bodyPr wrap="square" lIns="0" tIns="0" rIns="0" bIns="0" rtlCol="0" anchor="ctr"/>
          <a:lstStyle/>
          <a:p>
            <a:pPr marL="0" indent="0" algn="ctr">
              <a:buNone/>
            </a:pPr>
            <a:r>
              <a:rPr lang="es-AR" sz="4200" b="1" noProof="0" dirty="0">
                <a:solidFill>
                  <a:srgbClr val="1A6B8A"/>
                </a:solidFill>
                <a:latin typeface="Consolas" pitchFamily="34" charset="0"/>
                <a:ea typeface="Consolas" pitchFamily="34" charset="-122"/>
                <a:cs typeface="Consolas" pitchFamily="34" charset="-120"/>
              </a:rPr>
              <a:t>R</a:t>
            </a:r>
            <a:endParaRPr lang="es-AR" sz="4200" noProof="0" dirty="0"/>
          </a:p>
        </p:txBody>
      </p:sp>
      <p:sp>
        <p:nvSpPr>
          <p:cNvPr id="7" name="Text 5"/>
          <p:cNvSpPr/>
          <p:nvPr/>
        </p:nvSpPr>
        <p:spPr>
          <a:xfrm>
            <a:off x="2011680" y="1280160"/>
            <a:ext cx="3474720" cy="320040"/>
          </a:xfrm>
          <a:prstGeom prst="rect">
            <a:avLst/>
          </a:prstGeom>
          <a:noFill/>
          <a:ln/>
        </p:spPr>
        <p:txBody>
          <a:bodyPr wrap="square" lIns="0" tIns="0" rIns="0" bIns="0" rtlCol="0" anchor="ctr"/>
          <a:lstStyle/>
          <a:p>
            <a:pPr marL="0" indent="0" algn="l">
              <a:buNone/>
            </a:pPr>
            <a:r>
              <a:rPr lang="es-AR" sz="1500" b="1" noProof="0" dirty="0">
                <a:solidFill>
                  <a:srgbClr val="0F2B46"/>
                </a:solidFill>
                <a:latin typeface="Georgia" pitchFamily="34" charset="0"/>
                <a:ea typeface="Georgia" pitchFamily="34" charset="-122"/>
                <a:cs typeface="Georgia" pitchFamily="34" charset="-120"/>
              </a:rPr>
              <a:t>Lenguaje principal del curso</a:t>
            </a:r>
            <a:endParaRPr lang="es-AR" sz="1500" noProof="0" dirty="0"/>
          </a:p>
        </p:txBody>
      </p:sp>
      <p:sp>
        <p:nvSpPr>
          <p:cNvPr id="8" name="Text 6"/>
          <p:cNvSpPr/>
          <p:nvPr/>
        </p:nvSpPr>
        <p:spPr>
          <a:xfrm>
            <a:off x="2011680" y="1645920"/>
            <a:ext cx="3474720" cy="1005840"/>
          </a:xfrm>
          <a:prstGeom prst="rect">
            <a:avLst/>
          </a:prstGeom>
          <a:noFill/>
          <a:ln/>
        </p:spPr>
        <p:txBody>
          <a:bodyPr wrap="square" rtlCol="0" anchor="t"/>
          <a:lstStyle/>
          <a:p>
            <a:pPr marL="0" indent="0" algn="l">
              <a:lnSpc>
                <a:spcPct val="130000"/>
              </a:lnSpc>
              <a:buNone/>
            </a:pPr>
            <a:r>
              <a:rPr lang="es-AR" sz="1100" noProof="0" dirty="0">
                <a:solidFill>
                  <a:srgbClr val="5A7184"/>
                </a:solidFill>
                <a:latin typeface="Calibri" pitchFamily="34" charset="0"/>
                <a:ea typeface="Calibri" pitchFamily="34" charset="-122"/>
                <a:cs typeface="Calibri" pitchFamily="34" charset="-120"/>
              </a:rPr>
              <a:t>Lenguaje libre, gratuito y con un ecosistema enorme para análisis de datos, estadística y visualización. Es el estándar en muchas áreas de investigación económica.</a:t>
            </a:r>
            <a:endParaRPr lang="es-AR" sz="1100" noProof="0" dirty="0"/>
          </a:p>
        </p:txBody>
      </p:sp>
      <p:sp>
        <p:nvSpPr>
          <p:cNvPr id="9" name="Shape 7"/>
          <p:cNvSpPr/>
          <p:nvPr/>
        </p:nvSpPr>
        <p:spPr>
          <a:xfrm>
            <a:off x="5943600" y="1051560"/>
            <a:ext cx="256032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0" name="Shape 8"/>
          <p:cNvSpPr/>
          <p:nvPr/>
        </p:nvSpPr>
        <p:spPr>
          <a:xfrm>
            <a:off x="5943600" y="1051560"/>
            <a:ext cx="2560320" cy="54864"/>
          </a:xfrm>
          <a:prstGeom prst="rect">
            <a:avLst/>
          </a:prstGeom>
          <a:solidFill>
            <a:srgbClr val="2E9EBF"/>
          </a:solidFill>
          <a:ln/>
        </p:spPr>
        <p:txBody>
          <a:bodyPr/>
          <a:lstStyle/>
          <a:p>
            <a:endParaRPr lang="es-AR" noProof="0" dirty="0"/>
          </a:p>
        </p:txBody>
      </p:sp>
      <p:sp>
        <p:nvSpPr>
          <p:cNvPr id="11" name="Text 9"/>
          <p:cNvSpPr/>
          <p:nvPr/>
        </p:nvSpPr>
        <p:spPr>
          <a:xfrm>
            <a:off x="6126480" y="1280160"/>
            <a:ext cx="2194560" cy="320040"/>
          </a:xfrm>
          <a:prstGeom prst="rect">
            <a:avLst/>
          </a:prstGeom>
          <a:noFill/>
          <a:ln/>
        </p:spPr>
        <p:txBody>
          <a:bodyPr wrap="square" lIns="0" tIns="0" rIns="0" bIns="0" rtlCol="0" anchor="ctr"/>
          <a:lstStyle/>
          <a:p>
            <a:pPr marL="0" indent="0" algn="ctr">
              <a:buNone/>
            </a:pPr>
            <a:r>
              <a:rPr lang="es-AR" sz="1500" b="1" noProof="0" dirty="0" err="1">
                <a:solidFill>
                  <a:srgbClr val="0F2B46"/>
                </a:solidFill>
                <a:latin typeface="Georgia" pitchFamily="34" charset="0"/>
                <a:ea typeface="Georgia" pitchFamily="34" charset="-122"/>
                <a:cs typeface="Georgia" pitchFamily="34" charset="-120"/>
              </a:rPr>
              <a:t>RStudio</a:t>
            </a:r>
            <a:endParaRPr lang="es-AR" sz="1500" noProof="0" dirty="0"/>
          </a:p>
        </p:txBody>
      </p:sp>
      <p:sp>
        <p:nvSpPr>
          <p:cNvPr id="12" name="Text 10"/>
          <p:cNvSpPr/>
          <p:nvPr/>
        </p:nvSpPr>
        <p:spPr>
          <a:xfrm>
            <a:off x="6126480" y="1691640"/>
            <a:ext cx="2194560" cy="10058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IDE para trabajar con R de forma cómoda. Integra consola, editor de scripts, visor de gráficos y ayuda.</a:t>
            </a:r>
            <a:endParaRPr lang="es-AR" sz="1100" noProof="0" dirty="0"/>
          </a:p>
        </p:txBody>
      </p:sp>
      <p:sp>
        <p:nvSpPr>
          <p:cNvPr id="13" name="Shape 11"/>
          <p:cNvSpPr/>
          <p:nvPr/>
        </p:nvSpPr>
        <p:spPr>
          <a:xfrm>
            <a:off x="640080" y="3154680"/>
            <a:ext cx="1947672" cy="1280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4" name="Text 12"/>
          <p:cNvSpPr/>
          <p:nvPr/>
        </p:nvSpPr>
        <p:spPr>
          <a:xfrm>
            <a:off x="731520" y="3246120"/>
            <a:ext cx="1764792" cy="320040"/>
          </a:xfrm>
          <a:prstGeom prst="rect">
            <a:avLst/>
          </a:prstGeom>
          <a:noFill/>
          <a:ln/>
        </p:spPr>
        <p:txBody>
          <a:bodyPr wrap="square" lIns="0" tIns="0" rIns="0" bIns="0" rtlCol="0" anchor="ctr"/>
          <a:lstStyle/>
          <a:p>
            <a:pPr marL="0" indent="0" algn="ctr">
              <a:buNone/>
            </a:pPr>
            <a:r>
              <a:rPr lang="es-AR" sz="1200" b="1" noProof="0" dirty="0" err="1">
                <a:solidFill>
                  <a:srgbClr val="1A6B8A"/>
                </a:solidFill>
                <a:latin typeface="Consolas" pitchFamily="34" charset="0"/>
                <a:ea typeface="Consolas" pitchFamily="34" charset="-122"/>
                <a:cs typeface="Consolas" pitchFamily="34" charset="-120"/>
              </a:rPr>
              <a:t>tidyverse</a:t>
            </a:r>
            <a:endParaRPr lang="es-AR" sz="1200" noProof="0" dirty="0"/>
          </a:p>
        </p:txBody>
      </p:sp>
      <p:sp>
        <p:nvSpPr>
          <p:cNvPr id="15" name="Text 13"/>
          <p:cNvSpPr/>
          <p:nvPr/>
        </p:nvSpPr>
        <p:spPr>
          <a:xfrm>
            <a:off x="731520" y="3611880"/>
            <a:ext cx="1764792" cy="68580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Ecosistema de paquetes para manipulación y visualización de datos</a:t>
            </a:r>
            <a:endParaRPr lang="es-AR" sz="950" noProof="0" dirty="0"/>
          </a:p>
        </p:txBody>
      </p:sp>
      <p:sp>
        <p:nvSpPr>
          <p:cNvPr id="16" name="Shape 14"/>
          <p:cNvSpPr/>
          <p:nvPr/>
        </p:nvSpPr>
        <p:spPr>
          <a:xfrm>
            <a:off x="2770632" y="3154680"/>
            <a:ext cx="1947672" cy="1280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7" name="Text 15"/>
          <p:cNvSpPr/>
          <p:nvPr/>
        </p:nvSpPr>
        <p:spPr>
          <a:xfrm>
            <a:off x="2862072" y="3246120"/>
            <a:ext cx="1764792" cy="320040"/>
          </a:xfrm>
          <a:prstGeom prst="rect">
            <a:avLst/>
          </a:prstGeom>
          <a:noFill/>
          <a:ln/>
        </p:spPr>
        <p:txBody>
          <a:bodyPr wrap="square" lIns="0" tIns="0" rIns="0" bIns="0" rtlCol="0" anchor="ctr"/>
          <a:lstStyle/>
          <a:p>
            <a:pPr marL="0" indent="0" algn="ctr">
              <a:buNone/>
            </a:pPr>
            <a:r>
              <a:rPr lang="es-AR" sz="1200" b="1" noProof="0" dirty="0">
                <a:solidFill>
                  <a:srgbClr val="1A6B8A"/>
                </a:solidFill>
                <a:latin typeface="Consolas" pitchFamily="34" charset="0"/>
                <a:ea typeface="Consolas" pitchFamily="34" charset="-122"/>
                <a:cs typeface="Consolas" pitchFamily="34" charset="-120"/>
              </a:rPr>
              <a:t>ggplot2</a:t>
            </a:r>
            <a:endParaRPr lang="es-AR" sz="1200" noProof="0" dirty="0"/>
          </a:p>
        </p:txBody>
      </p:sp>
      <p:sp>
        <p:nvSpPr>
          <p:cNvPr id="18" name="Text 16"/>
          <p:cNvSpPr/>
          <p:nvPr/>
        </p:nvSpPr>
        <p:spPr>
          <a:xfrm>
            <a:off x="2862072" y="3611880"/>
            <a:ext cx="1764792" cy="68580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Sistema de gráficos basado en la gramática de gráficos</a:t>
            </a:r>
            <a:endParaRPr lang="es-AR" sz="950" noProof="0" dirty="0"/>
          </a:p>
        </p:txBody>
      </p:sp>
      <p:sp>
        <p:nvSpPr>
          <p:cNvPr id="19" name="Shape 17"/>
          <p:cNvSpPr/>
          <p:nvPr/>
        </p:nvSpPr>
        <p:spPr>
          <a:xfrm>
            <a:off x="4901184" y="3154680"/>
            <a:ext cx="1947672" cy="1280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20" name="Text 18"/>
          <p:cNvSpPr/>
          <p:nvPr/>
        </p:nvSpPr>
        <p:spPr>
          <a:xfrm>
            <a:off x="4992624" y="3246120"/>
            <a:ext cx="1764792" cy="320040"/>
          </a:xfrm>
          <a:prstGeom prst="rect">
            <a:avLst/>
          </a:prstGeom>
          <a:noFill/>
          <a:ln/>
        </p:spPr>
        <p:txBody>
          <a:bodyPr wrap="square" lIns="0" tIns="0" rIns="0" bIns="0" rtlCol="0" anchor="ctr"/>
          <a:lstStyle/>
          <a:p>
            <a:pPr marL="0" indent="0" algn="ctr">
              <a:buNone/>
            </a:pPr>
            <a:r>
              <a:rPr lang="es-AR" sz="1200" b="1" noProof="0" dirty="0" err="1">
                <a:solidFill>
                  <a:srgbClr val="1A6B8A"/>
                </a:solidFill>
                <a:latin typeface="Consolas" pitchFamily="34" charset="0"/>
                <a:ea typeface="Consolas" pitchFamily="34" charset="-122"/>
                <a:cs typeface="Consolas" pitchFamily="34" charset="-120"/>
              </a:rPr>
              <a:t>rvest</a:t>
            </a:r>
            <a:endParaRPr lang="es-AR" sz="1200" noProof="0" dirty="0"/>
          </a:p>
        </p:txBody>
      </p:sp>
      <p:sp>
        <p:nvSpPr>
          <p:cNvPr id="21" name="Text 19"/>
          <p:cNvSpPr/>
          <p:nvPr/>
        </p:nvSpPr>
        <p:spPr>
          <a:xfrm>
            <a:off x="4992624" y="3611880"/>
            <a:ext cx="1764792" cy="68580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Web </a:t>
            </a:r>
            <a:r>
              <a:rPr lang="es-AR" sz="950" noProof="0" dirty="0" err="1">
                <a:solidFill>
                  <a:srgbClr val="5A7184"/>
                </a:solidFill>
                <a:latin typeface="Calibri" pitchFamily="34" charset="0"/>
                <a:ea typeface="Calibri" pitchFamily="34" charset="-122"/>
                <a:cs typeface="Calibri" pitchFamily="34" charset="-120"/>
              </a:rPr>
              <a:t>scraping</a:t>
            </a:r>
            <a:r>
              <a:rPr lang="es-AR" sz="950" noProof="0" dirty="0">
                <a:solidFill>
                  <a:srgbClr val="5A7184"/>
                </a:solidFill>
                <a:latin typeface="Calibri" pitchFamily="34" charset="0"/>
                <a:ea typeface="Calibri" pitchFamily="34" charset="-122"/>
                <a:cs typeface="Calibri" pitchFamily="34" charset="-120"/>
              </a:rPr>
              <a:t> de páginas HTML de forma sencilla</a:t>
            </a:r>
            <a:endParaRPr lang="es-AR" sz="950" noProof="0" dirty="0"/>
          </a:p>
        </p:txBody>
      </p:sp>
      <p:sp>
        <p:nvSpPr>
          <p:cNvPr id="22" name="Shape 20"/>
          <p:cNvSpPr/>
          <p:nvPr/>
        </p:nvSpPr>
        <p:spPr>
          <a:xfrm>
            <a:off x="7031736" y="3154680"/>
            <a:ext cx="1947672" cy="12801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23" name="Text 21"/>
          <p:cNvSpPr/>
          <p:nvPr/>
        </p:nvSpPr>
        <p:spPr>
          <a:xfrm>
            <a:off x="7123176" y="3246120"/>
            <a:ext cx="1764792" cy="320040"/>
          </a:xfrm>
          <a:prstGeom prst="rect">
            <a:avLst/>
          </a:prstGeom>
          <a:noFill/>
          <a:ln/>
        </p:spPr>
        <p:txBody>
          <a:bodyPr wrap="square" lIns="0" tIns="0" rIns="0" bIns="0" rtlCol="0" anchor="ctr"/>
          <a:lstStyle/>
          <a:p>
            <a:pPr marL="0" indent="0" algn="ctr">
              <a:buNone/>
            </a:pPr>
            <a:r>
              <a:rPr lang="es-AR" sz="1200" b="1" noProof="0" dirty="0" err="1">
                <a:solidFill>
                  <a:srgbClr val="1A6B8A"/>
                </a:solidFill>
                <a:latin typeface="Consolas" pitchFamily="34" charset="0"/>
                <a:ea typeface="Consolas" pitchFamily="34" charset="-122"/>
                <a:cs typeface="Consolas" pitchFamily="34" charset="-120"/>
              </a:rPr>
              <a:t>skimr</a:t>
            </a:r>
            <a:endParaRPr lang="es-AR" sz="1200" noProof="0" dirty="0"/>
          </a:p>
        </p:txBody>
      </p:sp>
      <p:sp>
        <p:nvSpPr>
          <p:cNvPr id="24" name="Text 22"/>
          <p:cNvSpPr/>
          <p:nvPr/>
        </p:nvSpPr>
        <p:spPr>
          <a:xfrm>
            <a:off x="7123176" y="3611880"/>
            <a:ext cx="1764792" cy="685800"/>
          </a:xfrm>
          <a:prstGeom prst="rect">
            <a:avLst/>
          </a:prstGeom>
          <a:noFill/>
          <a:ln/>
        </p:spPr>
        <p:txBody>
          <a:bodyPr wrap="square" rtlCol="0" anchor="t"/>
          <a:lstStyle/>
          <a:p>
            <a:pPr marL="0" indent="0" algn="ctr">
              <a:lnSpc>
                <a:spcPct val="125000"/>
              </a:lnSpc>
              <a:buNone/>
            </a:pPr>
            <a:r>
              <a:rPr lang="es-AR" sz="950" noProof="0" dirty="0">
                <a:solidFill>
                  <a:srgbClr val="5A7184"/>
                </a:solidFill>
                <a:latin typeface="Calibri" pitchFamily="34" charset="0"/>
                <a:ea typeface="Calibri" pitchFamily="34" charset="-122"/>
                <a:cs typeface="Calibri" pitchFamily="34" charset="-120"/>
              </a:rPr>
              <a:t>Resúmenes estadísticos rápidos para exploración inicial</a:t>
            </a:r>
            <a:endParaRPr lang="es-AR" sz="950" noProof="0" dirty="0"/>
          </a:p>
        </p:txBody>
      </p:sp>
      <p:sp>
        <p:nvSpPr>
          <p:cNvPr id="25" name="Shape 23"/>
          <p:cNvSpPr/>
          <p:nvPr/>
        </p:nvSpPr>
        <p:spPr>
          <a:xfrm>
            <a:off x="0" y="4709160"/>
            <a:ext cx="9144000" cy="434340"/>
          </a:xfrm>
          <a:prstGeom prst="rect">
            <a:avLst/>
          </a:prstGeom>
          <a:solidFill>
            <a:srgbClr val="0F2B46"/>
          </a:solidFill>
          <a:ln/>
        </p:spPr>
        <p:txBody>
          <a:bodyPr/>
          <a:lstStyle/>
          <a:p>
            <a:endParaRPr lang="es-AR" noProof="0" dirty="0"/>
          </a:p>
        </p:txBody>
      </p:sp>
      <p:sp>
        <p:nvSpPr>
          <p:cNvPr id="26" name="Text 24"/>
          <p:cNvSpPr/>
          <p:nvPr/>
        </p:nvSpPr>
        <p:spPr>
          <a:xfrm>
            <a:off x="457200" y="4709160"/>
            <a:ext cx="8229600" cy="434340"/>
          </a:xfrm>
          <a:prstGeom prst="rect">
            <a:avLst/>
          </a:prstGeom>
          <a:noFill/>
          <a:ln/>
        </p:spPr>
        <p:txBody>
          <a:bodyPr wrap="square" lIns="0" tIns="0" rIns="0" bIns="0" rtlCol="0" anchor="ctr"/>
          <a:lstStyle/>
          <a:p>
            <a:pPr algn="ct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 </a:t>
            </a:r>
            <a:r>
              <a:rPr lang="es-AR" sz="850" dirty="0">
                <a:solidFill>
                  <a:srgbClr val="7FA8C4"/>
                </a:solidFill>
                <a:latin typeface="Calibri" pitchFamily="34" charset="0"/>
                <a:ea typeface="Calibri" pitchFamily="34" charset="-122"/>
                <a:cs typeface="Calibri" pitchFamily="34" charset="-120"/>
              </a:rPr>
              <a:t>y Maida Beltrán</a:t>
            </a:r>
            <a:endParaRPr lang="es-AR" sz="850" noProof="0" dirty="0"/>
          </a:p>
        </p:txBody>
      </p:sp>
      <p:sp>
        <p:nvSpPr>
          <p:cNvPr id="27" name="Text 25"/>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6 / 11</a:t>
            </a:r>
            <a:endParaRPr lang="es-AR" sz="80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95B89-E3A8-F882-691A-02786138A55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A79CDCC-98E5-0E13-FB7E-2B3AA78FAA0B}"/>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BBD9FD3A-FE95-F909-2486-B198F0E56607}"/>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Software y Herramientas</a:t>
            </a:r>
            <a:endParaRPr lang="es-AR" sz="3000" noProof="0" dirty="0"/>
          </a:p>
        </p:txBody>
      </p:sp>
      <p:sp>
        <p:nvSpPr>
          <p:cNvPr id="4" name="Shape 2">
            <a:extLst>
              <a:ext uri="{FF2B5EF4-FFF2-40B4-BE49-F238E27FC236}">
                <a16:creationId xmlns:a16="http://schemas.microsoft.com/office/drawing/2014/main" id="{A6E61049-D3B5-FE40-A90D-5A15A140D5A5}"/>
              </a:ext>
            </a:extLst>
          </p:cNvPr>
          <p:cNvSpPr/>
          <p:nvPr/>
        </p:nvSpPr>
        <p:spPr>
          <a:xfrm>
            <a:off x="640080" y="1051560"/>
            <a:ext cx="502920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a:extLst>
              <a:ext uri="{FF2B5EF4-FFF2-40B4-BE49-F238E27FC236}">
                <a16:creationId xmlns:a16="http://schemas.microsoft.com/office/drawing/2014/main" id="{22FE901D-5FD9-196D-59DE-BF978CFB383F}"/>
              </a:ext>
            </a:extLst>
          </p:cNvPr>
          <p:cNvSpPr/>
          <p:nvPr/>
        </p:nvSpPr>
        <p:spPr>
          <a:xfrm>
            <a:off x="640080" y="1051560"/>
            <a:ext cx="5029200" cy="54864"/>
          </a:xfrm>
          <a:prstGeom prst="rect">
            <a:avLst/>
          </a:prstGeom>
          <a:solidFill>
            <a:srgbClr val="1A6B8A"/>
          </a:solidFill>
          <a:ln/>
        </p:spPr>
        <p:txBody>
          <a:bodyPr/>
          <a:lstStyle/>
          <a:p>
            <a:endParaRPr lang="es-AR" noProof="0" dirty="0"/>
          </a:p>
        </p:txBody>
      </p:sp>
      <p:sp>
        <p:nvSpPr>
          <p:cNvPr id="6" name="Text 4">
            <a:extLst>
              <a:ext uri="{FF2B5EF4-FFF2-40B4-BE49-F238E27FC236}">
                <a16:creationId xmlns:a16="http://schemas.microsoft.com/office/drawing/2014/main" id="{143B7E08-E46D-2638-EAE2-24A8DFFCDE15}"/>
              </a:ext>
            </a:extLst>
          </p:cNvPr>
          <p:cNvSpPr/>
          <p:nvPr/>
        </p:nvSpPr>
        <p:spPr>
          <a:xfrm>
            <a:off x="914400" y="1280160"/>
            <a:ext cx="1097280" cy="822960"/>
          </a:xfrm>
          <a:prstGeom prst="rect">
            <a:avLst/>
          </a:prstGeom>
          <a:noFill/>
          <a:ln/>
        </p:spPr>
        <p:txBody>
          <a:bodyPr wrap="square" lIns="0" tIns="0" rIns="0" bIns="0" rtlCol="0" anchor="ctr"/>
          <a:lstStyle/>
          <a:p>
            <a:pPr marL="0" indent="0" algn="ctr">
              <a:buNone/>
            </a:pPr>
            <a:r>
              <a:rPr lang="es-AR" sz="4200" b="1" noProof="0" dirty="0">
                <a:solidFill>
                  <a:srgbClr val="1A6B8A"/>
                </a:solidFill>
                <a:latin typeface="Consolas" pitchFamily="34" charset="0"/>
                <a:ea typeface="Consolas" pitchFamily="34" charset="-122"/>
                <a:cs typeface="Consolas" pitchFamily="34" charset="-120"/>
              </a:rPr>
              <a:t>R</a:t>
            </a:r>
            <a:endParaRPr lang="es-AR" sz="4200" noProof="0" dirty="0"/>
          </a:p>
        </p:txBody>
      </p:sp>
      <p:sp>
        <p:nvSpPr>
          <p:cNvPr id="7" name="Text 5">
            <a:extLst>
              <a:ext uri="{FF2B5EF4-FFF2-40B4-BE49-F238E27FC236}">
                <a16:creationId xmlns:a16="http://schemas.microsoft.com/office/drawing/2014/main" id="{2AD2B9A1-E2EA-5603-5690-39E1C3C6EE65}"/>
              </a:ext>
            </a:extLst>
          </p:cNvPr>
          <p:cNvSpPr/>
          <p:nvPr/>
        </p:nvSpPr>
        <p:spPr>
          <a:xfrm>
            <a:off x="2011680" y="1280160"/>
            <a:ext cx="3474720" cy="320040"/>
          </a:xfrm>
          <a:prstGeom prst="rect">
            <a:avLst/>
          </a:prstGeom>
          <a:noFill/>
          <a:ln/>
        </p:spPr>
        <p:txBody>
          <a:bodyPr wrap="square" lIns="0" tIns="0" rIns="0" bIns="0" rtlCol="0" anchor="ctr"/>
          <a:lstStyle/>
          <a:p>
            <a:pPr marL="0" indent="0" algn="l">
              <a:buNone/>
            </a:pPr>
            <a:r>
              <a:rPr lang="es-AR" sz="1500" b="1" noProof="0" dirty="0">
                <a:solidFill>
                  <a:srgbClr val="0F2B46"/>
                </a:solidFill>
                <a:latin typeface="Georgia" pitchFamily="34" charset="0"/>
                <a:ea typeface="Georgia" pitchFamily="34" charset="-122"/>
                <a:cs typeface="Georgia" pitchFamily="34" charset="-120"/>
              </a:rPr>
              <a:t>¿Si es la PC del laburo y no puedo instalar nada?</a:t>
            </a:r>
            <a:endParaRPr lang="es-AR" sz="1500" noProof="0" dirty="0"/>
          </a:p>
        </p:txBody>
      </p:sp>
      <p:sp>
        <p:nvSpPr>
          <p:cNvPr id="8" name="Text 6">
            <a:extLst>
              <a:ext uri="{FF2B5EF4-FFF2-40B4-BE49-F238E27FC236}">
                <a16:creationId xmlns:a16="http://schemas.microsoft.com/office/drawing/2014/main" id="{D612A43A-8555-3350-B431-F505247FDE4B}"/>
              </a:ext>
            </a:extLst>
          </p:cNvPr>
          <p:cNvSpPr/>
          <p:nvPr/>
        </p:nvSpPr>
        <p:spPr>
          <a:xfrm>
            <a:off x="2011680" y="1645920"/>
            <a:ext cx="3474720" cy="1005840"/>
          </a:xfrm>
          <a:prstGeom prst="rect">
            <a:avLst/>
          </a:prstGeom>
          <a:noFill/>
          <a:ln/>
        </p:spPr>
        <p:txBody>
          <a:bodyPr wrap="square" rtlCol="0" anchor="t"/>
          <a:lstStyle/>
          <a:p>
            <a:pPr marL="0" indent="0" algn="l">
              <a:lnSpc>
                <a:spcPct val="130000"/>
              </a:lnSpc>
              <a:buNone/>
            </a:pPr>
            <a:r>
              <a:rPr lang="es-AR" sz="1100" noProof="0" dirty="0">
                <a:solidFill>
                  <a:srgbClr val="5A7184"/>
                </a:solidFill>
                <a:latin typeface="Calibri" pitchFamily="34" charset="0"/>
                <a:ea typeface="Calibri" pitchFamily="34" charset="-122"/>
                <a:cs typeface="Calibri" pitchFamily="34" charset="-120"/>
              </a:rPr>
              <a:t>Google tiene gratis el sistema de Google </a:t>
            </a:r>
            <a:r>
              <a:rPr lang="es-AR" sz="1100" noProof="0" dirty="0" err="1">
                <a:solidFill>
                  <a:srgbClr val="5A7184"/>
                </a:solidFill>
                <a:latin typeface="Calibri" pitchFamily="34" charset="0"/>
                <a:ea typeface="Calibri" pitchFamily="34" charset="-122"/>
                <a:cs typeface="Calibri" pitchFamily="34" charset="-120"/>
              </a:rPr>
              <a:t>Colab</a:t>
            </a:r>
            <a:r>
              <a:rPr lang="es-AR" sz="1100" noProof="0" dirty="0">
                <a:solidFill>
                  <a:srgbClr val="5A7184"/>
                </a:solidFill>
                <a:latin typeface="Calibri" pitchFamily="34" charset="0"/>
                <a:ea typeface="Calibri" pitchFamily="34" charset="-122"/>
                <a:cs typeface="Calibri" pitchFamily="34" charset="-120"/>
              </a:rPr>
              <a:t>, que se puede utilizar con la cuenta de Drive. Es una herramienta online y para los usos del curso, no va a afectar mucho usar uno o el otro. Pero, por lo general es mejor usar R + </a:t>
            </a:r>
            <a:r>
              <a:rPr lang="es-AR" sz="1100" noProof="0" dirty="0" err="1">
                <a:solidFill>
                  <a:srgbClr val="5A7184"/>
                </a:solidFill>
                <a:latin typeface="Calibri" pitchFamily="34" charset="0"/>
                <a:ea typeface="Calibri" pitchFamily="34" charset="-122"/>
                <a:cs typeface="Calibri" pitchFamily="34" charset="-120"/>
              </a:rPr>
              <a:t>RStudio</a:t>
            </a:r>
            <a:endParaRPr lang="es-AR" sz="1100" noProof="0" dirty="0">
              <a:solidFill>
                <a:srgbClr val="5A7184"/>
              </a:solidFill>
              <a:latin typeface="Calibri" pitchFamily="34" charset="0"/>
              <a:ea typeface="Calibri" pitchFamily="34" charset="-122"/>
              <a:cs typeface="Calibri" pitchFamily="34" charset="-120"/>
            </a:endParaRPr>
          </a:p>
        </p:txBody>
      </p:sp>
      <p:sp>
        <p:nvSpPr>
          <p:cNvPr id="9" name="Shape 7">
            <a:extLst>
              <a:ext uri="{FF2B5EF4-FFF2-40B4-BE49-F238E27FC236}">
                <a16:creationId xmlns:a16="http://schemas.microsoft.com/office/drawing/2014/main" id="{3D22B40E-E21A-B3F2-EDE6-739C5707FFB4}"/>
              </a:ext>
            </a:extLst>
          </p:cNvPr>
          <p:cNvSpPr/>
          <p:nvPr/>
        </p:nvSpPr>
        <p:spPr>
          <a:xfrm>
            <a:off x="5943600" y="1051560"/>
            <a:ext cx="2560320" cy="1828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0" name="Shape 8">
            <a:extLst>
              <a:ext uri="{FF2B5EF4-FFF2-40B4-BE49-F238E27FC236}">
                <a16:creationId xmlns:a16="http://schemas.microsoft.com/office/drawing/2014/main" id="{B07E02A8-6E7D-95DC-94C8-F1966EC71A00}"/>
              </a:ext>
            </a:extLst>
          </p:cNvPr>
          <p:cNvSpPr/>
          <p:nvPr/>
        </p:nvSpPr>
        <p:spPr>
          <a:xfrm>
            <a:off x="5943600" y="1051560"/>
            <a:ext cx="2560320" cy="54864"/>
          </a:xfrm>
          <a:prstGeom prst="rect">
            <a:avLst/>
          </a:prstGeom>
          <a:solidFill>
            <a:srgbClr val="2E9EBF"/>
          </a:solidFill>
          <a:ln/>
        </p:spPr>
        <p:txBody>
          <a:bodyPr/>
          <a:lstStyle/>
          <a:p>
            <a:endParaRPr lang="es-AR" noProof="0" dirty="0"/>
          </a:p>
        </p:txBody>
      </p:sp>
      <p:sp>
        <p:nvSpPr>
          <p:cNvPr id="11" name="Text 9">
            <a:extLst>
              <a:ext uri="{FF2B5EF4-FFF2-40B4-BE49-F238E27FC236}">
                <a16:creationId xmlns:a16="http://schemas.microsoft.com/office/drawing/2014/main" id="{012BDD41-8E2A-F304-B7AC-A95284843098}"/>
              </a:ext>
            </a:extLst>
          </p:cNvPr>
          <p:cNvSpPr/>
          <p:nvPr/>
        </p:nvSpPr>
        <p:spPr>
          <a:xfrm>
            <a:off x="6126480" y="1280160"/>
            <a:ext cx="2194560" cy="320040"/>
          </a:xfrm>
          <a:prstGeom prst="rect">
            <a:avLst/>
          </a:prstGeom>
          <a:noFill/>
          <a:ln/>
        </p:spPr>
        <p:txBody>
          <a:bodyPr wrap="square" lIns="0" tIns="0" rIns="0" bIns="0" rtlCol="0" anchor="ctr"/>
          <a:lstStyle/>
          <a:p>
            <a:pPr marL="0" indent="0" algn="ctr">
              <a:buNone/>
            </a:pPr>
            <a:r>
              <a:rPr lang="es-AR" sz="1500" b="1" dirty="0">
                <a:solidFill>
                  <a:srgbClr val="0F2B46"/>
                </a:solidFill>
                <a:latin typeface="Georgia" pitchFamily="34" charset="0"/>
              </a:rPr>
              <a:t>¿y Python?</a:t>
            </a:r>
            <a:endParaRPr lang="es-AR" sz="1500" noProof="0" dirty="0"/>
          </a:p>
        </p:txBody>
      </p:sp>
      <p:sp>
        <p:nvSpPr>
          <p:cNvPr id="12" name="Text 10">
            <a:extLst>
              <a:ext uri="{FF2B5EF4-FFF2-40B4-BE49-F238E27FC236}">
                <a16:creationId xmlns:a16="http://schemas.microsoft.com/office/drawing/2014/main" id="{E6DE9332-F056-1667-81EA-40CF3F965735}"/>
              </a:ext>
            </a:extLst>
          </p:cNvPr>
          <p:cNvSpPr/>
          <p:nvPr/>
        </p:nvSpPr>
        <p:spPr>
          <a:xfrm>
            <a:off x="5943600" y="1691640"/>
            <a:ext cx="2560320" cy="1005840"/>
          </a:xfrm>
          <a:prstGeom prst="rect">
            <a:avLst/>
          </a:prstGeom>
          <a:noFill/>
          <a:ln/>
        </p:spPr>
        <p:txBody>
          <a:bodyPr wrap="square" rtlCol="0" anchor="t"/>
          <a:lstStyle/>
          <a:p>
            <a:pPr marL="0" indent="0" algn="ctr">
              <a:lnSpc>
                <a:spcPct val="130000"/>
              </a:lnSpc>
              <a:buNone/>
            </a:pPr>
            <a:r>
              <a:rPr lang="es-AR" sz="1100" noProof="0" dirty="0">
                <a:solidFill>
                  <a:srgbClr val="5A7184"/>
                </a:solidFill>
                <a:latin typeface="Calibri" pitchFamily="34" charset="0"/>
                <a:ea typeface="Calibri" pitchFamily="34" charset="-122"/>
                <a:cs typeface="Calibri" pitchFamily="34" charset="-120"/>
              </a:rPr>
              <a:t>No hay problema si lo quieren usar y aprender por su cuenta. En el curso no lo vamos a ver, pero los </a:t>
            </a:r>
            <a:r>
              <a:rPr lang="es-AR" sz="1100" noProof="0" dirty="0" err="1">
                <a:solidFill>
                  <a:srgbClr val="5A7184"/>
                </a:solidFill>
                <a:latin typeface="Calibri" pitchFamily="34" charset="0"/>
                <a:ea typeface="Calibri" pitchFamily="34" charset="-122"/>
                <a:cs typeface="Calibri" pitchFamily="34" charset="-120"/>
              </a:rPr>
              <a:t>TPs</a:t>
            </a:r>
            <a:r>
              <a:rPr lang="es-AR" sz="1100" noProof="0" dirty="0">
                <a:solidFill>
                  <a:srgbClr val="5A7184"/>
                </a:solidFill>
                <a:latin typeface="Calibri" pitchFamily="34" charset="0"/>
                <a:ea typeface="Calibri" pitchFamily="34" charset="-122"/>
                <a:cs typeface="Calibri" pitchFamily="34" charset="-120"/>
              </a:rPr>
              <a:t> lo pueden hacer en Python. </a:t>
            </a:r>
          </a:p>
          <a:p>
            <a:pPr marL="0" indent="0" algn="ctr">
              <a:lnSpc>
                <a:spcPct val="130000"/>
              </a:lnSpc>
              <a:buNone/>
            </a:pPr>
            <a:r>
              <a:rPr lang="es-AR" sz="1100" dirty="0">
                <a:solidFill>
                  <a:srgbClr val="5A7184"/>
                </a:solidFill>
                <a:latin typeface="Calibri" pitchFamily="34" charset="0"/>
                <a:ea typeface="Calibri" pitchFamily="34" charset="-122"/>
                <a:cs typeface="Calibri" pitchFamily="34" charset="-120"/>
              </a:rPr>
              <a:t>No pueden hacerlo en STATA (otra lógica)</a:t>
            </a:r>
            <a:endParaRPr lang="es-AR" sz="1100" noProof="0" dirty="0"/>
          </a:p>
        </p:txBody>
      </p:sp>
      <p:sp>
        <p:nvSpPr>
          <p:cNvPr id="25" name="Shape 23">
            <a:extLst>
              <a:ext uri="{FF2B5EF4-FFF2-40B4-BE49-F238E27FC236}">
                <a16:creationId xmlns:a16="http://schemas.microsoft.com/office/drawing/2014/main" id="{FBA7AC57-8517-CCE6-95B5-BD461C1C5BA3}"/>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6" name="Text 24">
            <a:extLst>
              <a:ext uri="{FF2B5EF4-FFF2-40B4-BE49-F238E27FC236}">
                <a16:creationId xmlns:a16="http://schemas.microsoft.com/office/drawing/2014/main" id="{4740BD2E-078D-3D51-B416-12B6FD6FABDB}"/>
              </a:ext>
            </a:extLst>
          </p:cNvPr>
          <p:cNvSpPr/>
          <p:nvPr/>
        </p:nvSpPr>
        <p:spPr>
          <a:xfrm>
            <a:off x="457200" y="4709160"/>
            <a:ext cx="8229600" cy="434340"/>
          </a:xfrm>
          <a:prstGeom prst="rect">
            <a:avLst/>
          </a:prstGeom>
          <a:noFill/>
          <a:ln/>
        </p:spPr>
        <p:txBody>
          <a:bodyPr wrap="square" lIns="0" tIns="0" rIns="0" bIns="0" rtlCol="0" anchor="ctr"/>
          <a:lstStyle/>
          <a:p>
            <a:pPr algn="ct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 </a:t>
            </a:r>
            <a:r>
              <a:rPr lang="es-AR" sz="850" dirty="0">
                <a:solidFill>
                  <a:srgbClr val="7FA8C4"/>
                </a:solidFill>
                <a:latin typeface="Calibri" pitchFamily="34" charset="0"/>
                <a:ea typeface="Calibri" pitchFamily="34" charset="-122"/>
                <a:cs typeface="Calibri" pitchFamily="34" charset="-120"/>
              </a:rPr>
              <a:t>y Maida Beltrán</a:t>
            </a:r>
            <a:endParaRPr lang="es-AR" sz="850" noProof="0" dirty="0"/>
          </a:p>
        </p:txBody>
      </p:sp>
      <p:sp>
        <p:nvSpPr>
          <p:cNvPr id="27" name="Text 25">
            <a:extLst>
              <a:ext uri="{FF2B5EF4-FFF2-40B4-BE49-F238E27FC236}">
                <a16:creationId xmlns:a16="http://schemas.microsoft.com/office/drawing/2014/main" id="{E937E543-BFC2-89D6-EFF2-03BCE744EBFC}"/>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6 / 11</a:t>
            </a:r>
            <a:endParaRPr lang="es-AR" sz="800" noProof="0" dirty="0"/>
          </a:p>
        </p:txBody>
      </p:sp>
    </p:spTree>
    <p:extLst>
      <p:ext uri="{BB962C8B-B14F-4D97-AF65-F5344CB8AC3E}">
        <p14:creationId xmlns:p14="http://schemas.microsoft.com/office/powerpoint/2010/main" val="3904195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4864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Bibliografía</a:t>
            </a:r>
            <a:endParaRPr lang="es-AR" sz="3000" noProof="0" dirty="0"/>
          </a:p>
        </p:txBody>
      </p:sp>
      <p:sp>
        <p:nvSpPr>
          <p:cNvPr id="4" name="Shape 2"/>
          <p:cNvSpPr/>
          <p:nvPr/>
        </p:nvSpPr>
        <p:spPr>
          <a:xfrm>
            <a:off x="640080" y="960120"/>
            <a:ext cx="7863840" cy="603504"/>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p:cNvSpPr/>
          <p:nvPr/>
        </p:nvSpPr>
        <p:spPr>
          <a:xfrm>
            <a:off x="640080" y="960120"/>
            <a:ext cx="54864" cy="603504"/>
          </a:xfrm>
          <a:prstGeom prst="rect">
            <a:avLst/>
          </a:prstGeom>
          <a:solidFill>
            <a:srgbClr val="1A6B8A"/>
          </a:solidFill>
          <a:ln/>
        </p:spPr>
        <p:txBody>
          <a:bodyPr/>
          <a:lstStyle/>
          <a:p>
            <a:endParaRPr lang="es-AR" noProof="0" dirty="0"/>
          </a:p>
        </p:txBody>
      </p:sp>
      <p:sp>
        <p:nvSpPr>
          <p:cNvPr id="6" name="Shape 4"/>
          <p:cNvSpPr/>
          <p:nvPr/>
        </p:nvSpPr>
        <p:spPr>
          <a:xfrm>
            <a:off x="868680" y="1033272"/>
            <a:ext cx="1051560" cy="228600"/>
          </a:xfrm>
          <a:prstGeom prst="rect">
            <a:avLst/>
          </a:prstGeom>
          <a:solidFill>
            <a:srgbClr val="1A6B8A">
              <a:alpha val="15000"/>
            </a:srgbClr>
          </a:solidFill>
          <a:ln/>
        </p:spPr>
        <p:txBody>
          <a:bodyPr/>
          <a:lstStyle/>
          <a:p>
            <a:endParaRPr lang="es-AR" noProof="0" dirty="0"/>
          </a:p>
        </p:txBody>
      </p:sp>
      <p:sp>
        <p:nvSpPr>
          <p:cNvPr id="7" name="Text 5"/>
          <p:cNvSpPr/>
          <p:nvPr/>
        </p:nvSpPr>
        <p:spPr>
          <a:xfrm>
            <a:off x="868680" y="1033272"/>
            <a:ext cx="1051560" cy="228600"/>
          </a:xfrm>
          <a:prstGeom prst="rect">
            <a:avLst/>
          </a:prstGeom>
          <a:noFill/>
          <a:ln/>
        </p:spPr>
        <p:txBody>
          <a:bodyPr wrap="square" lIns="0" tIns="0" rIns="0" bIns="0" rtlCol="0" anchor="ctr"/>
          <a:lstStyle/>
          <a:p>
            <a:pPr marL="0" indent="0" algn="ctr">
              <a:buNone/>
            </a:pPr>
            <a:r>
              <a:rPr lang="es-AR" sz="800" b="1" noProof="0" dirty="0">
                <a:solidFill>
                  <a:srgbClr val="1A6B8A"/>
                </a:solidFill>
                <a:latin typeface="Calibri" pitchFamily="34" charset="0"/>
                <a:ea typeface="Calibri" pitchFamily="34" charset="-122"/>
                <a:cs typeface="Calibri" pitchFamily="34" charset="-120"/>
              </a:rPr>
              <a:t>Programación</a:t>
            </a:r>
            <a:endParaRPr lang="es-AR" sz="800" noProof="0" dirty="0"/>
          </a:p>
        </p:txBody>
      </p:sp>
      <p:sp>
        <p:nvSpPr>
          <p:cNvPr id="8" name="Text 6"/>
          <p:cNvSpPr/>
          <p:nvPr/>
        </p:nvSpPr>
        <p:spPr>
          <a:xfrm>
            <a:off x="2057400" y="1005840"/>
            <a:ext cx="4846320" cy="274320"/>
          </a:xfrm>
          <a:prstGeom prst="rect">
            <a:avLst/>
          </a:prstGeom>
          <a:noFill/>
          <a:ln/>
        </p:spPr>
        <p:txBody>
          <a:bodyPr wrap="square" lIns="0" tIns="0" rIns="0" bIns="0" rtlCol="0" anchor="ctr"/>
          <a:lstStyle/>
          <a:p>
            <a:pPr marL="0" indent="0" algn="l">
              <a:buNone/>
            </a:pPr>
            <a:r>
              <a:rPr lang="es-AR" sz="1250" b="1" noProof="0" dirty="0">
                <a:solidFill>
                  <a:srgbClr val="0F2B46"/>
                </a:solidFill>
                <a:latin typeface="Georgia" pitchFamily="34" charset="0"/>
                <a:ea typeface="Georgia" pitchFamily="34" charset="-122"/>
                <a:cs typeface="Georgia" pitchFamily="34" charset="-120"/>
              </a:rPr>
              <a:t>R </a:t>
            </a:r>
            <a:r>
              <a:rPr lang="es-AR" sz="1250" b="1" noProof="0" dirty="0" err="1">
                <a:solidFill>
                  <a:srgbClr val="0F2B46"/>
                </a:solidFill>
                <a:latin typeface="Georgia" pitchFamily="34" charset="0"/>
                <a:ea typeface="Georgia" pitchFamily="34" charset="-122"/>
                <a:cs typeface="Georgia" pitchFamily="34" charset="-120"/>
              </a:rPr>
              <a:t>for</a:t>
            </a:r>
            <a:r>
              <a:rPr lang="es-AR" sz="1250" b="1" noProof="0" dirty="0">
                <a:solidFill>
                  <a:srgbClr val="0F2B46"/>
                </a:solidFill>
                <a:latin typeface="Georgia" pitchFamily="34" charset="0"/>
                <a:ea typeface="Georgia" pitchFamily="34" charset="-122"/>
                <a:cs typeface="Georgia" pitchFamily="34" charset="-120"/>
              </a:rPr>
              <a:t> Data </a:t>
            </a:r>
            <a:r>
              <a:rPr lang="es-AR" sz="1250" b="1" noProof="0" dirty="0" err="1">
                <a:solidFill>
                  <a:srgbClr val="0F2B46"/>
                </a:solidFill>
                <a:latin typeface="Georgia" pitchFamily="34" charset="0"/>
                <a:ea typeface="Georgia" pitchFamily="34" charset="-122"/>
                <a:cs typeface="Georgia" pitchFamily="34" charset="-120"/>
              </a:rPr>
              <a:t>Science</a:t>
            </a:r>
            <a:r>
              <a:rPr lang="es-AR" sz="1250" b="1" noProof="0" dirty="0">
                <a:solidFill>
                  <a:srgbClr val="0F2B46"/>
                </a:solidFill>
                <a:latin typeface="Georgia" pitchFamily="34" charset="0"/>
                <a:ea typeface="Georgia" pitchFamily="34" charset="-122"/>
                <a:cs typeface="Georgia" pitchFamily="34" charset="-120"/>
              </a:rPr>
              <a:t> (2e)</a:t>
            </a:r>
            <a:endParaRPr lang="es-AR" sz="1250" noProof="0" dirty="0"/>
          </a:p>
        </p:txBody>
      </p:sp>
      <p:sp>
        <p:nvSpPr>
          <p:cNvPr id="9" name="Text 7"/>
          <p:cNvSpPr/>
          <p:nvPr/>
        </p:nvSpPr>
        <p:spPr>
          <a:xfrm>
            <a:off x="2057400" y="1280160"/>
            <a:ext cx="3657600" cy="228600"/>
          </a:xfrm>
          <a:prstGeom prst="rect">
            <a:avLst/>
          </a:prstGeom>
          <a:noFill/>
          <a:ln/>
        </p:spPr>
        <p:txBody>
          <a:bodyPr wrap="square" lIns="0" tIns="0" rIns="0" bIns="0" rtlCol="0" anchor="ctr"/>
          <a:lstStyle/>
          <a:p>
            <a:pPr marL="0" indent="0" algn="l">
              <a:buNone/>
            </a:pPr>
            <a:r>
              <a:rPr lang="es-AR" sz="1000" noProof="0" dirty="0" err="1">
                <a:solidFill>
                  <a:srgbClr val="5A7184"/>
                </a:solidFill>
                <a:latin typeface="Calibri" pitchFamily="34" charset="0"/>
                <a:ea typeface="Calibri" pitchFamily="34" charset="-122"/>
                <a:cs typeface="Calibri" pitchFamily="34" charset="-120"/>
              </a:rPr>
              <a:t>Wickham</a:t>
            </a:r>
            <a:r>
              <a:rPr lang="es-AR" sz="1000" noProof="0" dirty="0">
                <a:solidFill>
                  <a:srgbClr val="5A7184"/>
                </a:solidFill>
                <a:latin typeface="Calibri" pitchFamily="34" charset="0"/>
                <a:ea typeface="Calibri" pitchFamily="34" charset="-122"/>
                <a:cs typeface="Calibri" pitchFamily="34" charset="-120"/>
              </a:rPr>
              <a:t>, </a:t>
            </a:r>
            <a:r>
              <a:rPr lang="es-AR" sz="1000" noProof="0" dirty="0" err="1">
                <a:solidFill>
                  <a:srgbClr val="5A7184"/>
                </a:solidFill>
                <a:latin typeface="Calibri" pitchFamily="34" charset="0"/>
                <a:ea typeface="Calibri" pitchFamily="34" charset="-122"/>
                <a:cs typeface="Calibri" pitchFamily="34" charset="-120"/>
              </a:rPr>
              <a:t>Çetinkaya</a:t>
            </a:r>
            <a:r>
              <a:rPr lang="es-AR" sz="1000" noProof="0" dirty="0">
                <a:solidFill>
                  <a:srgbClr val="5A7184"/>
                </a:solidFill>
                <a:latin typeface="Calibri" pitchFamily="34" charset="0"/>
                <a:ea typeface="Calibri" pitchFamily="34" charset="-122"/>
                <a:cs typeface="Calibri" pitchFamily="34" charset="-120"/>
              </a:rPr>
              <a:t>-Rundel &amp; </a:t>
            </a:r>
            <a:r>
              <a:rPr lang="es-AR" sz="1000" noProof="0" dirty="0" err="1">
                <a:solidFill>
                  <a:srgbClr val="5A7184"/>
                </a:solidFill>
                <a:latin typeface="Calibri" pitchFamily="34" charset="0"/>
                <a:ea typeface="Calibri" pitchFamily="34" charset="-122"/>
                <a:cs typeface="Calibri" pitchFamily="34" charset="-120"/>
              </a:rPr>
              <a:t>Grolemund</a:t>
            </a:r>
            <a:endParaRPr lang="es-AR" sz="1000" noProof="0" dirty="0"/>
          </a:p>
        </p:txBody>
      </p:sp>
      <p:sp>
        <p:nvSpPr>
          <p:cNvPr id="10" name="Text 8"/>
          <p:cNvSpPr/>
          <p:nvPr/>
        </p:nvSpPr>
        <p:spPr>
          <a:xfrm>
            <a:off x="6400800" y="1097280"/>
            <a:ext cx="1920240" cy="320040"/>
          </a:xfrm>
          <a:prstGeom prst="rect">
            <a:avLst/>
          </a:prstGeom>
          <a:noFill/>
          <a:ln/>
        </p:spPr>
        <p:txBody>
          <a:bodyPr wrap="square" lIns="0" tIns="0" rIns="0" bIns="0" rtlCol="0" anchor="ctr"/>
          <a:lstStyle/>
          <a:p>
            <a:pPr marL="0" indent="0" algn="r">
              <a:buNone/>
            </a:pPr>
            <a:r>
              <a:rPr lang="es-AR" sz="950" i="1" noProof="0" dirty="0">
                <a:solidFill>
                  <a:srgbClr val="27826B"/>
                </a:solidFill>
                <a:latin typeface="Calibri" pitchFamily="34" charset="0"/>
                <a:ea typeface="Calibri" pitchFamily="34" charset="-122"/>
                <a:cs typeface="Calibri" pitchFamily="34" charset="-120"/>
              </a:rPr>
              <a:t>Gratuito online — r4ds.hadley.nz</a:t>
            </a:r>
            <a:endParaRPr lang="es-AR" sz="950" noProof="0" dirty="0"/>
          </a:p>
        </p:txBody>
      </p:sp>
      <p:sp>
        <p:nvSpPr>
          <p:cNvPr id="11" name="Shape 9"/>
          <p:cNvSpPr/>
          <p:nvPr/>
        </p:nvSpPr>
        <p:spPr>
          <a:xfrm>
            <a:off x="640080" y="1673352"/>
            <a:ext cx="7863840" cy="603504"/>
          </a:xfrm>
          <a:prstGeom prst="rect">
            <a:avLst/>
          </a:prstGeom>
          <a:solidFill>
            <a:srgbClr val="E8EEF2"/>
          </a:solidFill>
          <a:ln/>
        </p:spPr>
        <p:txBody>
          <a:bodyPr/>
          <a:lstStyle/>
          <a:p>
            <a:endParaRPr lang="es-AR" noProof="0" dirty="0"/>
          </a:p>
        </p:txBody>
      </p:sp>
      <p:sp>
        <p:nvSpPr>
          <p:cNvPr id="12" name="Shape 10"/>
          <p:cNvSpPr/>
          <p:nvPr/>
        </p:nvSpPr>
        <p:spPr>
          <a:xfrm>
            <a:off x="640080" y="1673352"/>
            <a:ext cx="54864" cy="603504"/>
          </a:xfrm>
          <a:prstGeom prst="rect">
            <a:avLst/>
          </a:prstGeom>
          <a:solidFill>
            <a:srgbClr val="2E9EBF"/>
          </a:solidFill>
          <a:ln/>
        </p:spPr>
        <p:txBody>
          <a:bodyPr/>
          <a:lstStyle/>
          <a:p>
            <a:endParaRPr lang="es-AR" noProof="0" dirty="0"/>
          </a:p>
        </p:txBody>
      </p:sp>
      <p:sp>
        <p:nvSpPr>
          <p:cNvPr id="13" name="Shape 11"/>
          <p:cNvSpPr/>
          <p:nvPr/>
        </p:nvSpPr>
        <p:spPr>
          <a:xfrm>
            <a:off x="868680" y="1746504"/>
            <a:ext cx="1051560" cy="228600"/>
          </a:xfrm>
          <a:prstGeom prst="rect">
            <a:avLst/>
          </a:prstGeom>
          <a:solidFill>
            <a:srgbClr val="2E9EBF">
              <a:alpha val="15000"/>
            </a:srgbClr>
          </a:solidFill>
          <a:ln/>
        </p:spPr>
        <p:txBody>
          <a:bodyPr/>
          <a:lstStyle/>
          <a:p>
            <a:endParaRPr lang="es-AR" noProof="0" dirty="0"/>
          </a:p>
        </p:txBody>
      </p:sp>
      <p:sp>
        <p:nvSpPr>
          <p:cNvPr id="14" name="Text 12"/>
          <p:cNvSpPr/>
          <p:nvPr/>
        </p:nvSpPr>
        <p:spPr>
          <a:xfrm>
            <a:off x="868680" y="1746504"/>
            <a:ext cx="1051560" cy="228600"/>
          </a:xfrm>
          <a:prstGeom prst="rect">
            <a:avLst/>
          </a:prstGeom>
          <a:noFill/>
          <a:ln/>
        </p:spPr>
        <p:txBody>
          <a:bodyPr wrap="square" lIns="0" tIns="0" rIns="0" bIns="0" rtlCol="0" anchor="ctr"/>
          <a:lstStyle/>
          <a:p>
            <a:pPr marL="0" indent="0" algn="ctr">
              <a:buNone/>
            </a:pPr>
            <a:r>
              <a:rPr lang="es-AR" sz="800" b="1" noProof="0" dirty="0">
                <a:solidFill>
                  <a:srgbClr val="2E9EBF"/>
                </a:solidFill>
                <a:latin typeface="Calibri" pitchFamily="34" charset="0"/>
                <a:ea typeface="Calibri" pitchFamily="34" charset="-122"/>
                <a:cs typeface="Calibri" pitchFamily="34" charset="-120"/>
              </a:rPr>
              <a:t>Estadística</a:t>
            </a:r>
            <a:endParaRPr lang="es-AR" sz="800" noProof="0" dirty="0"/>
          </a:p>
        </p:txBody>
      </p:sp>
      <p:sp>
        <p:nvSpPr>
          <p:cNvPr id="15" name="Text 13"/>
          <p:cNvSpPr/>
          <p:nvPr/>
        </p:nvSpPr>
        <p:spPr>
          <a:xfrm>
            <a:off x="2057400" y="1719072"/>
            <a:ext cx="4846320" cy="274320"/>
          </a:xfrm>
          <a:prstGeom prst="rect">
            <a:avLst/>
          </a:prstGeom>
          <a:noFill/>
          <a:ln/>
        </p:spPr>
        <p:txBody>
          <a:bodyPr wrap="square" lIns="0" tIns="0" rIns="0" bIns="0" rtlCol="0" anchor="ctr"/>
          <a:lstStyle/>
          <a:p>
            <a:pPr marL="0" indent="0" algn="l">
              <a:buNone/>
            </a:pPr>
            <a:r>
              <a:rPr lang="es-AR" sz="1250" b="1" noProof="0" dirty="0" err="1">
                <a:solidFill>
                  <a:srgbClr val="0F2B46"/>
                </a:solidFill>
                <a:latin typeface="Georgia" pitchFamily="34" charset="0"/>
                <a:ea typeface="Georgia" pitchFamily="34" charset="-122"/>
                <a:cs typeface="Georgia" pitchFamily="34" charset="-120"/>
              </a:rPr>
              <a:t>OpenIntro</a:t>
            </a:r>
            <a:r>
              <a:rPr lang="es-AR" sz="1250" b="1" noProof="0" dirty="0">
                <a:solidFill>
                  <a:srgbClr val="0F2B46"/>
                </a:solidFill>
                <a:latin typeface="Georgia" pitchFamily="34" charset="0"/>
                <a:ea typeface="Georgia" pitchFamily="34" charset="-122"/>
                <a:cs typeface="Georgia" pitchFamily="34" charset="-120"/>
              </a:rPr>
              <a:t> </a:t>
            </a:r>
            <a:r>
              <a:rPr lang="es-AR" sz="1250" b="1" noProof="0" dirty="0" err="1">
                <a:solidFill>
                  <a:srgbClr val="0F2B46"/>
                </a:solidFill>
                <a:latin typeface="Georgia" pitchFamily="34" charset="0"/>
                <a:ea typeface="Georgia" pitchFamily="34" charset="-122"/>
                <a:cs typeface="Georgia" pitchFamily="34" charset="-120"/>
              </a:rPr>
              <a:t>Statistics</a:t>
            </a:r>
            <a:r>
              <a:rPr lang="es-AR" sz="1250" b="1" noProof="0" dirty="0">
                <a:solidFill>
                  <a:srgbClr val="0F2B46"/>
                </a:solidFill>
                <a:latin typeface="Georgia" pitchFamily="34" charset="0"/>
                <a:ea typeface="Georgia" pitchFamily="34" charset="-122"/>
                <a:cs typeface="Georgia" pitchFamily="34" charset="-120"/>
              </a:rPr>
              <a:t> (4e)</a:t>
            </a:r>
            <a:endParaRPr lang="es-AR" sz="1250" noProof="0" dirty="0"/>
          </a:p>
        </p:txBody>
      </p:sp>
      <p:sp>
        <p:nvSpPr>
          <p:cNvPr id="16" name="Text 14"/>
          <p:cNvSpPr/>
          <p:nvPr/>
        </p:nvSpPr>
        <p:spPr>
          <a:xfrm>
            <a:off x="2057400" y="1993392"/>
            <a:ext cx="3657600" cy="228600"/>
          </a:xfrm>
          <a:prstGeom prst="rect">
            <a:avLst/>
          </a:prstGeom>
          <a:noFill/>
          <a:ln/>
        </p:spPr>
        <p:txBody>
          <a:bodyPr wrap="square" lIns="0" tIns="0" rIns="0" bIns="0" rtlCol="0" anchor="ctr"/>
          <a:lstStyle/>
          <a:p>
            <a:pPr marL="0" indent="0" algn="l">
              <a:buNone/>
            </a:pPr>
            <a:r>
              <a:rPr lang="es-AR" sz="1000" noProof="0" dirty="0">
                <a:solidFill>
                  <a:srgbClr val="5A7184"/>
                </a:solidFill>
                <a:latin typeface="Calibri" pitchFamily="34" charset="0"/>
                <a:ea typeface="Calibri" pitchFamily="34" charset="-122"/>
                <a:cs typeface="Calibri" pitchFamily="34" charset="-120"/>
              </a:rPr>
              <a:t>Diez, </a:t>
            </a:r>
            <a:r>
              <a:rPr lang="es-AR" sz="1000" noProof="0" dirty="0" err="1">
                <a:solidFill>
                  <a:srgbClr val="5A7184"/>
                </a:solidFill>
                <a:latin typeface="Calibri" pitchFamily="34" charset="0"/>
                <a:ea typeface="Calibri" pitchFamily="34" charset="-122"/>
                <a:cs typeface="Calibri" pitchFamily="34" charset="-120"/>
              </a:rPr>
              <a:t>Çetinkaya</a:t>
            </a:r>
            <a:r>
              <a:rPr lang="es-AR" sz="1000" noProof="0" dirty="0">
                <a:solidFill>
                  <a:srgbClr val="5A7184"/>
                </a:solidFill>
                <a:latin typeface="Calibri" pitchFamily="34" charset="0"/>
                <a:ea typeface="Calibri" pitchFamily="34" charset="-122"/>
                <a:cs typeface="Calibri" pitchFamily="34" charset="-120"/>
              </a:rPr>
              <a:t>-Rundel &amp; Barr</a:t>
            </a:r>
            <a:endParaRPr lang="es-AR" sz="1000" noProof="0" dirty="0"/>
          </a:p>
        </p:txBody>
      </p:sp>
      <p:sp>
        <p:nvSpPr>
          <p:cNvPr id="17" name="Text 15"/>
          <p:cNvSpPr/>
          <p:nvPr/>
        </p:nvSpPr>
        <p:spPr>
          <a:xfrm>
            <a:off x="6400800" y="1810512"/>
            <a:ext cx="1920240" cy="320040"/>
          </a:xfrm>
          <a:prstGeom prst="rect">
            <a:avLst/>
          </a:prstGeom>
          <a:noFill/>
          <a:ln/>
        </p:spPr>
        <p:txBody>
          <a:bodyPr wrap="square" lIns="0" tIns="0" rIns="0" bIns="0" rtlCol="0" anchor="ctr"/>
          <a:lstStyle/>
          <a:p>
            <a:pPr marL="0" indent="0" algn="r">
              <a:buNone/>
            </a:pPr>
            <a:r>
              <a:rPr lang="es-AR" sz="950" i="1" noProof="0" dirty="0">
                <a:solidFill>
                  <a:srgbClr val="27826B"/>
                </a:solidFill>
                <a:latin typeface="Calibri" pitchFamily="34" charset="0"/>
                <a:ea typeface="Calibri" pitchFamily="34" charset="-122"/>
                <a:cs typeface="Calibri" pitchFamily="34" charset="-120"/>
              </a:rPr>
              <a:t>Gratuito online — openintro.org</a:t>
            </a:r>
            <a:endParaRPr lang="es-AR" sz="950" noProof="0" dirty="0"/>
          </a:p>
        </p:txBody>
      </p:sp>
      <p:sp>
        <p:nvSpPr>
          <p:cNvPr id="18" name="Shape 16"/>
          <p:cNvSpPr/>
          <p:nvPr/>
        </p:nvSpPr>
        <p:spPr>
          <a:xfrm>
            <a:off x="640080" y="2386584"/>
            <a:ext cx="7863840" cy="603504"/>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9" name="Shape 17"/>
          <p:cNvSpPr/>
          <p:nvPr/>
        </p:nvSpPr>
        <p:spPr>
          <a:xfrm>
            <a:off x="640080" y="2386584"/>
            <a:ext cx="54864" cy="603504"/>
          </a:xfrm>
          <a:prstGeom prst="rect">
            <a:avLst/>
          </a:prstGeom>
          <a:solidFill>
            <a:srgbClr val="E8963E"/>
          </a:solidFill>
          <a:ln/>
        </p:spPr>
        <p:txBody>
          <a:bodyPr/>
          <a:lstStyle/>
          <a:p>
            <a:endParaRPr lang="es-AR" noProof="0" dirty="0"/>
          </a:p>
        </p:txBody>
      </p:sp>
      <p:sp>
        <p:nvSpPr>
          <p:cNvPr id="20" name="Shape 18"/>
          <p:cNvSpPr/>
          <p:nvPr/>
        </p:nvSpPr>
        <p:spPr>
          <a:xfrm>
            <a:off x="868680" y="2459736"/>
            <a:ext cx="1051560" cy="228600"/>
          </a:xfrm>
          <a:prstGeom prst="rect">
            <a:avLst/>
          </a:prstGeom>
          <a:solidFill>
            <a:srgbClr val="E8963E">
              <a:alpha val="15000"/>
            </a:srgbClr>
          </a:solidFill>
          <a:ln/>
        </p:spPr>
        <p:txBody>
          <a:bodyPr/>
          <a:lstStyle/>
          <a:p>
            <a:endParaRPr lang="es-AR" noProof="0" dirty="0"/>
          </a:p>
        </p:txBody>
      </p:sp>
      <p:sp>
        <p:nvSpPr>
          <p:cNvPr id="21" name="Text 19"/>
          <p:cNvSpPr/>
          <p:nvPr/>
        </p:nvSpPr>
        <p:spPr>
          <a:xfrm>
            <a:off x="868680" y="2459736"/>
            <a:ext cx="1051560" cy="228600"/>
          </a:xfrm>
          <a:prstGeom prst="rect">
            <a:avLst/>
          </a:prstGeom>
          <a:noFill/>
          <a:ln/>
        </p:spPr>
        <p:txBody>
          <a:bodyPr wrap="square" lIns="0" tIns="0" rIns="0" bIns="0" rtlCol="0" anchor="ctr"/>
          <a:lstStyle/>
          <a:p>
            <a:pPr marL="0" indent="0" algn="ctr">
              <a:buNone/>
            </a:pPr>
            <a:r>
              <a:rPr lang="es-AR" sz="800" b="1" noProof="0" dirty="0">
                <a:solidFill>
                  <a:srgbClr val="E8963E"/>
                </a:solidFill>
                <a:latin typeface="Calibri" pitchFamily="34" charset="0"/>
                <a:ea typeface="Calibri" pitchFamily="34" charset="-122"/>
                <a:cs typeface="Calibri" pitchFamily="34" charset="-120"/>
              </a:rPr>
              <a:t>Visualización</a:t>
            </a:r>
            <a:endParaRPr lang="es-AR" sz="800" noProof="0" dirty="0"/>
          </a:p>
        </p:txBody>
      </p:sp>
      <p:sp>
        <p:nvSpPr>
          <p:cNvPr id="22" name="Text 20"/>
          <p:cNvSpPr/>
          <p:nvPr/>
        </p:nvSpPr>
        <p:spPr>
          <a:xfrm>
            <a:off x="2057400" y="2432304"/>
            <a:ext cx="4846320" cy="274320"/>
          </a:xfrm>
          <a:prstGeom prst="rect">
            <a:avLst/>
          </a:prstGeom>
          <a:noFill/>
          <a:ln/>
        </p:spPr>
        <p:txBody>
          <a:bodyPr wrap="square" lIns="0" tIns="0" rIns="0" bIns="0" rtlCol="0" anchor="ctr"/>
          <a:lstStyle/>
          <a:p>
            <a:pPr marL="0" indent="0" algn="l">
              <a:buNone/>
            </a:pPr>
            <a:r>
              <a:rPr lang="es-AR" sz="1250" b="1" noProof="0" dirty="0" err="1">
                <a:solidFill>
                  <a:srgbClr val="0F2B46"/>
                </a:solidFill>
                <a:latin typeface="Georgia" pitchFamily="34" charset="0"/>
                <a:ea typeface="Georgia" pitchFamily="34" charset="-122"/>
                <a:cs typeface="Georgia" pitchFamily="34" charset="-120"/>
              </a:rPr>
              <a:t>Better</a:t>
            </a:r>
            <a:r>
              <a:rPr lang="es-AR" sz="1250" b="1" noProof="0" dirty="0">
                <a:solidFill>
                  <a:srgbClr val="0F2B46"/>
                </a:solidFill>
                <a:latin typeface="Georgia" pitchFamily="34" charset="0"/>
                <a:ea typeface="Georgia" pitchFamily="34" charset="-122"/>
                <a:cs typeface="Georgia" pitchFamily="34" charset="-120"/>
              </a:rPr>
              <a:t> Data </a:t>
            </a:r>
            <a:r>
              <a:rPr lang="es-AR" sz="1250" b="1" noProof="0" dirty="0" err="1">
                <a:solidFill>
                  <a:srgbClr val="0F2B46"/>
                </a:solidFill>
                <a:latin typeface="Georgia" pitchFamily="34" charset="0"/>
                <a:ea typeface="Georgia" pitchFamily="34" charset="-122"/>
                <a:cs typeface="Georgia" pitchFamily="34" charset="-120"/>
              </a:rPr>
              <a:t>Visualizations</a:t>
            </a:r>
            <a:endParaRPr lang="es-AR" sz="1250" noProof="0" dirty="0"/>
          </a:p>
        </p:txBody>
      </p:sp>
      <p:sp>
        <p:nvSpPr>
          <p:cNvPr id="23" name="Text 21"/>
          <p:cNvSpPr/>
          <p:nvPr/>
        </p:nvSpPr>
        <p:spPr>
          <a:xfrm>
            <a:off x="2057400" y="2706624"/>
            <a:ext cx="3657600" cy="228600"/>
          </a:xfrm>
          <a:prstGeom prst="rect">
            <a:avLst/>
          </a:prstGeom>
          <a:noFill/>
          <a:ln/>
        </p:spPr>
        <p:txBody>
          <a:bodyPr wrap="square" lIns="0" tIns="0" rIns="0" bIns="0" rtlCol="0" anchor="ctr"/>
          <a:lstStyle/>
          <a:p>
            <a:pPr marL="0" indent="0" algn="l">
              <a:buNone/>
            </a:pPr>
            <a:r>
              <a:rPr lang="es-AR" sz="1000" noProof="0" dirty="0" err="1">
                <a:solidFill>
                  <a:srgbClr val="5A7184"/>
                </a:solidFill>
                <a:latin typeface="Calibri" pitchFamily="34" charset="0"/>
                <a:ea typeface="Calibri" pitchFamily="34" charset="-122"/>
                <a:cs typeface="Calibri" pitchFamily="34" charset="-120"/>
              </a:rPr>
              <a:t>Schwabish</a:t>
            </a:r>
            <a:r>
              <a:rPr lang="es-AR" sz="1000" noProof="0" dirty="0">
                <a:solidFill>
                  <a:srgbClr val="5A7184"/>
                </a:solidFill>
                <a:latin typeface="Calibri" pitchFamily="34" charset="0"/>
                <a:ea typeface="Calibri" pitchFamily="34" charset="-122"/>
                <a:cs typeface="Calibri" pitchFamily="34" charset="-120"/>
              </a:rPr>
              <a:t>, J.</a:t>
            </a:r>
            <a:endParaRPr lang="es-AR" sz="1000" noProof="0" dirty="0"/>
          </a:p>
        </p:txBody>
      </p:sp>
      <p:sp>
        <p:nvSpPr>
          <p:cNvPr id="24" name="Text 22"/>
          <p:cNvSpPr/>
          <p:nvPr/>
        </p:nvSpPr>
        <p:spPr>
          <a:xfrm>
            <a:off x="6400800" y="2523744"/>
            <a:ext cx="1920240" cy="320040"/>
          </a:xfrm>
          <a:prstGeom prst="rect">
            <a:avLst/>
          </a:prstGeom>
          <a:noFill/>
          <a:ln/>
        </p:spPr>
        <p:txBody>
          <a:bodyPr wrap="square" lIns="0" tIns="0" rIns="0" bIns="0" rtlCol="0" anchor="ctr"/>
          <a:lstStyle/>
          <a:p>
            <a:pPr marL="0" indent="0" algn="r">
              <a:buNone/>
            </a:pPr>
            <a:r>
              <a:rPr lang="es-AR" sz="950" i="1" noProof="0" dirty="0">
                <a:solidFill>
                  <a:srgbClr val="5A7184"/>
                </a:solidFill>
                <a:latin typeface="Calibri" pitchFamily="34" charset="0"/>
                <a:ea typeface="Calibri" pitchFamily="34" charset="-122"/>
                <a:cs typeface="Calibri" pitchFamily="34" charset="-120"/>
              </a:rPr>
              <a:t>Drive</a:t>
            </a:r>
            <a:endParaRPr lang="es-AR" sz="950" noProof="0" dirty="0"/>
          </a:p>
        </p:txBody>
      </p:sp>
      <p:sp>
        <p:nvSpPr>
          <p:cNvPr id="25" name="Shape 23"/>
          <p:cNvSpPr/>
          <p:nvPr/>
        </p:nvSpPr>
        <p:spPr>
          <a:xfrm>
            <a:off x="640080" y="3099816"/>
            <a:ext cx="7863840" cy="603504"/>
          </a:xfrm>
          <a:prstGeom prst="rect">
            <a:avLst/>
          </a:prstGeom>
          <a:solidFill>
            <a:srgbClr val="E8EEF2"/>
          </a:solidFill>
          <a:ln/>
        </p:spPr>
        <p:txBody>
          <a:bodyPr/>
          <a:lstStyle/>
          <a:p>
            <a:endParaRPr lang="es-AR" noProof="0" dirty="0"/>
          </a:p>
        </p:txBody>
      </p:sp>
      <p:sp>
        <p:nvSpPr>
          <p:cNvPr id="26" name="Shape 24"/>
          <p:cNvSpPr/>
          <p:nvPr/>
        </p:nvSpPr>
        <p:spPr>
          <a:xfrm>
            <a:off x="640080" y="3099816"/>
            <a:ext cx="54864" cy="603504"/>
          </a:xfrm>
          <a:prstGeom prst="rect">
            <a:avLst/>
          </a:prstGeom>
          <a:solidFill>
            <a:srgbClr val="E8963E"/>
          </a:solidFill>
          <a:ln/>
        </p:spPr>
        <p:txBody>
          <a:bodyPr/>
          <a:lstStyle/>
          <a:p>
            <a:endParaRPr lang="es-AR" noProof="0" dirty="0"/>
          </a:p>
        </p:txBody>
      </p:sp>
      <p:sp>
        <p:nvSpPr>
          <p:cNvPr id="27" name="Shape 25"/>
          <p:cNvSpPr/>
          <p:nvPr/>
        </p:nvSpPr>
        <p:spPr>
          <a:xfrm>
            <a:off x="868680" y="3172968"/>
            <a:ext cx="1051560" cy="228600"/>
          </a:xfrm>
          <a:prstGeom prst="rect">
            <a:avLst/>
          </a:prstGeom>
          <a:solidFill>
            <a:srgbClr val="E8963E">
              <a:alpha val="15000"/>
            </a:srgbClr>
          </a:solidFill>
          <a:ln/>
        </p:spPr>
        <p:txBody>
          <a:bodyPr/>
          <a:lstStyle/>
          <a:p>
            <a:endParaRPr lang="es-AR" noProof="0" dirty="0"/>
          </a:p>
        </p:txBody>
      </p:sp>
      <p:sp>
        <p:nvSpPr>
          <p:cNvPr id="28" name="Text 26"/>
          <p:cNvSpPr/>
          <p:nvPr/>
        </p:nvSpPr>
        <p:spPr>
          <a:xfrm>
            <a:off x="868680" y="3172968"/>
            <a:ext cx="1051560" cy="228600"/>
          </a:xfrm>
          <a:prstGeom prst="rect">
            <a:avLst/>
          </a:prstGeom>
          <a:noFill/>
          <a:ln/>
        </p:spPr>
        <p:txBody>
          <a:bodyPr wrap="square" lIns="0" tIns="0" rIns="0" bIns="0" rtlCol="0" anchor="ctr"/>
          <a:lstStyle/>
          <a:p>
            <a:pPr marL="0" indent="0" algn="ctr">
              <a:buNone/>
            </a:pPr>
            <a:r>
              <a:rPr lang="es-AR" sz="800" b="1" noProof="0" dirty="0">
                <a:solidFill>
                  <a:srgbClr val="E8963E"/>
                </a:solidFill>
                <a:latin typeface="Calibri" pitchFamily="34" charset="0"/>
                <a:ea typeface="Calibri" pitchFamily="34" charset="-122"/>
                <a:cs typeface="Calibri" pitchFamily="34" charset="-120"/>
              </a:rPr>
              <a:t>Visualización</a:t>
            </a:r>
            <a:endParaRPr lang="es-AR" sz="800" noProof="0" dirty="0"/>
          </a:p>
        </p:txBody>
      </p:sp>
      <p:sp>
        <p:nvSpPr>
          <p:cNvPr id="29" name="Text 27"/>
          <p:cNvSpPr/>
          <p:nvPr/>
        </p:nvSpPr>
        <p:spPr>
          <a:xfrm>
            <a:off x="2057400" y="3145536"/>
            <a:ext cx="4846320" cy="274320"/>
          </a:xfrm>
          <a:prstGeom prst="rect">
            <a:avLst/>
          </a:prstGeom>
          <a:noFill/>
          <a:ln/>
        </p:spPr>
        <p:txBody>
          <a:bodyPr wrap="square" lIns="0" tIns="0" rIns="0" bIns="0" rtlCol="0" anchor="ctr"/>
          <a:lstStyle/>
          <a:p>
            <a:pPr marL="0" indent="0" algn="l">
              <a:buNone/>
            </a:pPr>
            <a:r>
              <a:rPr lang="es-AR" sz="1250" b="1" noProof="0" dirty="0" err="1">
                <a:solidFill>
                  <a:srgbClr val="0F2B46"/>
                </a:solidFill>
                <a:latin typeface="Georgia" pitchFamily="34" charset="0"/>
                <a:ea typeface="Georgia" pitchFamily="34" charset="-122"/>
                <a:cs typeface="Georgia" pitchFamily="34" charset="-120"/>
              </a:rPr>
              <a:t>Storytelling</a:t>
            </a:r>
            <a:r>
              <a:rPr lang="es-AR" sz="1250" b="1" noProof="0" dirty="0">
                <a:solidFill>
                  <a:srgbClr val="0F2B46"/>
                </a:solidFill>
                <a:latin typeface="Georgia" pitchFamily="34" charset="0"/>
                <a:ea typeface="Georgia" pitchFamily="34" charset="-122"/>
                <a:cs typeface="Georgia" pitchFamily="34" charset="-120"/>
              </a:rPr>
              <a:t> </a:t>
            </a:r>
            <a:r>
              <a:rPr lang="es-AR" sz="1250" b="1" noProof="0" dirty="0" err="1">
                <a:solidFill>
                  <a:srgbClr val="0F2B46"/>
                </a:solidFill>
                <a:latin typeface="Georgia" pitchFamily="34" charset="0"/>
                <a:ea typeface="Georgia" pitchFamily="34" charset="-122"/>
                <a:cs typeface="Georgia" pitchFamily="34" charset="-120"/>
              </a:rPr>
              <a:t>with</a:t>
            </a:r>
            <a:r>
              <a:rPr lang="es-AR" sz="1250" b="1" noProof="0" dirty="0">
                <a:solidFill>
                  <a:srgbClr val="0F2B46"/>
                </a:solidFill>
                <a:latin typeface="Georgia" pitchFamily="34" charset="0"/>
                <a:ea typeface="Georgia" pitchFamily="34" charset="-122"/>
                <a:cs typeface="Georgia" pitchFamily="34" charset="-120"/>
              </a:rPr>
              <a:t> Data</a:t>
            </a:r>
            <a:endParaRPr lang="es-AR" sz="1250" noProof="0" dirty="0"/>
          </a:p>
        </p:txBody>
      </p:sp>
      <p:sp>
        <p:nvSpPr>
          <p:cNvPr id="30" name="Text 28"/>
          <p:cNvSpPr/>
          <p:nvPr/>
        </p:nvSpPr>
        <p:spPr>
          <a:xfrm>
            <a:off x="2057400" y="3419856"/>
            <a:ext cx="3657600" cy="228600"/>
          </a:xfrm>
          <a:prstGeom prst="rect">
            <a:avLst/>
          </a:prstGeom>
          <a:noFill/>
          <a:ln/>
        </p:spPr>
        <p:txBody>
          <a:bodyPr wrap="square" lIns="0" tIns="0" rIns="0" bIns="0" rtlCol="0" anchor="ctr"/>
          <a:lstStyle/>
          <a:p>
            <a:pPr marL="0" indent="0" algn="l">
              <a:buNone/>
            </a:pPr>
            <a:r>
              <a:rPr lang="es-AR" sz="1000" noProof="0" dirty="0" err="1">
                <a:solidFill>
                  <a:srgbClr val="5A7184"/>
                </a:solidFill>
                <a:latin typeface="Calibri" pitchFamily="34" charset="0"/>
                <a:ea typeface="Calibri" pitchFamily="34" charset="-122"/>
                <a:cs typeface="Calibri" pitchFamily="34" charset="-120"/>
              </a:rPr>
              <a:t>Knaflic</a:t>
            </a:r>
            <a:r>
              <a:rPr lang="es-AR" sz="1000" noProof="0" dirty="0">
                <a:solidFill>
                  <a:srgbClr val="5A7184"/>
                </a:solidFill>
                <a:latin typeface="Calibri" pitchFamily="34" charset="0"/>
                <a:ea typeface="Calibri" pitchFamily="34" charset="-122"/>
                <a:cs typeface="Calibri" pitchFamily="34" charset="-120"/>
              </a:rPr>
              <a:t>, C. N.</a:t>
            </a:r>
            <a:endParaRPr lang="es-AR" sz="1000" noProof="0" dirty="0"/>
          </a:p>
        </p:txBody>
      </p:sp>
      <p:sp>
        <p:nvSpPr>
          <p:cNvPr id="31" name="Text 29"/>
          <p:cNvSpPr/>
          <p:nvPr/>
        </p:nvSpPr>
        <p:spPr>
          <a:xfrm>
            <a:off x="6400800" y="3236976"/>
            <a:ext cx="1920240" cy="320040"/>
          </a:xfrm>
          <a:prstGeom prst="rect">
            <a:avLst/>
          </a:prstGeom>
          <a:noFill/>
          <a:ln/>
        </p:spPr>
        <p:txBody>
          <a:bodyPr wrap="square" lIns="0" tIns="0" rIns="0" bIns="0" rtlCol="0" anchor="ctr"/>
          <a:lstStyle/>
          <a:p>
            <a:pPr marL="0" indent="0" algn="r">
              <a:buNone/>
            </a:pPr>
            <a:r>
              <a:rPr lang="es-AR" sz="950" i="1" noProof="0" dirty="0">
                <a:solidFill>
                  <a:srgbClr val="5A7184"/>
                </a:solidFill>
                <a:latin typeface="Calibri" pitchFamily="34" charset="0"/>
                <a:ea typeface="Calibri" pitchFamily="34" charset="-122"/>
                <a:cs typeface="Calibri" pitchFamily="34" charset="-120"/>
              </a:rPr>
              <a:t>Drive</a:t>
            </a:r>
            <a:endParaRPr lang="es-AR" sz="950" noProof="0" dirty="0"/>
          </a:p>
        </p:txBody>
      </p:sp>
      <p:sp>
        <p:nvSpPr>
          <p:cNvPr id="32" name="Shape 30"/>
          <p:cNvSpPr/>
          <p:nvPr/>
        </p:nvSpPr>
        <p:spPr>
          <a:xfrm>
            <a:off x="640080" y="3813048"/>
            <a:ext cx="7863840" cy="603504"/>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33" name="Shape 31"/>
          <p:cNvSpPr/>
          <p:nvPr/>
        </p:nvSpPr>
        <p:spPr>
          <a:xfrm>
            <a:off x="640080" y="3813048"/>
            <a:ext cx="54864" cy="603504"/>
          </a:xfrm>
          <a:prstGeom prst="rect">
            <a:avLst/>
          </a:prstGeom>
          <a:solidFill>
            <a:srgbClr val="E8963E"/>
          </a:solidFill>
          <a:ln/>
        </p:spPr>
        <p:txBody>
          <a:bodyPr/>
          <a:lstStyle/>
          <a:p>
            <a:endParaRPr lang="es-AR" noProof="0" dirty="0"/>
          </a:p>
        </p:txBody>
      </p:sp>
      <p:sp>
        <p:nvSpPr>
          <p:cNvPr id="34" name="Shape 32"/>
          <p:cNvSpPr/>
          <p:nvPr/>
        </p:nvSpPr>
        <p:spPr>
          <a:xfrm>
            <a:off x="868680" y="3886200"/>
            <a:ext cx="1051560" cy="228600"/>
          </a:xfrm>
          <a:prstGeom prst="rect">
            <a:avLst/>
          </a:prstGeom>
          <a:solidFill>
            <a:srgbClr val="E8963E">
              <a:alpha val="15000"/>
            </a:srgbClr>
          </a:solidFill>
          <a:ln/>
        </p:spPr>
        <p:txBody>
          <a:bodyPr/>
          <a:lstStyle/>
          <a:p>
            <a:endParaRPr lang="es-AR" noProof="0" dirty="0"/>
          </a:p>
        </p:txBody>
      </p:sp>
      <p:sp>
        <p:nvSpPr>
          <p:cNvPr id="35" name="Text 33"/>
          <p:cNvSpPr/>
          <p:nvPr/>
        </p:nvSpPr>
        <p:spPr>
          <a:xfrm>
            <a:off x="868680" y="3886200"/>
            <a:ext cx="1051560" cy="228600"/>
          </a:xfrm>
          <a:prstGeom prst="rect">
            <a:avLst/>
          </a:prstGeom>
          <a:noFill/>
          <a:ln/>
        </p:spPr>
        <p:txBody>
          <a:bodyPr wrap="square" lIns="0" tIns="0" rIns="0" bIns="0" rtlCol="0" anchor="ctr"/>
          <a:lstStyle/>
          <a:p>
            <a:pPr marL="0" indent="0" algn="ctr">
              <a:buNone/>
            </a:pPr>
            <a:r>
              <a:rPr lang="es-AR" sz="800" b="1" noProof="0" dirty="0">
                <a:solidFill>
                  <a:srgbClr val="E8963E"/>
                </a:solidFill>
                <a:latin typeface="Calibri" pitchFamily="34" charset="0"/>
                <a:ea typeface="Calibri" pitchFamily="34" charset="-122"/>
                <a:cs typeface="Calibri" pitchFamily="34" charset="-120"/>
              </a:rPr>
              <a:t>Visualización</a:t>
            </a:r>
            <a:endParaRPr lang="es-AR" sz="800" noProof="0" dirty="0"/>
          </a:p>
        </p:txBody>
      </p:sp>
      <p:sp>
        <p:nvSpPr>
          <p:cNvPr id="36" name="Text 34"/>
          <p:cNvSpPr/>
          <p:nvPr/>
        </p:nvSpPr>
        <p:spPr>
          <a:xfrm>
            <a:off x="2057400" y="3858768"/>
            <a:ext cx="4846320" cy="274320"/>
          </a:xfrm>
          <a:prstGeom prst="rect">
            <a:avLst/>
          </a:prstGeom>
          <a:noFill/>
          <a:ln/>
        </p:spPr>
        <p:txBody>
          <a:bodyPr wrap="square" lIns="0" tIns="0" rIns="0" bIns="0" rtlCol="0" anchor="ctr"/>
          <a:lstStyle/>
          <a:p>
            <a:pPr marL="0" indent="0" algn="l">
              <a:buNone/>
            </a:pPr>
            <a:r>
              <a:rPr lang="es-AR" sz="1250" b="1" noProof="0" dirty="0">
                <a:solidFill>
                  <a:srgbClr val="0F2B46"/>
                </a:solidFill>
                <a:latin typeface="Georgia" pitchFamily="34" charset="0"/>
                <a:ea typeface="Georgia" pitchFamily="34" charset="-122"/>
                <a:cs typeface="Georgia" pitchFamily="34" charset="-120"/>
              </a:rPr>
              <a:t>ggplot2: </a:t>
            </a:r>
            <a:r>
              <a:rPr lang="es-AR" sz="1250" b="1" noProof="0" dirty="0" err="1">
                <a:solidFill>
                  <a:srgbClr val="0F2B46"/>
                </a:solidFill>
                <a:latin typeface="Georgia" pitchFamily="34" charset="0"/>
                <a:ea typeface="Georgia" pitchFamily="34" charset="-122"/>
                <a:cs typeface="Georgia" pitchFamily="34" charset="-120"/>
              </a:rPr>
              <a:t>Elegant</a:t>
            </a:r>
            <a:r>
              <a:rPr lang="es-AR" sz="1250" b="1" noProof="0" dirty="0">
                <a:solidFill>
                  <a:srgbClr val="0F2B46"/>
                </a:solidFill>
                <a:latin typeface="Georgia" pitchFamily="34" charset="0"/>
                <a:ea typeface="Georgia" pitchFamily="34" charset="-122"/>
                <a:cs typeface="Georgia" pitchFamily="34" charset="-120"/>
              </a:rPr>
              <a:t> </a:t>
            </a:r>
            <a:r>
              <a:rPr lang="es-AR" sz="1250" b="1" noProof="0" dirty="0" err="1">
                <a:solidFill>
                  <a:srgbClr val="0F2B46"/>
                </a:solidFill>
                <a:latin typeface="Georgia" pitchFamily="34" charset="0"/>
                <a:ea typeface="Georgia" pitchFamily="34" charset="-122"/>
                <a:cs typeface="Georgia" pitchFamily="34" charset="-120"/>
              </a:rPr>
              <a:t>Graphics</a:t>
            </a:r>
            <a:r>
              <a:rPr lang="es-AR" sz="1250" b="1" noProof="0" dirty="0">
                <a:solidFill>
                  <a:srgbClr val="0F2B46"/>
                </a:solidFill>
                <a:latin typeface="Georgia" pitchFamily="34" charset="0"/>
                <a:ea typeface="Georgia" pitchFamily="34" charset="-122"/>
                <a:cs typeface="Georgia" pitchFamily="34" charset="-120"/>
              </a:rPr>
              <a:t> </a:t>
            </a:r>
            <a:r>
              <a:rPr lang="es-AR" sz="1250" b="1" noProof="0" dirty="0" err="1">
                <a:solidFill>
                  <a:srgbClr val="0F2B46"/>
                </a:solidFill>
                <a:latin typeface="Georgia" pitchFamily="34" charset="0"/>
                <a:ea typeface="Georgia" pitchFamily="34" charset="-122"/>
                <a:cs typeface="Georgia" pitchFamily="34" charset="-120"/>
              </a:rPr>
              <a:t>for</a:t>
            </a:r>
            <a:r>
              <a:rPr lang="es-AR" sz="1250" b="1" noProof="0" dirty="0">
                <a:solidFill>
                  <a:srgbClr val="0F2B46"/>
                </a:solidFill>
                <a:latin typeface="Georgia" pitchFamily="34" charset="0"/>
                <a:ea typeface="Georgia" pitchFamily="34" charset="-122"/>
                <a:cs typeface="Georgia" pitchFamily="34" charset="-120"/>
              </a:rPr>
              <a:t> Data </a:t>
            </a:r>
            <a:r>
              <a:rPr lang="es-AR" sz="1250" b="1" noProof="0" dirty="0" err="1">
                <a:solidFill>
                  <a:srgbClr val="0F2B46"/>
                </a:solidFill>
                <a:latin typeface="Georgia" pitchFamily="34" charset="0"/>
                <a:ea typeface="Georgia" pitchFamily="34" charset="-122"/>
                <a:cs typeface="Georgia" pitchFamily="34" charset="-120"/>
              </a:rPr>
              <a:t>Analysis</a:t>
            </a:r>
            <a:r>
              <a:rPr lang="es-AR" sz="1250" b="1" noProof="0" dirty="0">
                <a:solidFill>
                  <a:srgbClr val="0F2B46"/>
                </a:solidFill>
                <a:latin typeface="Georgia" pitchFamily="34" charset="0"/>
                <a:ea typeface="Georgia" pitchFamily="34" charset="-122"/>
                <a:cs typeface="Georgia" pitchFamily="34" charset="-120"/>
              </a:rPr>
              <a:t> (3e)</a:t>
            </a:r>
            <a:endParaRPr lang="es-AR" sz="1250" noProof="0" dirty="0"/>
          </a:p>
        </p:txBody>
      </p:sp>
      <p:sp>
        <p:nvSpPr>
          <p:cNvPr id="37" name="Text 35"/>
          <p:cNvSpPr/>
          <p:nvPr/>
        </p:nvSpPr>
        <p:spPr>
          <a:xfrm>
            <a:off x="2057400" y="4133088"/>
            <a:ext cx="3657600" cy="228600"/>
          </a:xfrm>
          <a:prstGeom prst="rect">
            <a:avLst/>
          </a:prstGeom>
          <a:noFill/>
          <a:ln/>
        </p:spPr>
        <p:txBody>
          <a:bodyPr wrap="square" lIns="0" tIns="0" rIns="0" bIns="0" rtlCol="0" anchor="ctr"/>
          <a:lstStyle/>
          <a:p>
            <a:pPr marL="0" indent="0" algn="l">
              <a:buNone/>
            </a:pPr>
            <a:r>
              <a:rPr lang="es-AR" sz="1000" noProof="0" dirty="0" err="1">
                <a:solidFill>
                  <a:srgbClr val="5A7184"/>
                </a:solidFill>
                <a:latin typeface="Calibri" pitchFamily="34" charset="0"/>
                <a:ea typeface="Calibri" pitchFamily="34" charset="-122"/>
                <a:cs typeface="Calibri" pitchFamily="34" charset="-120"/>
              </a:rPr>
              <a:t>Wickham</a:t>
            </a:r>
            <a:r>
              <a:rPr lang="es-AR" sz="1000" noProof="0" dirty="0">
                <a:solidFill>
                  <a:srgbClr val="5A7184"/>
                </a:solidFill>
                <a:latin typeface="Calibri" pitchFamily="34" charset="0"/>
                <a:ea typeface="Calibri" pitchFamily="34" charset="-122"/>
                <a:cs typeface="Calibri" pitchFamily="34" charset="-120"/>
              </a:rPr>
              <a:t>, H.</a:t>
            </a:r>
            <a:endParaRPr lang="es-AR" sz="1000" noProof="0" dirty="0"/>
          </a:p>
        </p:txBody>
      </p:sp>
      <p:sp>
        <p:nvSpPr>
          <p:cNvPr id="38" name="Text 36"/>
          <p:cNvSpPr/>
          <p:nvPr/>
        </p:nvSpPr>
        <p:spPr>
          <a:xfrm>
            <a:off x="6400800" y="3950208"/>
            <a:ext cx="1920240" cy="320040"/>
          </a:xfrm>
          <a:prstGeom prst="rect">
            <a:avLst/>
          </a:prstGeom>
          <a:noFill/>
          <a:ln/>
        </p:spPr>
        <p:txBody>
          <a:bodyPr wrap="square" lIns="0" tIns="0" rIns="0" bIns="0" rtlCol="0" anchor="ctr"/>
          <a:lstStyle/>
          <a:p>
            <a:pPr marL="0" indent="0" algn="r">
              <a:buNone/>
            </a:pPr>
            <a:r>
              <a:rPr lang="es-AR" sz="950" i="1" noProof="0" dirty="0">
                <a:solidFill>
                  <a:srgbClr val="27826B"/>
                </a:solidFill>
                <a:latin typeface="Calibri" pitchFamily="34" charset="0"/>
                <a:ea typeface="Calibri" pitchFamily="34" charset="-122"/>
                <a:cs typeface="Calibri" pitchFamily="34" charset="-120"/>
              </a:rPr>
              <a:t>Gratuito online — ggplot2-book.org</a:t>
            </a:r>
            <a:endParaRPr lang="es-AR" sz="950" noProof="0" dirty="0"/>
          </a:p>
        </p:txBody>
      </p:sp>
      <p:sp>
        <p:nvSpPr>
          <p:cNvPr id="39" name="Shape 37"/>
          <p:cNvSpPr/>
          <p:nvPr/>
        </p:nvSpPr>
        <p:spPr>
          <a:xfrm>
            <a:off x="0" y="4709160"/>
            <a:ext cx="9144000" cy="434340"/>
          </a:xfrm>
          <a:prstGeom prst="rect">
            <a:avLst/>
          </a:prstGeom>
          <a:solidFill>
            <a:srgbClr val="0F2B46"/>
          </a:solidFill>
          <a:ln/>
        </p:spPr>
        <p:txBody>
          <a:bodyPr/>
          <a:lstStyle/>
          <a:p>
            <a:endParaRPr lang="es-AR" noProof="0" dirty="0"/>
          </a:p>
        </p:txBody>
      </p:sp>
      <p:sp>
        <p:nvSpPr>
          <p:cNvPr id="40" name="Text 38"/>
          <p:cNvSpPr/>
          <p:nvPr/>
        </p:nvSpPr>
        <p:spPr>
          <a:xfrm>
            <a:off x="457200" y="4709160"/>
            <a:ext cx="8229600" cy="434340"/>
          </a:xfrm>
          <a:prstGeom prst="rect">
            <a:avLst/>
          </a:prstGeom>
          <a:noFill/>
          <a:ln/>
        </p:spPr>
        <p:txBody>
          <a:bodyPr wrap="square" lIns="0" tIns="0" rIns="0" bIns="0" rtlCol="0" anchor="ctr"/>
          <a:lstStyle/>
          <a:p>
            <a:pPr algn="ct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 </a:t>
            </a:r>
            <a:r>
              <a:rPr lang="es-AR" sz="850" dirty="0">
                <a:solidFill>
                  <a:srgbClr val="7FA8C4"/>
                </a:solidFill>
                <a:latin typeface="Calibri" pitchFamily="34" charset="0"/>
                <a:ea typeface="Calibri" pitchFamily="34" charset="-122"/>
                <a:cs typeface="Calibri" pitchFamily="34" charset="-120"/>
              </a:rPr>
              <a:t>y Maida Beltrán</a:t>
            </a:r>
            <a:endParaRPr lang="es-AR" sz="850" noProof="0" dirty="0"/>
          </a:p>
        </p:txBody>
      </p:sp>
      <p:sp>
        <p:nvSpPr>
          <p:cNvPr id="41" name="Text 39"/>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7 / 11</a:t>
            </a:r>
            <a:endParaRPr lang="es-AR" sz="800"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Método de Evaluación</a:t>
            </a:r>
            <a:endParaRPr lang="es-AR" sz="3000" noProof="0" dirty="0"/>
          </a:p>
        </p:txBody>
      </p:sp>
      <p:sp>
        <p:nvSpPr>
          <p:cNvPr id="4" name="Text 2"/>
          <p:cNvSpPr/>
          <p:nvPr/>
        </p:nvSpPr>
        <p:spPr>
          <a:xfrm>
            <a:off x="640080" y="868680"/>
            <a:ext cx="7863840" cy="320040"/>
          </a:xfrm>
          <a:prstGeom prst="rect">
            <a:avLst/>
          </a:prstGeom>
          <a:noFill/>
          <a:ln/>
        </p:spPr>
        <p:txBody>
          <a:bodyPr wrap="square" lIns="0" tIns="0" rIns="0" bIns="0" rtlCol="0" anchor="ctr"/>
          <a:lstStyle/>
          <a:p>
            <a:pPr marL="0" indent="0" algn="l">
              <a:buNone/>
            </a:pPr>
            <a:r>
              <a:rPr lang="es-AR" sz="1300" noProof="0" dirty="0">
                <a:solidFill>
                  <a:srgbClr val="5A7184"/>
                </a:solidFill>
                <a:latin typeface="Calibri" pitchFamily="34" charset="0"/>
                <a:ea typeface="Calibri" pitchFamily="34" charset="-122"/>
                <a:cs typeface="Calibri" pitchFamily="34" charset="-120"/>
              </a:rPr>
              <a:t>3 instancias de seguimiento + Entrega final del Trabajo Práctico</a:t>
            </a:r>
            <a:endParaRPr lang="es-AR" sz="1300" noProof="0" dirty="0"/>
          </a:p>
        </p:txBody>
      </p:sp>
      <p:sp>
        <p:nvSpPr>
          <p:cNvPr id="5" name="Shape 3"/>
          <p:cNvSpPr/>
          <p:nvPr/>
        </p:nvSpPr>
        <p:spPr>
          <a:xfrm>
            <a:off x="1645920" y="2103120"/>
            <a:ext cx="5852160" cy="0"/>
          </a:xfrm>
          <a:prstGeom prst="line">
            <a:avLst/>
          </a:prstGeom>
          <a:noFill/>
          <a:ln w="31750">
            <a:solidFill>
              <a:srgbClr val="E8EEF2"/>
            </a:solidFill>
            <a:prstDash val="dash"/>
          </a:ln>
        </p:spPr>
        <p:txBody>
          <a:bodyPr/>
          <a:lstStyle/>
          <a:p>
            <a:endParaRPr lang="es-AR" noProof="0" dirty="0"/>
          </a:p>
        </p:txBody>
      </p:sp>
      <p:sp>
        <p:nvSpPr>
          <p:cNvPr id="6" name="Shape 4"/>
          <p:cNvSpPr/>
          <p:nvPr/>
        </p:nvSpPr>
        <p:spPr>
          <a:xfrm>
            <a:off x="1645920" y="1508760"/>
            <a:ext cx="914400" cy="914400"/>
          </a:xfrm>
          <a:prstGeom prst="ellipse">
            <a:avLst/>
          </a:prstGeom>
          <a:solidFill>
            <a:srgbClr val="1A6B8A"/>
          </a:solidFill>
          <a:ln/>
          <a:effectLst>
            <a:outerShdw blurRad="76200" dist="25400" dir="8100000" algn="bl" rotWithShape="0">
              <a:srgbClr val="000000">
                <a:alpha val="12000"/>
              </a:srgbClr>
            </a:outerShdw>
          </a:effectLst>
        </p:spPr>
        <p:txBody>
          <a:bodyPr/>
          <a:lstStyle/>
          <a:p>
            <a:endParaRPr lang="es-AR" noProof="0" dirty="0"/>
          </a:p>
        </p:txBody>
      </p:sp>
      <p:sp>
        <p:nvSpPr>
          <p:cNvPr id="7" name="Text 5"/>
          <p:cNvSpPr/>
          <p:nvPr/>
        </p:nvSpPr>
        <p:spPr>
          <a:xfrm>
            <a:off x="164592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1</a:t>
            </a:r>
            <a:endParaRPr lang="es-AR" sz="2600" noProof="0" dirty="0"/>
          </a:p>
        </p:txBody>
      </p:sp>
      <p:sp>
        <p:nvSpPr>
          <p:cNvPr id="8" name="Text 6"/>
          <p:cNvSpPr/>
          <p:nvPr/>
        </p:nvSpPr>
        <p:spPr>
          <a:xfrm>
            <a:off x="1005840" y="2598905"/>
            <a:ext cx="2194560" cy="502920"/>
          </a:xfrm>
          <a:prstGeom prst="rect">
            <a:avLst/>
          </a:prstGeom>
          <a:noFill/>
          <a:ln/>
        </p:spPr>
        <p:txBody>
          <a:bodyPr wrap="square" lIns="0" tIns="0" rIns="0" bIns="0" rtlCol="0" anchor="ctr"/>
          <a:lstStyle/>
          <a:p>
            <a:pPr marL="0" indent="0" algn="ctr">
              <a:lnSpc>
                <a:spcPct val="115000"/>
              </a:lnSpc>
              <a:buNone/>
            </a:pPr>
            <a:r>
              <a:rPr lang="es-AR" sz="1200" b="1" noProof="0" dirty="0">
                <a:solidFill>
                  <a:srgbClr val="0F2B46"/>
                </a:solidFill>
                <a:latin typeface="Georgia" pitchFamily="34" charset="0"/>
                <a:ea typeface="Georgia" pitchFamily="34" charset="-122"/>
                <a:cs typeface="Georgia" pitchFamily="34" charset="-120"/>
              </a:rPr>
              <a:t>Base de datos</a:t>
            </a:r>
            <a:r>
              <a:rPr lang="es-AR" sz="1200" b="1" dirty="0">
                <a:solidFill>
                  <a:srgbClr val="0F2B46"/>
                </a:solidFill>
                <a:latin typeface="Georgia" pitchFamily="34" charset="0"/>
                <a:ea typeface="Georgia" pitchFamily="34" charset="-122"/>
                <a:cs typeface="Georgia" pitchFamily="34" charset="-120"/>
              </a:rPr>
              <a:t>, estadísticas descriptivas básicas e idea de lo que quieren trabajar</a:t>
            </a:r>
            <a:endParaRPr lang="es-AR" sz="1200" noProof="0" dirty="0"/>
          </a:p>
        </p:txBody>
      </p:sp>
      <p:sp>
        <p:nvSpPr>
          <p:cNvPr id="10" name="Text 8"/>
          <p:cNvSpPr/>
          <p:nvPr/>
        </p:nvSpPr>
        <p:spPr>
          <a:xfrm>
            <a:off x="830095" y="3291840"/>
            <a:ext cx="2431914" cy="640080"/>
          </a:xfrm>
          <a:prstGeom prst="rect">
            <a:avLst/>
          </a:prstGeom>
          <a:noFill/>
          <a:ln/>
        </p:spPr>
        <p:txBody>
          <a:bodyPr wrap="square" rtlCol="0" anchor="t"/>
          <a:lstStyle/>
          <a:p>
            <a:pPr marL="0" indent="0" algn="ctr">
              <a:lnSpc>
                <a:spcPct val="125000"/>
              </a:lnSpc>
              <a:buNone/>
            </a:pPr>
            <a:r>
              <a:rPr lang="es-AR" sz="1000" noProof="0" dirty="0">
                <a:solidFill>
                  <a:srgbClr val="5A7184"/>
                </a:solidFill>
                <a:latin typeface="Calibri" pitchFamily="34" charset="0"/>
                <a:ea typeface="Calibri" pitchFamily="34" charset="-122"/>
                <a:cs typeface="Calibri" pitchFamily="34" charset="-120"/>
              </a:rPr>
              <a:t>Se hará una devolución consistente en la validación de la base de datos, hipótesis, sugerencias de qué otras cosas analizar</a:t>
            </a:r>
            <a:endParaRPr lang="es-AR" sz="1000" noProof="0" dirty="0"/>
          </a:p>
        </p:txBody>
      </p:sp>
      <p:sp>
        <p:nvSpPr>
          <p:cNvPr id="11" name="Shape 9"/>
          <p:cNvSpPr/>
          <p:nvPr/>
        </p:nvSpPr>
        <p:spPr>
          <a:xfrm>
            <a:off x="4572000" y="1508760"/>
            <a:ext cx="914400" cy="914400"/>
          </a:xfrm>
          <a:prstGeom prst="ellipse">
            <a:avLst/>
          </a:prstGeom>
          <a:solidFill>
            <a:srgbClr val="1A6B8A"/>
          </a:solidFill>
          <a:ln/>
          <a:effectLst>
            <a:outerShdw blurRad="76200" dist="25400" dir="8100000" algn="bl" rotWithShape="0">
              <a:srgbClr val="000000">
                <a:alpha val="12000"/>
              </a:srgbClr>
            </a:outerShdw>
          </a:effectLst>
        </p:spPr>
        <p:txBody>
          <a:bodyPr/>
          <a:lstStyle/>
          <a:p>
            <a:endParaRPr lang="es-AR" noProof="0" dirty="0"/>
          </a:p>
        </p:txBody>
      </p:sp>
      <p:sp>
        <p:nvSpPr>
          <p:cNvPr id="12" name="Text 10"/>
          <p:cNvSpPr/>
          <p:nvPr/>
        </p:nvSpPr>
        <p:spPr>
          <a:xfrm>
            <a:off x="457200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2</a:t>
            </a:r>
            <a:endParaRPr lang="es-AR" sz="2600" noProof="0" dirty="0"/>
          </a:p>
        </p:txBody>
      </p:sp>
      <p:sp>
        <p:nvSpPr>
          <p:cNvPr id="13" name="Text 11"/>
          <p:cNvSpPr/>
          <p:nvPr/>
        </p:nvSpPr>
        <p:spPr>
          <a:xfrm>
            <a:off x="3931920" y="2560320"/>
            <a:ext cx="2194560" cy="502920"/>
          </a:xfrm>
          <a:prstGeom prst="rect">
            <a:avLst/>
          </a:prstGeom>
          <a:noFill/>
          <a:ln/>
        </p:spPr>
        <p:txBody>
          <a:bodyPr wrap="square" lIns="0" tIns="0" rIns="0" bIns="0" rtlCol="0" anchor="ctr"/>
          <a:lstStyle/>
          <a:p>
            <a:pPr marL="0" indent="0" algn="ctr">
              <a:lnSpc>
                <a:spcPct val="115000"/>
              </a:lnSpc>
              <a:buNone/>
            </a:pPr>
            <a:r>
              <a:rPr lang="es-AR" sz="1200" b="1" noProof="0" dirty="0">
                <a:solidFill>
                  <a:srgbClr val="0F2B46"/>
                </a:solidFill>
                <a:latin typeface="Georgia" pitchFamily="34" charset="0"/>
                <a:ea typeface="Georgia" pitchFamily="34" charset="-122"/>
                <a:cs typeface="Georgia" pitchFamily="34" charset="-120"/>
              </a:rPr>
              <a:t>Métodos</a:t>
            </a:r>
            <a:endParaRPr lang="es-AR" sz="1200" noProof="0" dirty="0"/>
          </a:p>
          <a:p>
            <a:pPr marL="0" indent="0" algn="ctr">
              <a:lnSpc>
                <a:spcPct val="115000"/>
              </a:lnSpc>
              <a:buNone/>
            </a:pPr>
            <a:r>
              <a:rPr lang="es-AR" sz="1200" b="1" noProof="0" dirty="0">
                <a:solidFill>
                  <a:srgbClr val="0F2B46"/>
                </a:solidFill>
                <a:latin typeface="Georgia" pitchFamily="34" charset="0"/>
                <a:ea typeface="Georgia" pitchFamily="34" charset="-122"/>
                <a:cs typeface="Georgia" pitchFamily="34" charset="-120"/>
              </a:rPr>
              <a:t>Estadísticos y herramientas cuantitativas</a:t>
            </a:r>
            <a:endParaRPr lang="es-AR" sz="1200" noProof="0" dirty="0"/>
          </a:p>
        </p:txBody>
      </p:sp>
      <p:sp>
        <p:nvSpPr>
          <p:cNvPr id="15" name="Text 13"/>
          <p:cNvSpPr/>
          <p:nvPr/>
        </p:nvSpPr>
        <p:spPr>
          <a:xfrm>
            <a:off x="3931920" y="3291840"/>
            <a:ext cx="2194560" cy="640080"/>
          </a:xfrm>
          <a:prstGeom prst="rect">
            <a:avLst/>
          </a:prstGeom>
          <a:noFill/>
          <a:ln/>
        </p:spPr>
        <p:txBody>
          <a:bodyPr wrap="square" rtlCol="0" anchor="t"/>
          <a:lstStyle/>
          <a:p>
            <a:pPr marL="0" indent="0" algn="ctr">
              <a:lnSpc>
                <a:spcPct val="125000"/>
              </a:lnSpc>
              <a:buNone/>
            </a:pPr>
            <a:r>
              <a:rPr lang="es-AR" sz="1000" noProof="0" dirty="0">
                <a:solidFill>
                  <a:srgbClr val="5A7184"/>
                </a:solidFill>
                <a:latin typeface="Calibri" pitchFamily="34" charset="0"/>
                <a:ea typeface="Calibri" pitchFamily="34" charset="-122"/>
                <a:cs typeface="Calibri" pitchFamily="34" charset="-120"/>
              </a:rPr>
              <a:t>Revisión de los métodos aplicados y resultados preliminares</a:t>
            </a:r>
            <a:endParaRPr lang="es-AR" sz="1000" noProof="0" dirty="0"/>
          </a:p>
        </p:txBody>
      </p:sp>
      <p:sp>
        <p:nvSpPr>
          <p:cNvPr id="16" name="Shape 14"/>
          <p:cNvSpPr/>
          <p:nvPr/>
        </p:nvSpPr>
        <p:spPr>
          <a:xfrm>
            <a:off x="7498080" y="1508760"/>
            <a:ext cx="914400" cy="914400"/>
          </a:xfrm>
          <a:prstGeom prst="ellipse">
            <a:avLst/>
          </a:prstGeom>
          <a:solidFill>
            <a:srgbClr val="1A6B8A"/>
          </a:solidFill>
          <a:ln/>
          <a:effectLst>
            <a:outerShdw blurRad="76200" dist="25400" dir="8100000" algn="bl" rotWithShape="0">
              <a:srgbClr val="000000">
                <a:alpha val="12000"/>
              </a:srgbClr>
            </a:outerShdw>
          </a:effectLst>
        </p:spPr>
        <p:txBody>
          <a:bodyPr/>
          <a:lstStyle/>
          <a:p>
            <a:endParaRPr lang="es-AR" noProof="0" dirty="0"/>
          </a:p>
        </p:txBody>
      </p:sp>
      <p:sp>
        <p:nvSpPr>
          <p:cNvPr id="17" name="Text 15"/>
          <p:cNvSpPr/>
          <p:nvPr/>
        </p:nvSpPr>
        <p:spPr>
          <a:xfrm>
            <a:off x="749808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3</a:t>
            </a:r>
            <a:endParaRPr lang="es-AR" sz="2600" noProof="0" dirty="0"/>
          </a:p>
        </p:txBody>
      </p:sp>
      <p:sp>
        <p:nvSpPr>
          <p:cNvPr id="18" name="Text 16"/>
          <p:cNvSpPr/>
          <p:nvPr/>
        </p:nvSpPr>
        <p:spPr>
          <a:xfrm>
            <a:off x="6858000" y="2514600"/>
            <a:ext cx="2194560" cy="502920"/>
          </a:xfrm>
          <a:prstGeom prst="rect">
            <a:avLst/>
          </a:prstGeom>
          <a:noFill/>
          <a:ln/>
        </p:spPr>
        <p:txBody>
          <a:bodyPr wrap="square" lIns="0" tIns="0" rIns="0" bIns="0" rtlCol="0" anchor="ctr"/>
          <a:lstStyle/>
          <a:p>
            <a:pPr marL="0" indent="0" algn="ctr">
              <a:lnSpc>
                <a:spcPct val="115000"/>
              </a:lnSpc>
              <a:buNone/>
            </a:pPr>
            <a:r>
              <a:rPr lang="es-AR" sz="1200" b="1" noProof="0" dirty="0">
                <a:solidFill>
                  <a:srgbClr val="0F2B46"/>
                </a:solidFill>
                <a:latin typeface="Georgia" pitchFamily="34" charset="0"/>
                <a:ea typeface="Georgia" pitchFamily="34" charset="-122"/>
                <a:cs typeface="Georgia" pitchFamily="34" charset="-120"/>
              </a:rPr>
              <a:t>Visualizaciones</a:t>
            </a:r>
            <a:endParaRPr lang="es-AR" sz="1200" noProof="0" dirty="0"/>
          </a:p>
        </p:txBody>
      </p:sp>
      <p:sp>
        <p:nvSpPr>
          <p:cNvPr id="20" name="Text 18"/>
          <p:cNvSpPr/>
          <p:nvPr/>
        </p:nvSpPr>
        <p:spPr>
          <a:xfrm>
            <a:off x="6858000" y="3291840"/>
            <a:ext cx="2194560" cy="640080"/>
          </a:xfrm>
          <a:prstGeom prst="rect">
            <a:avLst/>
          </a:prstGeom>
          <a:noFill/>
          <a:ln/>
        </p:spPr>
        <p:txBody>
          <a:bodyPr wrap="square" rtlCol="0" anchor="t"/>
          <a:lstStyle/>
          <a:p>
            <a:pPr marL="0" indent="0" algn="ctr">
              <a:lnSpc>
                <a:spcPct val="125000"/>
              </a:lnSpc>
              <a:buNone/>
            </a:pPr>
            <a:r>
              <a:rPr lang="es-AR" sz="1000" noProof="0" dirty="0">
                <a:solidFill>
                  <a:srgbClr val="5A7184"/>
                </a:solidFill>
                <a:latin typeface="Calibri" pitchFamily="34" charset="0"/>
                <a:ea typeface="Calibri" pitchFamily="34" charset="-122"/>
                <a:cs typeface="Calibri" pitchFamily="34" charset="-120"/>
              </a:rPr>
              <a:t>Validación y corrección de las visualizaciones del trabajo</a:t>
            </a:r>
            <a:endParaRPr lang="es-AR" sz="1000" noProof="0" dirty="0"/>
          </a:p>
        </p:txBody>
      </p:sp>
      <p:sp>
        <p:nvSpPr>
          <p:cNvPr id="21" name="Shape 19"/>
          <p:cNvSpPr/>
          <p:nvPr/>
        </p:nvSpPr>
        <p:spPr>
          <a:xfrm>
            <a:off x="1371600" y="4023360"/>
            <a:ext cx="6400800" cy="502920"/>
          </a:xfrm>
          <a:prstGeom prst="rect">
            <a:avLst/>
          </a:prstGeom>
          <a:solidFill>
            <a:srgbClr val="0F2B46"/>
          </a:solidFill>
          <a:ln/>
          <a:effectLst>
            <a:outerShdw blurRad="76200" dist="25400" dir="8100000" algn="bl" rotWithShape="0">
              <a:srgbClr val="000000">
                <a:alpha val="12000"/>
              </a:srgbClr>
            </a:outerShdw>
          </a:effectLst>
        </p:spPr>
        <p:txBody>
          <a:bodyPr/>
          <a:lstStyle/>
          <a:p>
            <a:endParaRPr lang="es-AR" noProof="0" dirty="0"/>
          </a:p>
        </p:txBody>
      </p:sp>
      <p:sp>
        <p:nvSpPr>
          <p:cNvPr id="22" name="Text 20"/>
          <p:cNvSpPr/>
          <p:nvPr/>
        </p:nvSpPr>
        <p:spPr>
          <a:xfrm>
            <a:off x="1371600" y="4023360"/>
            <a:ext cx="6400800" cy="502920"/>
          </a:xfrm>
          <a:prstGeom prst="rect">
            <a:avLst/>
          </a:prstGeom>
          <a:noFill/>
          <a:ln/>
        </p:spPr>
        <p:txBody>
          <a:bodyPr wrap="square" lIns="0" tIns="0" rIns="0" bIns="0" rtlCol="0" anchor="ctr"/>
          <a:lstStyle/>
          <a:p>
            <a:pPr marL="0" indent="0" algn="ctr">
              <a:buNone/>
            </a:pPr>
            <a:r>
              <a:rPr lang="es-AR" sz="1400" b="1" noProof="0" dirty="0">
                <a:solidFill>
                  <a:srgbClr val="FFFFFF"/>
                </a:solidFill>
                <a:latin typeface="Georgia" pitchFamily="34" charset="0"/>
                <a:ea typeface="Georgia" pitchFamily="34" charset="-122"/>
                <a:cs typeface="Georgia" pitchFamily="34" charset="-120"/>
              </a:rPr>
              <a:t>Entrega Final del Trabajo Práctico + Presentación oral</a:t>
            </a:r>
            <a:endParaRPr lang="es-AR" sz="1400" noProof="0" dirty="0"/>
          </a:p>
        </p:txBody>
      </p:sp>
      <p:sp>
        <p:nvSpPr>
          <p:cNvPr id="23" name="Shape 21"/>
          <p:cNvSpPr/>
          <p:nvPr/>
        </p:nvSpPr>
        <p:spPr>
          <a:xfrm>
            <a:off x="0" y="4709160"/>
            <a:ext cx="9144000" cy="434340"/>
          </a:xfrm>
          <a:prstGeom prst="rect">
            <a:avLst/>
          </a:prstGeom>
          <a:solidFill>
            <a:srgbClr val="0F2B46"/>
          </a:solidFill>
          <a:ln/>
        </p:spPr>
        <p:txBody>
          <a:bodyPr/>
          <a:lstStyle/>
          <a:p>
            <a:endParaRPr lang="es-AR" noProof="0" dirty="0"/>
          </a:p>
        </p:txBody>
      </p:sp>
      <p:sp>
        <p:nvSpPr>
          <p:cNvPr id="24" name="Text 22"/>
          <p:cNvSpPr/>
          <p:nvPr/>
        </p:nvSpPr>
        <p:spPr>
          <a:xfrm>
            <a:off x="457200" y="4709160"/>
            <a:ext cx="8229600" cy="434340"/>
          </a:xfrm>
          <a:prstGeom prst="rect">
            <a:avLst/>
          </a:prstGeom>
          <a:noFill/>
          <a:ln/>
        </p:spPr>
        <p:txBody>
          <a:bodyPr wrap="square" lIns="0" tIns="0" rIns="0" bIns="0" rtlCol="0" anchor="ctr"/>
          <a:lstStyle/>
          <a:p>
            <a:pPr algn="ct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 </a:t>
            </a:r>
            <a:r>
              <a:rPr lang="es-AR" sz="850" dirty="0">
                <a:solidFill>
                  <a:srgbClr val="7FA8C4"/>
                </a:solidFill>
                <a:latin typeface="Calibri" pitchFamily="34" charset="0"/>
                <a:ea typeface="Calibri" pitchFamily="34" charset="-122"/>
                <a:cs typeface="Calibri" pitchFamily="34" charset="-120"/>
              </a:rPr>
              <a:t>y Maida Beltrán</a:t>
            </a:r>
            <a:endParaRPr lang="es-AR" sz="850" noProof="0" dirty="0"/>
          </a:p>
        </p:txBody>
      </p:sp>
      <p:sp>
        <p:nvSpPr>
          <p:cNvPr id="25" name="Text 23"/>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8 / 11</a:t>
            </a:r>
            <a:endParaRPr lang="es-AR" sz="800" noProof="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4EA65-3B83-7DBF-50B1-50619BAE191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8EAD2C8-EB76-A6FE-884D-B52EEFDC6B3F}"/>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73A8925F-4B97-F3B6-6902-AC19DE3C429D}"/>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Método de Evaluación</a:t>
            </a:r>
            <a:endParaRPr lang="es-AR" sz="3000" noProof="0" dirty="0"/>
          </a:p>
        </p:txBody>
      </p:sp>
      <p:sp>
        <p:nvSpPr>
          <p:cNvPr id="7" name="Text 5">
            <a:extLst>
              <a:ext uri="{FF2B5EF4-FFF2-40B4-BE49-F238E27FC236}">
                <a16:creationId xmlns:a16="http://schemas.microsoft.com/office/drawing/2014/main" id="{AF5D82B4-6E77-2A79-8609-68BD5CA4A631}"/>
              </a:ext>
            </a:extLst>
          </p:cNvPr>
          <p:cNvSpPr/>
          <p:nvPr/>
        </p:nvSpPr>
        <p:spPr>
          <a:xfrm>
            <a:off x="164592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1</a:t>
            </a:r>
            <a:endParaRPr lang="es-AR" sz="2600" noProof="0" dirty="0"/>
          </a:p>
        </p:txBody>
      </p:sp>
      <p:sp>
        <p:nvSpPr>
          <p:cNvPr id="12" name="Text 10">
            <a:extLst>
              <a:ext uri="{FF2B5EF4-FFF2-40B4-BE49-F238E27FC236}">
                <a16:creationId xmlns:a16="http://schemas.microsoft.com/office/drawing/2014/main" id="{D9D1BC4A-EA4B-3199-92BE-849802A5AF9C}"/>
              </a:ext>
            </a:extLst>
          </p:cNvPr>
          <p:cNvSpPr/>
          <p:nvPr/>
        </p:nvSpPr>
        <p:spPr>
          <a:xfrm>
            <a:off x="457200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2</a:t>
            </a:r>
            <a:endParaRPr lang="es-AR" sz="2600" noProof="0" dirty="0"/>
          </a:p>
        </p:txBody>
      </p:sp>
      <p:sp>
        <p:nvSpPr>
          <p:cNvPr id="17" name="Text 15">
            <a:extLst>
              <a:ext uri="{FF2B5EF4-FFF2-40B4-BE49-F238E27FC236}">
                <a16:creationId xmlns:a16="http://schemas.microsoft.com/office/drawing/2014/main" id="{018AA83A-96B0-1DD0-CA8A-D0638EA9DDE1}"/>
              </a:ext>
            </a:extLst>
          </p:cNvPr>
          <p:cNvSpPr/>
          <p:nvPr/>
        </p:nvSpPr>
        <p:spPr>
          <a:xfrm>
            <a:off x="749808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3</a:t>
            </a:r>
            <a:endParaRPr lang="es-AR" sz="2600" noProof="0" dirty="0"/>
          </a:p>
        </p:txBody>
      </p:sp>
      <p:sp>
        <p:nvSpPr>
          <p:cNvPr id="23" name="Shape 21">
            <a:extLst>
              <a:ext uri="{FF2B5EF4-FFF2-40B4-BE49-F238E27FC236}">
                <a16:creationId xmlns:a16="http://schemas.microsoft.com/office/drawing/2014/main" id="{FFE99393-3FF8-1C9F-D0A0-6E6A1AFA6920}"/>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4" name="Text 22">
            <a:extLst>
              <a:ext uri="{FF2B5EF4-FFF2-40B4-BE49-F238E27FC236}">
                <a16:creationId xmlns:a16="http://schemas.microsoft.com/office/drawing/2014/main" id="{2DF34707-6C29-79C9-41DE-D464DFEF38EC}"/>
              </a:ext>
            </a:extLst>
          </p:cNvPr>
          <p:cNvSpPr/>
          <p:nvPr/>
        </p:nvSpPr>
        <p:spPr>
          <a:xfrm>
            <a:off x="457200" y="4709160"/>
            <a:ext cx="8229600" cy="434340"/>
          </a:xfrm>
          <a:prstGeom prst="rect">
            <a:avLst/>
          </a:prstGeom>
          <a:noFill/>
          <a:ln/>
        </p:spPr>
        <p:txBody>
          <a:bodyPr wrap="square" lIns="0" tIns="0" rIns="0" bIns="0" rtlCol="0" anchor="ctr"/>
          <a:lstStyle/>
          <a:p>
            <a:pPr algn="ct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 </a:t>
            </a:r>
            <a:r>
              <a:rPr lang="es-AR" sz="850" dirty="0">
                <a:solidFill>
                  <a:srgbClr val="7FA8C4"/>
                </a:solidFill>
                <a:latin typeface="Calibri" pitchFamily="34" charset="0"/>
                <a:ea typeface="Calibri" pitchFamily="34" charset="-122"/>
                <a:cs typeface="Calibri" pitchFamily="34" charset="-120"/>
              </a:rPr>
              <a:t>y Maida Beltrán</a:t>
            </a:r>
            <a:endParaRPr lang="es-AR" sz="850" noProof="0" dirty="0"/>
          </a:p>
        </p:txBody>
      </p:sp>
      <p:sp>
        <p:nvSpPr>
          <p:cNvPr id="25" name="Text 23">
            <a:extLst>
              <a:ext uri="{FF2B5EF4-FFF2-40B4-BE49-F238E27FC236}">
                <a16:creationId xmlns:a16="http://schemas.microsoft.com/office/drawing/2014/main" id="{7352D23D-9041-FB0B-8C42-6888D3F4A091}"/>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8 / 11</a:t>
            </a:r>
            <a:endParaRPr lang="es-AR" sz="800" noProof="0" dirty="0"/>
          </a:p>
        </p:txBody>
      </p:sp>
      <p:sp>
        <p:nvSpPr>
          <p:cNvPr id="26" name="CuadroTexto 25">
            <a:extLst>
              <a:ext uri="{FF2B5EF4-FFF2-40B4-BE49-F238E27FC236}">
                <a16:creationId xmlns:a16="http://schemas.microsoft.com/office/drawing/2014/main" id="{6EABDB8A-8100-28FA-2175-7E6270D80882}"/>
              </a:ext>
            </a:extLst>
          </p:cNvPr>
          <p:cNvSpPr txBox="1"/>
          <p:nvPr/>
        </p:nvSpPr>
        <p:spPr>
          <a:xfrm>
            <a:off x="298383" y="933651"/>
            <a:ext cx="8388417" cy="3077766"/>
          </a:xfrm>
          <a:prstGeom prst="rect">
            <a:avLst/>
          </a:prstGeom>
          <a:noFill/>
        </p:spPr>
        <p:txBody>
          <a:bodyPr wrap="square" rtlCol="0">
            <a:spAutoFit/>
          </a:bodyPr>
          <a:lstStyle/>
          <a:p>
            <a:r>
              <a:rPr lang="es-ES" b="1" dirty="0"/>
              <a:t>¿En qué consiste el TP? </a:t>
            </a:r>
          </a:p>
          <a:p>
            <a:endParaRPr lang="es-ES" dirty="0"/>
          </a:p>
          <a:p>
            <a:r>
              <a:rPr lang="es-ES" sz="1400" dirty="0"/>
              <a:t>Durante toda la cursada van a trabajar sobre una base de datos que podrán optar de un listado de varias disponibles. Tendrán que formular una hipótesis de trabajo, interiorizarse en el tema, pensar una estrategia para trabajar la hipótesis que tengan o lo que ustedes quieren mostrar y visualizar los resultados. </a:t>
            </a:r>
          </a:p>
          <a:p>
            <a:endParaRPr lang="es-ES" sz="1400" dirty="0"/>
          </a:p>
          <a:p>
            <a:r>
              <a:rPr lang="es-ES" sz="1400" dirty="0"/>
              <a:t>El objetivo es que puedan atravesar el camino desde la formulación de la idea hasta el armado de una presentación con los criterios de </a:t>
            </a:r>
            <a:r>
              <a:rPr lang="es-ES" sz="1400" dirty="0" err="1"/>
              <a:t>storytelling</a:t>
            </a:r>
            <a:r>
              <a:rPr lang="es-ES" sz="1400" dirty="0"/>
              <a:t> que veamos. </a:t>
            </a:r>
          </a:p>
          <a:p>
            <a:endParaRPr lang="es-ES" sz="1400" dirty="0"/>
          </a:p>
          <a:p>
            <a:r>
              <a:rPr lang="es-ES" sz="1400" dirty="0"/>
              <a:t>La presentación se acompañará de los códigos y el esquema de archivos/carpetas (que deberán ser cargados a </a:t>
            </a:r>
            <a:r>
              <a:rPr lang="es-ES" sz="1400" dirty="0" err="1"/>
              <a:t>Github</a:t>
            </a:r>
            <a:r>
              <a:rPr lang="es-ES" sz="1400" dirty="0"/>
              <a:t>)</a:t>
            </a:r>
          </a:p>
          <a:p>
            <a:endParaRPr lang="es-ES" sz="1400" dirty="0"/>
          </a:p>
          <a:p>
            <a:r>
              <a:rPr lang="es-ES" sz="1400" dirty="0"/>
              <a:t>Los grupos serán de dos o tres personas, sin excepciones.  </a:t>
            </a:r>
            <a:r>
              <a:rPr lang="es-ES" dirty="0"/>
              <a:t>  </a:t>
            </a:r>
          </a:p>
        </p:txBody>
      </p:sp>
    </p:spTree>
    <p:extLst>
      <p:ext uri="{BB962C8B-B14F-4D97-AF65-F5344CB8AC3E}">
        <p14:creationId xmlns:p14="http://schemas.microsoft.com/office/powerpoint/2010/main" val="1944267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0BC8B-FB84-8B38-490A-E316231C2A8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A701F8D-E17B-63E1-2ED7-1A3E40EEA9BD}"/>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B2D63FEB-9F7E-3AB0-EB71-D233D662771A}"/>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3000" b="1" noProof="0" dirty="0">
                <a:solidFill>
                  <a:srgbClr val="0F2B46"/>
                </a:solidFill>
                <a:latin typeface="Georgia" pitchFamily="34" charset="0"/>
                <a:ea typeface="Georgia" pitchFamily="34" charset="-122"/>
                <a:cs typeface="Georgia" pitchFamily="34" charset="-120"/>
              </a:rPr>
              <a:t>Método de Evaluación</a:t>
            </a:r>
            <a:endParaRPr lang="es-AR" sz="3000" noProof="0" dirty="0"/>
          </a:p>
        </p:txBody>
      </p:sp>
      <p:sp>
        <p:nvSpPr>
          <p:cNvPr id="7" name="Text 5">
            <a:extLst>
              <a:ext uri="{FF2B5EF4-FFF2-40B4-BE49-F238E27FC236}">
                <a16:creationId xmlns:a16="http://schemas.microsoft.com/office/drawing/2014/main" id="{52A21065-0D91-92A1-93F1-A8DCDE76259C}"/>
              </a:ext>
            </a:extLst>
          </p:cNvPr>
          <p:cNvSpPr/>
          <p:nvPr/>
        </p:nvSpPr>
        <p:spPr>
          <a:xfrm>
            <a:off x="164592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1</a:t>
            </a:r>
            <a:endParaRPr lang="es-AR" sz="2600" noProof="0" dirty="0"/>
          </a:p>
        </p:txBody>
      </p:sp>
      <p:sp>
        <p:nvSpPr>
          <p:cNvPr id="12" name="Text 10">
            <a:extLst>
              <a:ext uri="{FF2B5EF4-FFF2-40B4-BE49-F238E27FC236}">
                <a16:creationId xmlns:a16="http://schemas.microsoft.com/office/drawing/2014/main" id="{F8E2859C-DB34-740B-1D5D-EE7E213CFD58}"/>
              </a:ext>
            </a:extLst>
          </p:cNvPr>
          <p:cNvSpPr/>
          <p:nvPr/>
        </p:nvSpPr>
        <p:spPr>
          <a:xfrm>
            <a:off x="457200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2</a:t>
            </a:r>
            <a:endParaRPr lang="es-AR" sz="2600" noProof="0" dirty="0"/>
          </a:p>
        </p:txBody>
      </p:sp>
      <p:sp>
        <p:nvSpPr>
          <p:cNvPr id="17" name="Text 15">
            <a:extLst>
              <a:ext uri="{FF2B5EF4-FFF2-40B4-BE49-F238E27FC236}">
                <a16:creationId xmlns:a16="http://schemas.microsoft.com/office/drawing/2014/main" id="{4108EA2B-989D-93CE-34FE-A6B24F017B78}"/>
              </a:ext>
            </a:extLst>
          </p:cNvPr>
          <p:cNvSpPr/>
          <p:nvPr/>
        </p:nvSpPr>
        <p:spPr>
          <a:xfrm>
            <a:off x="7498080" y="1508760"/>
            <a:ext cx="914400" cy="914400"/>
          </a:xfrm>
          <a:prstGeom prst="rect">
            <a:avLst/>
          </a:prstGeom>
          <a:noFill/>
          <a:ln/>
        </p:spPr>
        <p:txBody>
          <a:bodyPr wrap="square" lIns="0" tIns="0" rIns="0" bIns="0" rtlCol="0" anchor="ctr"/>
          <a:lstStyle/>
          <a:p>
            <a:pPr marL="0" indent="0" algn="ctr">
              <a:buNone/>
            </a:pPr>
            <a:r>
              <a:rPr lang="es-AR" sz="2600" b="1" noProof="0" dirty="0">
                <a:solidFill>
                  <a:srgbClr val="FFFFFF"/>
                </a:solidFill>
                <a:latin typeface="Georgia" pitchFamily="34" charset="0"/>
                <a:ea typeface="Georgia" pitchFamily="34" charset="-122"/>
                <a:cs typeface="Georgia" pitchFamily="34" charset="-120"/>
              </a:rPr>
              <a:t>3</a:t>
            </a:r>
            <a:endParaRPr lang="es-AR" sz="2600" noProof="0" dirty="0"/>
          </a:p>
        </p:txBody>
      </p:sp>
      <p:sp>
        <p:nvSpPr>
          <p:cNvPr id="23" name="Shape 21">
            <a:extLst>
              <a:ext uri="{FF2B5EF4-FFF2-40B4-BE49-F238E27FC236}">
                <a16:creationId xmlns:a16="http://schemas.microsoft.com/office/drawing/2014/main" id="{7E6FDB11-B1DE-559A-B0C0-81C80D247AA6}"/>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24" name="Text 22">
            <a:extLst>
              <a:ext uri="{FF2B5EF4-FFF2-40B4-BE49-F238E27FC236}">
                <a16:creationId xmlns:a16="http://schemas.microsoft.com/office/drawing/2014/main" id="{1608083B-8A6B-06E5-5C92-D7085FDD182D}"/>
              </a:ext>
            </a:extLst>
          </p:cNvPr>
          <p:cNvSpPr/>
          <p:nvPr/>
        </p:nvSpPr>
        <p:spPr>
          <a:xfrm>
            <a:off x="457200" y="4709160"/>
            <a:ext cx="8229600" cy="434340"/>
          </a:xfrm>
          <a:prstGeom prst="rect">
            <a:avLst/>
          </a:prstGeom>
          <a:noFill/>
          <a:ln/>
        </p:spPr>
        <p:txBody>
          <a:bodyPr wrap="square" lIns="0" tIns="0" rIns="0" bIns="0" rtlCol="0" anchor="ctr"/>
          <a:lstStyle/>
          <a:p>
            <a:pPr algn="ct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 </a:t>
            </a:r>
            <a:r>
              <a:rPr lang="es-AR" sz="850" dirty="0">
                <a:solidFill>
                  <a:srgbClr val="7FA8C4"/>
                </a:solidFill>
                <a:latin typeface="Calibri" pitchFamily="34" charset="0"/>
                <a:ea typeface="Calibri" pitchFamily="34" charset="-122"/>
                <a:cs typeface="Calibri" pitchFamily="34" charset="-120"/>
              </a:rPr>
              <a:t>y Maida Beltrán</a:t>
            </a:r>
            <a:endParaRPr lang="es-AR" sz="850" noProof="0" dirty="0"/>
          </a:p>
        </p:txBody>
      </p:sp>
      <p:sp>
        <p:nvSpPr>
          <p:cNvPr id="25" name="Text 23">
            <a:extLst>
              <a:ext uri="{FF2B5EF4-FFF2-40B4-BE49-F238E27FC236}">
                <a16:creationId xmlns:a16="http://schemas.microsoft.com/office/drawing/2014/main" id="{6F3E7AC5-2AEC-787F-D2C3-F5A60C2B1425}"/>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8 / 11</a:t>
            </a:r>
            <a:endParaRPr lang="es-AR" sz="800" noProof="0" dirty="0"/>
          </a:p>
        </p:txBody>
      </p:sp>
      <p:sp>
        <p:nvSpPr>
          <p:cNvPr id="26" name="CuadroTexto 25">
            <a:extLst>
              <a:ext uri="{FF2B5EF4-FFF2-40B4-BE49-F238E27FC236}">
                <a16:creationId xmlns:a16="http://schemas.microsoft.com/office/drawing/2014/main" id="{6D873BD7-C2D2-71DB-A3C7-BD4311CE8B63}"/>
              </a:ext>
            </a:extLst>
          </p:cNvPr>
          <p:cNvSpPr txBox="1"/>
          <p:nvPr/>
        </p:nvSpPr>
        <p:spPr>
          <a:xfrm>
            <a:off x="298383" y="933651"/>
            <a:ext cx="8388417" cy="3508653"/>
          </a:xfrm>
          <a:prstGeom prst="rect">
            <a:avLst/>
          </a:prstGeom>
          <a:noFill/>
        </p:spPr>
        <p:txBody>
          <a:bodyPr wrap="square" rtlCol="0">
            <a:spAutoFit/>
          </a:bodyPr>
          <a:lstStyle/>
          <a:p>
            <a:r>
              <a:rPr lang="es-ES" b="1" dirty="0"/>
              <a:t>Forma de calificación </a:t>
            </a:r>
          </a:p>
          <a:p>
            <a:endParaRPr lang="es-ES" dirty="0"/>
          </a:p>
          <a:p>
            <a:r>
              <a:rPr lang="es-ES" sz="1400" dirty="0"/>
              <a:t>La nota final de la materia consistirá en </a:t>
            </a:r>
          </a:p>
          <a:p>
            <a:pPr marL="285750" indent="-285750">
              <a:buFontTx/>
              <a:buChar char="-"/>
            </a:pPr>
            <a:r>
              <a:rPr lang="es-ES" sz="1400" dirty="0"/>
              <a:t>30% de las entregas intermedias (10%, 10% y 10%)</a:t>
            </a:r>
          </a:p>
          <a:p>
            <a:pPr marL="285750" indent="-285750">
              <a:buFontTx/>
              <a:buChar char="-"/>
            </a:pPr>
            <a:r>
              <a:rPr lang="es-ES" sz="1400" dirty="0"/>
              <a:t>70% la entrega final + presentación. </a:t>
            </a:r>
          </a:p>
          <a:p>
            <a:endParaRPr lang="es-ES" sz="1400" dirty="0"/>
          </a:p>
          <a:p>
            <a:r>
              <a:rPr lang="es-ES" sz="1400" dirty="0"/>
              <a:t>Todas las entregas son obligatorias y deben estar aprobadas. </a:t>
            </a:r>
          </a:p>
          <a:p>
            <a:r>
              <a:rPr lang="es-ES" sz="1400" dirty="0"/>
              <a:t>En caso de que los estudiantes realicen un envío no aprobado, tendrán la posibilidad de recuperarlo (solo una de las tres instancias intermedias).</a:t>
            </a:r>
          </a:p>
          <a:p>
            <a:r>
              <a:rPr lang="es-ES" sz="1400" dirty="0"/>
              <a:t>La instancia 1 y 2 son incrementales: deberá ser la misma presentación con más información (lo que corresponda a la segunda instancia) y con las modificaciones sugeridas por los docentes en la primera instancia. </a:t>
            </a:r>
          </a:p>
          <a:p>
            <a:endParaRPr lang="es-ES" sz="1400" dirty="0"/>
          </a:p>
          <a:p>
            <a:r>
              <a:rPr lang="es-ES" sz="1400" dirty="0"/>
              <a:t>La presentación tiene por objetivo que los estudiantes practiquen una instancia clave en su práctica profesional que es la defensa del trabajo realizado. Se preguntará sobre por qué tomaron tal decisión, sobre temas dejados de lado, el cómo se realizó, etc.  </a:t>
            </a:r>
            <a:r>
              <a:rPr lang="es-ES" dirty="0"/>
              <a:t> </a:t>
            </a:r>
          </a:p>
        </p:txBody>
      </p:sp>
    </p:spTree>
    <p:extLst>
      <p:ext uri="{BB962C8B-B14F-4D97-AF65-F5344CB8AC3E}">
        <p14:creationId xmlns:p14="http://schemas.microsoft.com/office/powerpoint/2010/main" val="504666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F5F8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Text 1"/>
          <p:cNvSpPr/>
          <p:nvPr/>
        </p:nvSpPr>
        <p:spPr>
          <a:xfrm>
            <a:off x="640080" y="228600"/>
            <a:ext cx="7863840" cy="594360"/>
          </a:xfrm>
          <a:prstGeom prst="rect">
            <a:avLst/>
          </a:prstGeom>
          <a:noFill/>
          <a:ln/>
        </p:spPr>
        <p:txBody>
          <a:bodyPr wrap="square" lIns="0" tIns="0" rIns="0" bIns="0" rtlCol="0" anchor="ctr"/>
          <a:lstStyle/>
          <a:p>
            <a:pPr marL="0" indent="0">
              <a:buNone/>
            </a:pPr>
            <a:r>
              <a:rPr lang="es-AR" sz="2600" b="1" noProof="0" dirty="0">
                <a:solidFill>
                  <a:srgbClr val="0F2B46"/>
                </a:solidFill>
                <a:latin typeface="Georgia" pitchFamily="34" charset="0"/>
                <a:ea typeface="Georgia" pitchFamily="34" charset="-122"/>
                <a:cs typeface="Georgia" pitchFamily="34" charset="-120"/>
              </a:rPr>
              <a:t>Dinámica de Clases y Situaciones Extraordinarias</a:t>
            </a:r>
            <a:endParaRPr lang="es-AR" sz="2600" noProof="0" dirty="0"/>
          </a:p>
        </p:txBody>
      </p:sp>
      <p:sp>
        <p:nvSpPr>
          <p:cNvPr id="4" name="Shape 2"/>
          <p:cNvSpPr/>
          <p:nvPr/>
        </p:nvSpPr>
        <p:spPr>
          <a:xfrm>
            <a:off x="640080" y="1051560"/>
            <a:ext cx="3886200" cy="3337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p:cNvSpPr/>
          <p:nvPr/>
        </p:nvSpPr>
        <p:spPr>
          <a:xfrm>
            <a:off x="640080" y="1051560"/>
            <a:ext cx="3886200" cy="54864"/>
          </a:xfrm>
          <a:prstGeom prst="rect">
            <a:avLst/>
          </a:prstGeom>
          <a:solidFill>
            <a:srgbClr val="1A6B8A"/>
          </a:solidFill>
          <a:ln/>
        </p:spPr>
        <p:txBody>
          <a:bodyPr/>
          <a:lstStyle/>
          <a:p>
            <a:endParaRPr lang="es-AR" noProof="0" dirty="0"/>
          </a:p>
        </p:txBody>
      </p:sp>
      <p:sp>
        <p:nvSpPr>
          <p:cNvPr id="6" name="Text 4"/>
          <p:cNvSpPr/>
          <p:nvPr/>
        </p:nvSpPr>
        <p:spPr>
          <a:xfrm>
            <a:off x="868680" y="1234440"/>
            <a:ext cx="3474720" cy="320040"/>
          </a:xfrm>
          <a:prstGeom prst="rect">
            <a:avLst/>
          </a:prstGeom>
          <a:noFill/>
          <a:ln/>
        </p:spPr>
        <p:txBody>
          <a:bodyPr wrap="square" lIns="0" tIns="0" rIns="0" bIns="0" rtlCol="0" anchor="ctr"/>
          <a:lstStyle/>
          <a:p>
            <a:pPr marL="0" indent="0" algn="l">
              <a:buNone/>
            </a:pPr>
            <a:r>
              <a:rPr lang="es-AR" sz="1600" b="1" noProof="0" dirty="0">
                <a:solidFill>
                  <a:srgbClr val="0F2B46"/>
                </a:solidFill>
                <a:latin typeface="Georgia" pitchFamily="34" charset="0"/>
                <a:ea typeface="Georgia" pitchFamily="34" charset="-122"/>
                <a:cs typeface="Georgia" pitchFamily="34" charset="-120"/>
              </a:rPr>
              <a:t>Estructura semanal</a:t>
            </a:r>
            <a:endParaRPr lang="es-AR" sz="1600" noProof="0" dirty="0"/>
          </a:p>
        </p:txBody>
      </p:sp>
      <p:sp>
        <p:nvSpPr>
          <p:cNvPr id="7" name="Shape 5"/>
          <p:cNvSpPr/>
          <p:nvPr/>
        </p:nvSpPr>
        <p:spPr>
          <a:xfrm>
            <a:off x="868680" y="1691640"/>
            <a:ext cx="3429000" cy="1005840"/>
          </a:xfrm>
          <a:prstGeom prst="rect">
            <a:avLst/>
          </a:prstGeom>
          <a:solidFill>
            <a:srgbClr val="D6EAF2">
              <a:alpha val="50000"/>
            </a:srgbClr>
          </a:solidFill>
          <a:ln/>
        </p:spPr>
        <p:txBody>
          <a:bodyPr/>
          <a:lstStyle/>
          <a:p>
            <a:endParaRPr lang="es-AR" noProof="0" dirty="0"/>
          </a:p>
        </p:txBody>
      </p:sp>
      <p:sp>
        <p:nvSpPr>
          <p:cNvPr id="8" name="Text 6"/>
          <p:cNvSpPr/>
          <p:nvPr/>
        </p:nvSpPr>
        <p:spPr>
          <a:xfrm>
            <a:off x="1051560" y="1737360"/>
            <a:ext cx="3017520" cy="274320"/>
          </a:xfrm>
          <a:prstGeom prst="rect">
            <a:avLst/>
          </a:prstGeom>
          <a:noFill/>
          <a:ln/>
        </p:spPr>
        <p:txBody>
          <a:bodyPr wrap="square" lIns="0" tIns="0" rIns="0" bIns="0" rtlCol="0" anchor="ctr"/>
          <a:lstStyle/>
          <a:p>
            <a:pPr marL="0" indent="0" algn="l">
              <a:buNone/>
            </a:pPr>
            <a:r>
              <a:rPr lang="es-AR" sz="1200" b="1" noProof="0" dirty="0">
                <a:solidFill>
                  <a:srgbClr val="1A6B8A"/>
                </a:solidFill>
                <a:latin typeface="Georgia" pitchFamily="34" charset="0"/>
                <a:ea typeface="Georgia" pitchFamily="34" charset="-122"/>
                <a:cs typeface="Georgia" pitchFamily="34" charset="-120"/>
              </a:rPr>
              <a:t>Martes — Clase Presencial</a:t>
            </a:r>
            <a:endParaRPr lang="es-AR" sz="1200" noProof="0" dirty="0"/>
          </a:p>
        </p:txBody>
      </p:sp>
      <p:sp>
        <p:nvSpPr>
          <p:cNvPr id="9" name="Text 7"/>
          <p:cNvSpPr/>
          <p:nvPr/>
        </p:nvSpPr>
        <p:spPr>
          <a:xfrm>
            <a:off x="1051560" y="1999035"/>
            <a:ext cx="3017520" cy="548640"/>
          </a:xfrm>
          <a:prstGeom prst="rect">
            <a:avLst/>
          </a:prstGeom>
          <a:noFill/>
          <a:ln/>
        </p:spPr>
        <p:txBody>
          <a:bodyPr wrap="square" rtlCol="0" anchor="t"/>
          <a:lstStyle/>
          <a:p>
            <a:pPr marL="0" indent="0" algn="l">
              <a:lnSpc>
                <a:spcPct val="130000"/>
              </a:lnSpc>
              <a:buNone/>
            </a:pPr>
            <a:r>
              <a:rPr lang="es-AR" sz="1050" noProof="0" dirty="0">
                <a:solidFill>
                  <a:srgbClr val="5A7184"/>
                </a:solidFill>
                <a:latin typeface="Calibri" pitchFamily="34" charset="0"/>
                <a:ea typeface="Calibri" pitchFamily="34" charset="-122"/>
                <a:cs typeface="Calibri" pitchFamily="34" charset="-120"/>
              </a:rPr>
              <a:t>Contenido teórico y conceptual. Presentación de temas nuevos con ejemplos y discusión.</a:t>
            </a:r>
          </a:p>
          <a:p>
            <a:pPr marL="0" indent="0" algn="l">
              <a:lnSpc>
                <a:spcPct val="130000"/>
              </a:lnSpc>
              <a:buNone/>
            </a:pPr>
            <a:r>
              <a:rPr lang="es-AR" sz="1050" dirty="0">
                <a:solidFill>
                  <a:srgbClr val="5A7184"/>
                </a:solidFill>
                <a:latin typeface="Calibri" pitchFamily="34" charset="0"/>
                <a:cs typeface="Calibri" pitchFamily="34" charset="-120"/>
              </a:rPr>
              <a:t>Alguna clase quizás pido que lleven computadora.</a:t>
            </a:r>
            <a:endParaRPr lang="es-AR" sz="1050" noProof="0" dirty="0"/>
          </a:p>
        </p:txBody>
      </p:sp>
      <p:sp>
        <p:nvSpPr>
          <p:cNvPr id="10" name="Shape 8"/>
          <p:cNvSpPr/>
          <p:nvPr/>
        </p:nvSpPr>
        <p:spPr>
          <a:xfrm>
            <a:off x="868680" y="2834640"/>
            <a:ext cx="3429000" cy="1005840"/>
          </a:xfrm>
          <a:prstGeom prst="rect">
            <a:avLst/>
          </a:prstGeom>
          <a:solidFill>
            <a:srgbClr val="D6EAF2">
              <a:alpha val="50000"/>
            </a:srgbClr>
          </a:solidFill>
          <a:ln/>
        </p:spPr>
        <p:txBody>
          <a:bodyPr/>
          <a:lstStyle/>
          <a:p>
            <a:endParaRPr lang="es-AR" noProof="0" dirty="0"/>
          </a:p>
        </p:txBody>
      </p:sp>
      <p:sp>
        <p:nvSpPr>
          <p:cNvPr id="11" name="Text 9"/>
          <p:cNvSpPr/>
          <p:nvPr/>
        </p:nvSpPr>
        <p:spPr>
          <a:xfrm>
            <a:off x="1051560" y="2880360"/>
            <a:ext cx="3017520" cy="274320"/>
          </a:xfrm>
          <a:prstGeom prst="rect">
            <a:avLst/>
          </a:prstGeom>
          <a:noFill/>
          <a:ln/>
        </p:spPr>
        <p:txBody>
          <a:bodyPr wrap="square" lIns="0" tIns="0" rIns="0" bIns="0" rtlCol="0" anchor="ctr"/>
          <a:lstStyle/>
          <a:p>
            <a:pPr marL="0" indent="0" algn="l">
              <a:buNone/>
            </a:pPr>
            <a:r>
              <a:rPr lang="es-AR" sz="1200" b="1" noProof="0" dirty="0">
                <a:solidFill>
                  <a:srgbClr val="1A6B8A"/>
                </a:solidFill>
                <a:latin typeface="Georgia" pitchFamily="34" charset="0"/>
                <a:ea typeface="Georgia" pitchFamily="34" charset="-122"/>
                <a:cs typeface="Georgia" pitchFamily="34" charset="-120"/>
              </a:rPr>
              <a:t>Viernes — Clase Virtual</a:t>
            </a:r>
            <a:endParaRPr lang="es-AR" sz="1200" noProof="0" dirty="0"/>
          </a:p>
        </p:txBody>
      </p:sp>
      <p:sp>
        <p:nvSpPr>
          <p:cNvPr id="12" name="Text 10"/>
          <p:cNvSpPr/>
          <p:nvPr/>
        </p:nvSpPr>
        <p:spPr>
          <a:xfrm>
            <a:off x="1051560" y="3200400"/>
            <a:ext cx="3017520" cy="548640"/>
          </a:xfrm>
          <a:prstGeom prst="rect">
            <a:avLst/>
          </a:prstGeom>
          <a:noFill/>
          <a:ln/>
        </p:spPr>
        <p:txBody>
          <a:bodyPr wrap="square" rtlCol="0" anchor="t"/>
          <a:lstStyle/>
          <a:p>
            <a:pPr marL="0" indent="0" algn="l">
              <a:lnSpc>
                <a:spcPct val="130000"/>
              </a:lnSpc>
              <a:buNone/>
            </a:pPr>
            <a:r>
              <a:rPr lang="es-AR" sz="1050" noProof="0" dirty="0">
                <a:solidFill>
                  <a:srgbClr val="5A7184"/>
                </a:solidFill>
                <a:latin typeface="Calibri" pitchFamily="34" charset="0"/>
                <a:ea typeface="Calibri" pitchFamily="34" charset="-122"/>
                <a:cs typeface="Calibri" pitchFamily="34" charset="-120"/>
              </a:rPr>
              <a:t>Práctica en R: aplicación directa del tema visto el martes. Programación y ejercicios.</a:t>
            </a:r>
            <a:endParaRPr lang="es-AR" sz="1050" noProof="0" dirty="0"/>
          </a:p>
        </p:txBody>
      </p:sp>
      <p:sp>
        <p:nvSpPr>
          <p:cNvPr id="13" name="Shape 11"/>
          <p:cNvSpPr/>
          <p:nvPr/>
        </p:nvSpPr>
        <p:spPr>
          <a:xfrm>
            <a:off x="4800600" y="1051560"/>
            <a:ext cx="3703320" cy="3337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4" name="Shape 12"/>
          <p:cNvSpPr/>
          <p:nvPr/>
        </p:nvSpPr>
        <p:spPr>
          <a:xfrm>
            <a:off x="4800600" y="1051560"/>
            <a:ext cx="3703320" cy="54864"/>
          </a:xfrm>
          <a:prstGeom prst="rect">
            <a:avLst/>
          </a:prstGeom>
          <a:solidFill>
            <a:srgbClr val="E8963E"/>
          </a:solidFill>
          <a:ln/>
        </p:spPr>
        <p:txBody>
          <a:bodyPr/>
          <a:lstStyle/>
          <a:p>
            <a:endParaRPr lang="es-AR" noProof="0" dirty="0"/>
          </a:p>
        </p:txBody>
      </p:sp>
      <p:pic>
        <p:nvPicPr>
          <p:cNvPr id="15" name="Image 0" descr="preencoded.png"/>
          <p:cNvPicPr>
            <a:picLocks noChangeAspect="1"/>
          </p:cNvPicPr>
          <p:nvPr/>
        </p:nvPicPr>
        <p:blipFill>
          <a:blip r:embed="rId3"/>
          <a:stretch>
            <a:fillRect/>
          </a:stretch>
        </p:blipFill>
        <p:spPr>
          <a:xfrm>
            <a:off x="5029200" y="1280160"/>
            <a:ext cx="320040" cy="320040"/>
          </a:xfrm>
          <a:prstGeom prst="rect">
            <a:avLst/>
          </a:prstGeom>
        </p:spPr>
      </p:pic>
      <p:sp>
        <p:nvSpPr>
          <p:cNvPr id="16" name="Text 13"/>
          <p:cNvSpPr/>
          <p:nvPr/>
        </p:nvSpPr>
        <p:spPr>
          <a:xfrm>
            <a:off x="5440680" y="1234440"/>
            <a:ext cx="2834640" cy="457200"/>
          </a:xfrm>
          <a:prstGeom prst="rect">
            <a:avLst/>
          </a:prstGeom>
          <a:noFill/>
          <a:ln/>
        </p:spPr>
        <p:txBody>
          <a:bodyPr wrap="square" lIns="0" tIns="0" rIns="0" bIns="0" rtlCol="0" anchor="ctr"/>
          <a:lstStyle/>
          <a:p>
            <a:pPr marL="0" indent="0" algn="l">
              <a:lnSpc>
                <a:spcPct val="115000"/>
              </a:lnSpc>
              <a:buNone/>
            </a:pPr>
            <a:r>
              <a:rPr lang="es-AR" sz="1400" b="1" noProof="0" dirty="0">
                <a:solidFill>
                  <a:srgbClr val="0F2B46"/>
                </a:solidFill>
                <a:latin typeface="Georgia" pitchFamily="34" charset="0"/>
                <a:ea typeface="Georgia" pitchFamily="34" charset="-122"/>
                <a:cs typeface="Georgia" pitchFamily="34" charset="-120"/>
              </a:rPr>
              <a:t>Ante paros y situaciones</a:t>
            </a:r>
            <a:endParaRPr lang="es-AR" sz="1400" noProof="0" dirty="0"/>
          </a:p>
          <a:p>
            <a:pPr marL="0" indent="0" algn="l">
              <a:lnSpc>
                <a:spcPct val="115000"/>
              </a:lnSpc>
              <a:buNone/>
            </a:pPr>
            <a:r>
              <a:rPr lang="es-AR" sz="1400" b="1" noProof="0" dirty="0">
                <a:solidFill>
                  <a:srgbClr val="0F2B46"/>
                </a:solidFill>
                <a:latin typeface="Georgia" pitchFamily="34" charset="0"/>
                <a:ea typeface="Georgia" pitchFamily="34" charset="-122"/>
                <a:cs typeface="Georgia" pitchFamily="34" charset="-120"/>
              </a:rPr>
              <a:t>extraordinarias</a:t>
            </a:r>
            <a:endParaRPr lang="es-AR" sz="1400" noProof="0" dirty="0"/>
          </a:p>
        </p:txBody>
      </p:sp>
      <p:sp>
        <p:nvSpPr>
          <p:cNvPr id="17" name="Text 14"/>
          <p:cNvSpPr/>
          <p:nvPr/>
        </p:nvSpPr>
        <p:spPr>
          <a:xfrm>
            <a:off x="5029200" y="1874520"/>
            <a:ext cx="3246120" cy="2377440"/>
          </a:xfrm>
          <a:prstGeom prst="rect">
            <a:avLst/>
          </a:prstGeom>
          <a:noFill/>
          <a:ln/>
        </p:spPr>
        <p:txBody>
          <a:bodyPr wrap="square" rtlCol="0" anchor="t"/>
          <a:lstStyle/>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En caso de paro docente o situaciones que impidan el dictado presencial, la clase no se realizará (ni presencial ni virtual).</a:t>
            </a:r>
            <a:endParaRPr lang="es-AR" sz="1050" noProof="0" dirty="0"/>
          </a:p>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Si se suspende la actividad universitaria, los materiales se compartirán de forma asincrónica. En muy pocos casos se reprogramará. Se intentará dar el material teórico junto al práctico en cuestión.</a:t>
            </a:r>
            <a:endParaRPr lang="es-AR" sz="1050" noProof="0" dirty="0"/>
          </a:p>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La comunicación oficial será siempre a través de Mi Econ.</a:t>
            </a:r>
            <a:endParaRPr lang="es-AR" sz="1050" noProof="0" dirty="0"/>
          </a:p>
        </p:txBody>
      </p:sp>
      <p:sp>
        <p:nvSpPr>
          <p:cNvPr id="18" name="Shape 15"/>
          <p:cNvSpPr/>
          <p:nvPr/>
        </p:nvSpPr>
        <p:spPr>
          <a:xfrm>
            <a:off x="0" y="4709160"/>
            <a:ext cx="9144000" cy="434340"/>
          </a:xfrm>
          <a:prstGeom prst="rect">
            <a:avLst/>
          </a:prstGeom>
          <a:solidFill>
            <a:srgbClr val="0F2B46"/>
          </a:solidFill>
          <a:ln/>
        </p:spPr>
        <p:txBody>
          <a:bodyPr/>
          <a:lstStyle/>
          <a:p>
            <a:endParaRPr lang="es-AR" noProof="0" dirty="0"/>
          </a:p>
        </p:txBody>
      </p:sp>
      <p:sp>
        <p:nvSpPr>
          <p:cNvPr id="19" name="Text 16"/>
          <p:cNvSpPr/>
          <p:nvPr/>
        </p:nvSpPr>
        <p:spPr>
          <a:xfrm>
            <a:off x="457200" y="4709160"/>
            <a:ext cx="8229600" cy="434340"/>
          </a:xfrm>
          <a:prstGeom prst="rect">
            <a:avLst/>
          </a:prstGeom>
          <a:noFill/>
          <a:ln/>
        </p:spPr>
        <p:txBody>
          <a:bodyPr wrap="square" lIns="0" tIns="0" rIns="0" bIns="0" rtlCol="0" anchor="ctr"/>
          <a:lstStyle/>
          <a:p>
            <a:pPr algn="ct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 </a:t>
            </a:r>
            <a:r>
              <a:rPr lang="es-AR" sz="850" dirty="0">
                <a:solidFill>
                  <a:srgbClr val="7FA8C4"/>
                </a:solidFill>
                <a:latin typeface="Calibri" pitchFamily="34" charset="0"/>
                <a:ea typeface="Calibri" pitchFamily="34" charset="-122"/>
                <a:cs typeface="Calibri" pitchFamily="34" charset="-120"/>
              </a:rPr>
              <a:t>y Maida Beltrán</a:t>
            </a:r>
            <a:endParaRPr lang="es-AR" sz="850" noProof="0" dirty="0"/>
          </a:p>
        </p:txBody>
      </p:sp>
      <p:sp>
        <p:nvSpPr>
          <p:cNvPr id="20" name="Text 17"/>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9 / 11</a:t>
            </a:r>
            <a:endParaRPr lang="es-AR" sz="800"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4161F-6084-A527-AB65-C8368F35CBD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2CD1015-8E16-E371-6CBC-367A94ADA2C0}"/>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4EA2C7FF-54ED-0F74-C98A-13B5EA54E39B}"/>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2600" b="1" noProof="0" dirty="0">
                <a:solidFill>
                  <a:srgbClr val="0F2B46"/>
                </a:solidFill>
                <a:latin typeface="Georgia" pitchFamily="34" charset="0"/>
                <a:ea typeface="Georgia" pitchFamily="34" charset="-122"/>
                <a:cs typeface="Georgia" pitchFamily="34" charset="-120"/>
              </a:rPr>
              <a:t>Políticas de uso de los Chats</a:t>
            </a:r>
            <a:endParaRPr lang="es-AR" sz="2600" noProof="0" dirty="0"/>
          </a:p>
        </p:txBody>
      </p:sp>
      <p:sp>
        <p:nvSpPr>
          <p:cNvPr id="4" name="Shape 2">
            <a:extLst>
              <a:ext uri="{FF2B5EF4-FFF2-40B4-BE49-F238E27FC236}">
                <a16:creationId xmlns:a16="http://schemas.microsoft.com/office/drawing/2014/main" id="{88190EC9-AFEB-73CA-9FAF-0ECA219EF568}"/>
              </a:ext>
            </a:extLst>
          </p:cNvPr>
          <p:cNvSpPr/>
          <p:nvPr/>
        </p:nvSpPr>
        <p:spPr>
          <a:xfrm>
            <a:off x="640080" y="1051560"/>
            <a:ext cx="3886200" cy="3337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5" name="Shape 3">
            <a:extLst>
              <a:ext uri="{FF2B5EF4-FFF2-40B4-BE49-F238E27FC236}">
                <a16:creationId xmlns:a16="http://schemas.microsoft.com/office/drawing/2014/main" id="{6021AF26-10DF-A58F-42FB-2FE5BA0543C8}"/>
              </a:ext>
            </a:extLst>
          </p:cNvPr>
          <p:cNvSpPr/>
          <p:nvPr/>
        </p:nvSpPr>
        <p:spPr>
          <a:xfrm>
            <a:off x="640080" y="1051560"/>
            <a:ext cx="3886200" cy="54864"/>
          </a:xfrm>
          <a:prstGeom prst="rect">
            <a:avLst/>
          </a:prstGeom>
          <a:solidFill>
            <a:srgbClr val="1A6B8A"/>
          </a:solidFill>
          <a:ln/>
        </p:spPr>
        <p:txBody>
          <a:bodyPr/>
          <a:lstStyle/>
          <a:p>
            <a:endParaRPr lang="es-AR" noProof="0" dirty="0"/>
          </a:p>
        </p:txBody>
      </p:sp>
      <p:sp>
        <p:nvSpPr>
          <p:cNvPr id="6" name="Text 4">
            <a:extLst>
              <a:ext uri="{FF2B5EF4-FFF2-40B4-BE49-F238E27FC236}">
                <a16:creationId xmlns:a16="http://schemas.microsoft.com/office/drawing/2014/main" id="{E87AD934-900C-ECC4-8962-4D637D20653E}"/>
              </a:ext>
            </a:extLst>
          </p:cNvPr>
          <p:cNvSpPr/>
          <p:nvPr/>
        </p:nvSpPr>
        <p:spPr>
          <a:xfrm>
            <a:off x="868680" y="1234440"/>
            <a:ext cx="3474720" cy="320040"/>
          </a:xfrm>
          <a:prstGeom prst="rect">
            <a:avLst/>
          </a:prstGeom>
          <a:noFill/>
          <a:ln/>
        </p:spPr>
        <p:txBody>
          <a:bodyPr wrap="square" lIns="0" tIns="0" rIns="0" bIns="0" rtlCol="0" anchor="ctr"/>
          <a:lstStyle/>
          <a:p>
            <a:pPr marL="0" indent="0" algn="l">
              <a:buNone/>
            </a:pPr>
            <a:r>
              <a:rPr lang="es-AR" sz="1600" b="1" noProof="0" dirty="0">
                <a:solidFill>
                  <a:srgbClr val="0F2B46"/>
                </a:solidFill>
                <a:latin typeface="Georgia" pitchFamily="34" charset="0"/>
                <a:ea typeface="Georgia" pitchFamily="34" charset="-122"/>
                <a:cs typeface="Georgia" pitchFamily="34" charset="-120"/>
              </a:rPr>
              <a:t>Recomendación de plataforma</a:t>
            </a:r>
            <a:endParaRPr lang="es-AR" sz="1600" noProof="0" dirty="0"/>
          </a:p>
        </p:txBody>
      </p:sp>
      <p:sp>
        <p:nvSpPr>
          <p:cNvPr id="7" name="Shape 5">
            <a:extLst>
              <a:ext uri="{FF2B5EF4-FFF2-40B4-BE49-F238E27FC236}">
                <a16:creationId xmlns:a16="http://schemas.microsoft.com/office/drawing/2014/main" id="{604DF06C-0DA5-EADB-FD8A-75A6A109E8F9}"/>
              </a:ext>
            </a:extLst>
          </p:cNvPr>
          <p:cNvSpPr/>
          <p:nvPr/>
        </p:nvSpPr>
        <p:spPr>
          <a:xfrm>
            <a:off x="868680" y="1691640"/>
            <a:ext cx="3429000" cy="1005840"/>
          </a:xfrm>
          <a:prstGeom prst="rect">
            <a:avLst/>
          </a:prstGeom>
          <a:solidFill>
            <a:srgbClr val="D6EAF2">
              <a:alpha val="50000"/>
            </a:srgbClr>
          </a:solidFill>
          <a:ln/>
        </p:spPr>
        <p:txBody>
          <a:bodyPr/>
          <a:lstStyle/>
          <a:p>
            <a:endParaRPr lang="es-AR" noProof="0" dirty="0"/>
          </a:p>
        </p:txBody>
      </p:sp>
      <p:sp>
        <p:nvSpPr>
          <p:cNvPr id="8" name="Text 6">
            <a:extLst>
              <a:ext uri="{FF2B5EF4-FFF2-40B4-BE49-F238E27FC236}">
                <a16:creationId xmlns:a16="http://schemas.microsoft.com/office/drawing/2014/main" id="{A5B6EF43-4405-ECB9-012F-E809CF707F7D}"/>
              </a:ext>
            </a:extLst>
          </p:cNvPr>
          <p:cNvSpPr/>
          <p:nvPr/>
        </p:nvSpPr>
        <p:spPr>
          <a:xfrm>
            <a:off x="1051560" y="1737360"/>
            <a:ext cx="3017520" cy="274320"/>
          </a:xfrm>
          <a:prstGeom prst="rect">
            <a:avLst/>
          </a:prstGeom>
          <a:noFill/>
          <a:ln/>
        </p:spPr>
        <p:txBody>
          <a:bodyPr wrap="square" lIns="0" tIns="0" rIns="0" bIns="0" rtlCol="0" anchor="ctr"/>
          <a:lstStyle/>
          <a:p>
            <a:pPr marL="0" indent="0" algn="l">
              <a:buNone/>
            </a:pPr>
            <a:r>
              <a:rPr lang="es-AR" sz="1200" b="1" noProof="0" dirty="0">
                <a:solidFill>
                  <a:srgbClr val="1A6B8A"/>
                </a:solidFill>
                <a:latin typeface="Georgia" pitchFamily="34" charset="0"/>
                <a:ea typeface="Georgia" pitchFamily="34" charset="-122"/>
                <a:cs typeface="Georgia" pitchFamily="34" charset="-120"/>
              </a:rPr>
              <a:t>Mejores chats</a:t>
            </a:r>
            <a:endParaRPr lang="es-AR" sz="1200" noProof="0" dirty="0"/>
          </a:p>
        </p:txBody>
      </p:sp>
      <p:sp>
        <p:nvSpPr>
          <p:cNvPr id="9" name="Text 7">
            <a:extLst>
              <a:ext uri="{FF2B5EF4-FFF2-40B4-BE49-F238E27FC236}">
                <a16:creationId xmlns:a16="http://schemas.microsoft.com/office/drawing/2014/main" id="{80FAA9AC-971F-E03A-F81D-80BB563F085A}"/>
              </a:ext>
            </a:extLst>
          </p:cNvPr>
          <p:cNvSpPr/>
          <p:nvPr/>
        </p:nvSpPr>
        <p:spPr>
          <a:xfrm>
            <a:off x="1051560" y="1965958"/>
            <a:ext cx="3017520" cy="548640"/>
          </a:xfrm>
          <a:prstGeom prst="rect">
            <a:avLst/>
          </a:prstGeom>
          <a:noFill/>
          <a:ln/>
        </p:spPr>
        <p:txBody>
          <a:bodyPr wrap="square" rtlCol="0" anchor="t"/>
          <a:lstStyle/>
          <a:p>
            <a:pPr marL="0" indent="0" algn="l">
              <a:lnSpc>
                <a:spcPct val="130000"/>
              </a:lnSpc>
              <a:buNone/>
            </a:pPr>
            <a:r>
              <a:rPr lang="es-AR" sz="1050" noProof="0" dirty="0">
                <a:solidFill>
                  <a:srgbClr val="5A7184"/>
                </a:solidFill>
                <a:latin typeface="Calibri" pitchFamily="34" charset="0"/>
                <a:ea typeface="Calibri" pitchFamily="34" charset="-122"/>
                <a:cs typeface="Calibri" pitchFamily="34" charset="-120"/>
              </a:rPr>
              <a:t>Claude Opus =&gt; es por lejos el </a:t>
            </a:r>
            <a:r>
              <a:rPr lang="es-AR" sz="1050" noProof="0" dirty="0" err="1">
                <a:solidFill>
                  <a:srgbClr val="5A7184"/>
                </a:solidFill>
                <a:latin typeface="Calibri" pitchFamily="34" charset="0"/>
                <a:ea typeface="Calibri" pitchFamily="34" charset="-122"/>
                <a:cs typeface="Calibri" pitchFamily="34" charset="-120"/>
              </a:rPr>
              <a:t>major</a:t>
            </a:r>
            <a:r>
              <a:rPr lang="es-AR" sz="1050" noProof="0" dirty="0">
                <a:solidFill>
                  <a:srgbClr val="5A7184"/>
                </a:solidFill>
                <a:latin typeface="Calibri" pitchFamily="34" charset="0"/>
                <a:ea typeface="Calibri" pitchFamily="34" charset="-122"/>
                <a:cs typeface="Calibri" pitchFamily="34" charset="-120"/>
              </a:rPr>
              <a:t> </a:t>
            </a:r>
          </a:p>
          <a:p>
            <a:pPr marL="0" indent="0" algn="l">
              <a:lnSpc>
                <a:spcPct val="130000"/>
              </a:lnSpc>
              <a:buNone/>
            </a:pPr>
            <a:r>
              <a:rPr lang="es-AR" sz="1050" noProof="0" dirty="0">
                <a:solidFill>
                  <a:srgbClr val="5A7184"/>
                </a:solidFill>
                <a:latin typeface="Calibri" pitchFamily="34" charset="0"/>
                <a:ea typeface="Calibri" pitchFamily="34" charset="-122"/>
                <a:cs typeface="Calibri" pitchFamily="34" charset="-120"/>
              </a:rPr>
              <a:t>Claude </a:t>
            </a:r>
            <a:r>
              <a:rPr lang="es-AR" sz="1050" noProof="0" dirty="0" err="1">
                <a:solidFill>
                  <a:srgbClr val="5A7184"/>
                </a:solidFill>
                <a:latin typeface="Calibri" pitchFamily="34" charset="0"/>
                <a:ea typeface="Calibri" pitchFamily="34" charset="-122"/>
                <a:cs typeface="Calibri" pitchFamily="34" charset="-120"/>
              </a:rPr>
              <a:t>Sonnet</a:t>
            </a:r>
            <a:r>
              <a:rPr lang="es-AR" sz="1050" noProof="0" dirty="0">
                <a:solidFill>
                  <a:srgbClr val="5A7184"/>
                </a:solidFill>
                <a:latin typeface="Calibri" pitchFamily="34" charset="0"/>
                <a:ea typeface="Calibri" pitchFamily="34" charset="-122"/>
                <a:cs typeface="Calibri" pitchFamily="34" charset="-120"/>
              </a:rPr>
              <a:t> va bien, pero requiere control</a:t>
            </a:r>
          </a:p>
          <a:p>
            <a:pPr marL="0" indent="0" algn="l">
              <a:lnSpc>
                <a:spcPct val="130000"/>
              </a:lnSpc>
              <a:buNone/>
            </a:pPr>
            <a:r>
              <a:rPr lang="es-AR" sz="1050" noProof="0" dirty="0">
                <a:solidFill>
                  <a:srgbClr val="5A7184"/>
                </a:solidFill>
                <a:latin typeface="Calibri" pitchFamily="34" charset="0"/>
                <a:ea typeface="Calibri" pitchFamily="34" charset="-122"/>
                <a:cs typeface="Calibri" pitchFamily="34" charset="-120"/>
              </a:rPr>
              <a:t>Los de </a:t>
            </a:r>
            <a:r>
              <a:rPr lang="es-AR" sz="1050" noProof="0" dirty="0" err="1">
                <a:solidFill>
                  <a:srgbClr val="5A7184"/>
                </a:solidFill>
                <a:latin typeface="Calibri" pitchFamily="34" charset="0"/>
                <a:ea typeface="Calibri" pitchFamily="34" charset="-122"/>
                <a:cs typeface="Calibri" pitchFamily="34" charset="-120"/>
              </a:rPr>
              <a:t>OpenAI</a:t>
            </a:r>
            <a:r>
              <a:rPr lang="es-AR" sz="1050" noProof="0" dirty="0">
                <a:solidFill>
                  <a:srgbClr val="5A7184"/>
                </a:solidFill>
                <a:latin typeface="Calibri" pitchFamily="34" charset="0"/>
                <a:ea typeface="Calibri" pitchFamily="34" charset="-122"/>
                <a:cs typeface="Calibri" pitchFamily="34" charset="-120"/>
              </a:rPr>
              <a:t>/</a:t>
            </a:r>
            <a:r>
              <a:rPr lang="es-AR" sz="1050" noProof="0" dirty="0" err="1">
                <a:solidFill>
                  <a:srgbClr val="5A7184"/>
                </a:solidFill>
                <a:latin typeface="Calibri" pitchFamily="34" charset="0"/>
                <a:ea typeface="Calibri" pitchFamily="34" charset="-122"/>
                <a:cs typeface="Calibri" pitchFamily="34" charset="-120"/>
              </a:rPr>
              <a:t>DeepSeek</a:t>
            </a:r>
            <a:r>
              <a:rPr lang="es-AR" sz="1050" noProof="0" dirty="0">
                <a:solidFill>
                  <a:srgbClr val="5A7184"/>
                </a:solidFill>
                <a:latin typeface="Calibri" pitchFamily="34" charset="0"/>
                <a:ea typeface="Calibri" pitchFamily="34" charset="-122"/>
                <a:cs typeface="Calibri" pitchFamily="34" charset="-120"/>
              </a:rPr>
              <a:t> tienen fallas, menos foco </a:t>
            </a:r>
            <a:endParaRPr lang="es-AR" sz="1050" noProof="0" dirty="0"/>
          </a:p>
        </p:txBody>
      </p:sp>
      <p:sp>
        <p:nvSpPr>
          <p:cNvPr id="10" name="Shape 8">
            <a:extLst>
              <a:ext uri="{FF2B5EF4-FFF2-40B4-BE49-F238E27FC236}">
                <a16:creationId xmlns:a16="http://schemas.microsoft.com/office/drawing/2014/main" id="{B9C2339F-7576-4D0E-C8E9-EC3B9A375AE2}"/>
              </a:ext>
            </a:extLst>
          </p:cNvPr>
          <p:cNvSpPr/>
          <p:nvPr/>
        </p:nvSpPr>
        <p:spPr>
          <a:xfrm>
            <a:off x="868680" y="2834640"/>
            <a:ext cx="3429000" cy="1005840"/>
          </a:xfrm>
          <a:prstGeom prst="rect">
            <a:avLst/>
          </a:prstGeom>
          <a:solidFill>
            <a:srgbClr val="D6EAF2">
              <a:alpha val="50000"/>
            </a:srgbClr>
          </a:solidFill>
          <a:ln/>
        </p:spPr>
        <p:txBody>
          <a:bodyPr/>
          <a:lstStyle/>
          <a:p>
            <a:endParaRPr lang="es-AR" noProof="0" dirty="0"/>
          </a:p>
        </p:txBody>
      </p:sp>
      <p:sp>
        <p:nvSpPr>
          <p:cNvPr id="11" name="Text 9">
            <a:extLst>
              <a:ext uri="{FF2B5EF4-FFF2-40B4-BE49-F238E27FC236}">
                <a16:creationId xmlns:a16="http://schemas.microsoft.com/office/drawing/2014/main" id="{C0A6173A-08B6-A71D-BF02-51FE361CE726}"/>
              </a:ext>
            </a:extLst>
          </p:cNvPr>
          <p:cNvSpPr/>
          <p:nvPr/>
        </p:nvSpPr>
        <p:spPr>
          <a:xfrm>
            <a:off x="1051560" y="2880360"/>
            <a:ext cx="3017520" cy="274320"/>
          </a:xfrm>
          <a:prstGeom prst="rect">
            <a:avLst/>
          </a:prstGeom>
          <a:noFill/>
          <a:ln/>
        </p:spPr>
        <p:txBody>
          <a:bodyPr wrap="square" lIns="0" tIns="0" rIns="0" bIns="0" rtlCol="0" anchor="ctr"/>
          <a:lstStyle/>
          <a:p>
            <a:pPr marL="0" indent="0" algn="l">
              <a:buNone/>
            </a:pPr>
            <a:r>
              <a:rPr lang="es-AR" sz="1200" b="1" noProof="0" dirty="0">
                <a:solidFill>
                  <a:srgbClr val="1A6B8A"/>
                </a:solidFill>
                <a:latin typeface="Georgia" pitchFamily="34" charset="0"/>
                <a:ea typeface="Georgia" pitchFamily="34" charset="-122"/>
                <a:cs typeface="Georgia" pitchFamily="34" charset="-120"/>
              </a:rPr>
              <a:t>Para el curso</a:t>
            </a:r>
            <a:endParaRPr lang="es-AR" sz="1200" noProof="0" dirty="0"/>
          </a:p>
        </p:txBody>
      </p:sp>
      <p:sp>
        <p:nvSpPr>
          <p:cNvPr id="12" name="Text 10">
            <a:extLst>
              <a:ext uri="{FF2B5EF4-FFF2-40B4-BE49-F238E27FC236}">
                <a16:creationId xmlns:a16="http://schemas.microsoft.com/office/drawing/2014/main" id="{41C37238-44FC-329A-DB4D-FB60DEC096D1}"/>
              </a:ext>
            </a:extLst>
          </p:cNvPr>
          <p:cNvSpPr/>
          <p:nvPr/>
        </p:nvSpPr>
        <p:spPr>
          <a:xfrm>
            <a:off x="1051560" y="3200400"/>
            <a:ext cx="3017520" cy="548640"/>
          </a:xfrm>
          <a:prstGeom prst="rect">
            <a:avLst/>
          </a:prstGeom>
          <a:noFill/>
          <a:ln/>
        </p:spPr>
        <p:txBody>
          <a:bodyPr wrap="square" rtlCol="0" anchor="t"/>
          <a:lstStyle/>
          <a:p>
            <a:pPr marL="0" indent="0" algn="l">
              <a:lnSpc>
                <a:spcPct val="130000"/>
              </a:lnSpc>
              <a:buNone/>
            </a:pPr>
            <a:r>
              <a:rPr lang="es-AR" sz="1050" noProof="0" dirty="0">
                <a:solidFill>
                  <a:srgbClr val="5A7184"/>
                </a:solidFill>
                <a:latin typeface="Calibri" pitchFamily="34" charset="0"/>
                <a:ea typeface="Calibri" pitchFamily="34" charset="-122"/>
                <a:cs typeface="Calibri" pitchFamily="34" charset="-120"/>
              </a:rPr>
              <a:t>No hace falta pagarlo, pero si van a usarlo en otros lados quizás conviene, en especial Claude</a:t>
            </a:r>
            <a:endParaRPr lang="es-AR" sz="1050" noProof="0" dirty="0"/>
          </a:p>
        </p:txBody>
      </p:sp>
      <p:sp>
        <p:nvSpPr>
          <p:cNvPr id="13" name="Shape 11">
            <a:extLst>
              <a:ext uri="{FF2B5EF4-FFF2-40B4-BE49-F238E27FC236}">
                <a16:creationId xmlns:a16="http://schemas.microsoft.com/office/drawing/2014/main" id="{265353C9-1811-57F1-34C8-64438E6E2984}"/>
              </a:ext>
            </a:extLst>
          </p:cNvPr>
          <p:cNvSpPr/>
          <p:nvPr/>
        </p:nvSpPr>
        <p:spPr>
          <a:xfrm>
            <a:off x="4800600" y="1051560"/>
            <a:ext cx="3703320" cy="3337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4" name="Shape 12">
            <a:extLst>
              <a:ext uri="{FF2B5EF4-FFF2-40B4-BE49-F238E27FC236}">
                <a16:creationId xmlns:a16="http://schemas.microsoft.com/office/drawing/2014/main" id="{00FF72AA-3164-A70A-1F74-AA4A87686A2D}"/>
              </a:ext>
            </a:extLst>
          </p:cNvPr>
          <p:cNvSpPr/>
          <p:nvPr/>
        </p:nvSpPr>
        <p:spPr>
          <a:xfrm>
            <a:off x="4800600" y="1051560"/>
            <a:ext cx="3703320" cy="54864"/>
          </a:xfrm>
          <a:prstGeom prst="rect">
            <a:avLst/>
          </a:prstGeom>
          <a:solidFill>
            <a:srgbClr val="E8963E"/>
          </a:solidFill>
          <a:ln/>
        </p:spPr>
        <p:txBody>
          <a:bodyPr/>
          <a:lstStyle/>
          <a:p>
            <a:endParaRPr lang="es-AR" noProof="0" dirty="0"/>
          </a:p>
        </p:txBody>
      </p:sp>
      <p:pic>
        <p:nvPicPr>
          <p:cNvPr id="15" name="Image 0" descr="preencoded.png">
            <a:extLst>
              <a:ext uri="{FF2B5EF4-FFF2-40B4-BE49-F238E27FC236}">
                <a16:creationId xmlns:a16="http://schemas.microsoft.com/office/drawing/2014/main" id="{C3ADCA01-2FE0-8A61-C070-474FC2A10A6B}"/>
              </a:ext>
            </a:extLst>
          </p:cNvPr>
          <p:cNvPicPr>
            <a:picLocks noChangeAspect="1"/>
          </p:cNvPicPr>
          <p:nvPr/>
        </p:nvPicPr>
        <p:blipFill>
          <a:blip r:embed="rId3"/>
          <a:stretch>
            <a:fillRect/>
          </a:stretch>
        </p:blipFill>
        <p:spPr>
          <a:xfrm>
            <a:off x="5029200" y="1280160"/>
            <a:ext cx="320040" cy="320040"/>
          </a:xfrm>
          <a:prstGeom prst="rect">
            <a:avLst/>
          </a:prstGeom>
        </p:spPr>
      </p:pic>
      <p:sp>
        <p:nvSpPr>
          <p:cNvPr id="16" name="Text 13">
            <a:extLst>
              <a:ext uri="{FF2B5EF4-FFF2-40B4-BE49-F238E27FC236}">
                <a16:creationId xmlns:a16="http://schemas.microsoft.com/office/drawing/2014/main" id="{C822E887-1241-FB26-F323-A992D69FDBE5}"/>
              </a:ext>
            </a:extLst>
          </p:cNvPr>
          <p:cNvSpPr/>
          <p:nvPr/>
        </p:nvSpPr>
        <p:spPr>
          <a:xfrm>
            <a:off x="5440680" y="1234440"/>
            <a:ext cx="2834640" cy="457200"/>
          </a:xfrm>
          <a:prstGeom prst="rect">
            <a:avLst/>
          </a:prstGeom>
          <a:noFill/>
          <a:ln/>
        </p:spPr>
        <p:txBody>
          <a:bodyPr wrap="square" lIns="0" tIns="0" rIns="0" bIns="0" rtlCol="0" anchor="ctr"/>
          <a:lstStyle/>
          <a:p>
            <a:pPr marL="0" indent="0" algn="l">
              <a:lnSpc>
                <a:spcPct val="115000"/>
              </a:lnSpc>
              <a:buNone/>
            </a:pPr>
            <a:r>
              <a:rPr lang="es-AR" sz="1400" b="1" noProof="0" dirty="0">
                <a:solidFill>
                  <a:srgbClr val="0F2B46"/>
                </a:solidFill>
                <a:latin typeface="Georgia" pitchFamily="34" charset="0"/>
              </a:rPr>
              <a:t>Cómo usarlo</a:t>
            </a:r>
            <a:endParaRPr lang="es-AR" sz="1400" noProof="0" dirty="0"/>
          </a:p>
        </p:txBody>
      </p:sp>
      <p:sp>
        <p:nvSpPr>
          <p:cNvPr id="17" name="Text 14">
            <a:extLst>
              <a:ext uri="{FF2B5EF4-FFF2-40B4-BE49-F238E27FC236}">
                <a16:creationId xmlns:a16="http://schemas.microsoft.com/office/drawing/2014/main" id="{C4BFB953-E84E-5005-F8FD-4CBDF801AE00}"/>
              </a:ext>
            </a:extLst>
          </p:cNvPr>
          <p:cNvSpPr/>
          <p:nvPr/>
        </p:nvSpPr>
        <p:spPr>
          <a:xfrm>
            <a:off x="4800600" y="1600200"/>
            <a:ext cx="3703320" cy="2377440"/>
          </a:xfrm>
          <a:prstGeom prst="rect">
            <a:avLst/>
          </a:prstGeom>
          <a:noFill/>
          <a:ln/>
        </p:spPr>
        <p:txBody>
          <a:bodyPr wrap="square" rtlCol="0" anchor="t"/>
          <a:lstStyle/>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No hay problema con que lo usen, pero con criterio</a:t>
            </a:r>
          </a:p>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El objetivo de la materia es que ustedes aprendan, los mejores modelos hacen todo (o casi)</a:t>
            </a:r>
          </a:p>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Formas de usarlo:</a:t>
            </a:r>
          </a:p>
          <a:p>
            <a:pPr marL="800100" lvl="1"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Pelotear ideas para el TP </a:t>
            </a:r>
          </a:p>
          <a:p>
            <a:pPr marL="800100" lvl="1"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Ayuda cuando los códigos no salen o tienen problemas </a:t>
            </a:r>
          </a:p>
          <a:p>
            <a:pPr marL="800100" lvl="1"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Mejorar los códigos y revisarlos </a:t>
            </a:r>
          </a:p>
          <a:p>
            <a:pPr marL="800100" lvl="1"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Repensar visualizaciones</a:t>
            </a:r>
          </a:p>
          <a:p>
            <a:pPr marL="342900" indent="-342900">
              <a:spcAft>
                <a:spcPts val="600"/>
              </a:spcAft>
              <a:buSzPct val="100000"/>
              <a:buChar char="•"/>
            </a:pPr>
            <a:r>
              <a:rPr lang="es-AR" sz="1050" noProof="0" dirty="0">
                <a:solidFill>
                  <a:srgbClr val="5A7184"/>
                </a:solidFill>
                <a:latin typeface="Calibri" pitchFamily="34" charset="0"/>
                <a:ea typeface="Calibri" pitchFamily="34" charset="-122"/>
                <a:cs typeface="Calibri" pitchFamily="34" charset="-120"/>
              </a:rPr>
              <a:t>No usarlo para que haga todas las cosas: desarrollar un poco de idea de código y pensamiento crítico</a:t>
            </a:r>
          </a:p>
          <a:p>
            <a:pPr marL="342900" indent="-342900">
              <a:spcAft>
                <a:spcPts val="600"/>
              </a:spcAft>
              <a:buSzPct val="100000"/>
              <a:buChar char="•"/>
            </a:pPr>
            <a:r>
              <a:rPr lang="es-AR" sz="1050" dirty="0">
                <a:solidFill>
                  <a:srgbClr val="5A7184"/>
                </a:solidFill>
                <a:latin typeface="Calibri" pitchFamily="34" charset="0"/>
                <a:ea typeface="Calibri" pitchFamily="34" charset="-122"/>
                <a:cs typeface="Calibri" pitchFamily="34" charset="-120"/>
              </a:rPr>
              <a:t>En la entrega final deberán poner una diapositiva que explique el uso que le dieron a las herramientas de IA</a:t>
            </a:r>
            <a:endParaRPr lang="es-AR" sz="1050" noProof="0" dirty="0">
              <a:solidFill>
                <a:srgbClr val="5A7184"/>
              </a:solidFill>
              <a:latin typeface="Calibri" pitchFamily="34" charset="0"/>
              <a:ea typeface="Calibri" pitchFamily="34" charset="-122"/>
              <a:cs typeface="Calibri" pitchFamily="34" charset="-120"/>
            </a:endParaRPr>
          </a:p>
          <a:p>
            <a:pPr marL="342900" indent="-342900">
              <a:spcAft>
                <a:spcPts val="600"/>
              </a:spcAft>
              <a:buSzPct val="100000"/>
              <a:buChar char="•"/>
            </a:pPr>
            <a:endParaRPr lang="es-AR" sz="1050" noProof="0" dirty="0"/>
          </a:p>
        </p:txBody>
      </p:sp>
      <p:sp>
        <p:nvSpPr>
          <p:cNvPr id="18" name="Shape 15">
            <a:extLst>
              <a:ext uri="{FF2B5EF4-FFF2-40B4-BE49-F238E27FC236}">
                <a16:creationId xmlns:a16="http://schemas.microsoft.com/office/drawing/2014/main" id="{CA948451-0250-4255-BCE8-D44564EEC4B7}"/>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19" name="Text 16">
            <a:extLst>
              <a:ext uri="{FF2B5EF4-FFF2-40B4-BE49-F238E27FC236}">
                <a16:creationId xmlns:a16="http://schemas.microsoft.com/office/drawing/2014/main" id="{393A0F59-9154-2CBA-D6B4-D5A5B4B24A26}"/>
              </a:ext>
            </a:extLst>
          </p:cNvPr>
          <p:cNvSpPr/>
          <p:nvPr/>
        </p:nvSpPr>
        <p:spPr>
          <a:xfrm>
            <a:off x="457200" y="4709160"/>
            <a:ext cx="8229600" cy="434340"/>
          </a:xfrm>
          <a:prstGeom prst="rect">
            <a:avLst/>
          </a:prstGeom>
          <a:noFill/>
          <a:ln/>
        </p:spPr>
        <p:txBody>
          <a:bodyPr wrap="square" lIns="0" tIns="0" rIns="0" bIns="0" rtlCol="0" anchor="ctr"/>
          <a:lstStyle/>
          <a:p>
            <a:pPr algn="ct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 </a:t>
            </a:r>
            <a:r>
              <a:rPr lang="es-AR" sz="850" dirty="0">
                <a:solidFill>
                  <a:srgbClr val="7FA8C4"/>
                </a:solidFill>
                <a:latin typeface="Calibri" pitchFamily="34" charset="0"/>
                <a:ea typeface="Calibri" pitchFamily="34" charset="-122"/>
                <a:cs typeface="Calibri" pitchFamily="34" charset="-120"/>
              </a:rPr>
              <a:t>y Maida Beltrán</a:t>
            </a:r>
            <a:endParaRPr lang="es-AR" sz="850" noProof="0" dirty="0"/>
          </a:p>
        </p:txBody>
      </p:sp>
      <p:sp>
        <p:nvSpPr>
          <p:cNvPr id="20" name="Text 17">
            <a:extLst>
              <a:ext uri="{FF2B5EF4-FFF2-40B4-BE49-F238E27FC236}">
                <a16:creationId xmlns:a16="http://schemas.microsoft.com/office/drawing/2014/main" id="{08356697-F057-3948-A6EC-9E4F7B54D113}"/>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9 / 11</a:t>
            </a:r>
            <a:endParaRPr lang="es-AR" sz="800" noProof="0" dirty="0"/>
          </a:p>
        </p:txBody>
      </p:sp>
    </p:spTree>
    <p:extLst>
      <p:ext uri="{BB962C8B-B14F-4D97-AF65-F5344CB8AC3E}">
        <p14:creationId xmlns:p14="http://schemas.microsoft.com/office/powerpoint/2010/main" val="2303790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73F1B-11A4-6296-8B4B-5408ADA952A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768352B-0169-AE46-543E-0ABC0E59C520}"/>
              </a:ext>
            </a:extLst>
          </p:cNvPr>
          <p:cNvSpPr/>
          <p:nvPr/>
        </p:nvSpPr>
        <p:spPr>
          <a:xfrm>
            <a:off x="0" y="0"/>
            <a:ext cx="9144000" cy="54864"/>
          </a:xfrm>
          <a:prstGeom prst="rect">
            <a:avLst/>
          </a:prstGeom>
          <a:solidFill>
            <a:srgbClr val="E8963E"/>
          </a:solidFill>
          <a:ln/>
        </p:spPr>
        <p:txBody>
          <a:bodyPr/>
          <a:lstStyle/>
          <a:p>
            <a:endParaRPr lang="es-AR" noProof="0" dirty="0"/>
          </a:p>
        </p:txBody>
      </p:sp>
      <p:sp>
        <p:nvSpPr>
          <p:cNvPr id="3" name="Text 1">
            <a:extLst>
              <a:ext uri="{FF2B5EF4-FFF2-40B4-BE49-F238E27FC236}">
                <a16:creationId xmlns:a16="http://schemas.microsoft.com/office/drawing/2014/main" id="{F6344B7E-508F-5CCF-3D77-5872DFD0DFF2}"/>
              </a:ext>
            </a:extLst>
          </p:cNvPr>
          <p:cNvSpPr/>
          <p:nvPr/>
        </p:nvSpPr>
        <p:spPr>
          <a:xfrm>
            <a:off x="640080" y="228600"/>
            <a:ext cx="7863840" cy="594360"/>
          </a:xfrm>
          <a:prstGeom prst="rect">
            <a:avLst/>
          </a:prstGeom>
          <a:noFill/>
          <a:ln/>
        </p:spPr>
        <p:txBody>
          <a:bodyPr wrap="square" lIns="0" tIns="0" rIns="0" bIns="0" rtlCol="0" anchor="ctr"/>
          <a:lstStyle/>
          <a:p>
            <a:pPr marL="0" indent="0">
              <a:buNone/>
            </a:pPr>
            <a:r>
              <a:rPr lang="es-AR" sz="2600" b="1" noProof="0" dirty="0">
                <a:solidFill>
                  <a:srgbClr val="0F2B46"/>
                </a:solidFill>
                <a:latin typeface="Georgia" pitchFamily="34" charset="0"/>
                <a:ea typeface="Georgia" pitchFamily="34" charset="-122"/>
                <a:cs typeface="Georgia" pitchFamily="34" charset="-120"/>
              </a:rPr>
              <a:t>Cosas generales</a:t>
            </a:r>
            <a:endParaRPr lang="es-AR" sz="2600" noProof="0" dirty="0"/>
          </a:p>
        </p:txBody>
      </p:sp>
      <p:sp>
        <p:nvSpPr>
          <p:cNvPr id="13" name="Shape 11">
            <a:extLst>
              <a:ext uri="{FF2B5EF4-FFF2-40B4-BE49-F238E27FC236}">
                <a16:creationId xmlns:a16="http://schemas.microsoft.com/office/drawing/2014/main" id="{AFECB0FE-5DE3-17E4-5806-A2C78EC02345}"/>
              </a:ext>
            </a:extLst>
          </p:cNvPr>
          <p:cNvSpPr/>
          <p:nvPr/>
        </p:nvSpPr>
        <p:spPr>
          <a:xfrm>
            <a:off x="518809" y="1051560"/>
            <a:ext cx="7985111" cy="3337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s-AR" noProof="0" dirty="0"/>
          </a:p>
        </p:txBody>
      </p:sp>
      <p:sp>
        <p:nvSpPr>
          <p:cNvPr id="14" name="Shape 12">
            <a:extLst>
              <a:ext uri="{FF2B5EF4-FFF2-40B4-BE49-F238E27FC236}">
                <a16:creationId xmlns:a16="http://schemas.microsoft.com/office/drawing/2014/main" id="{4DDB4AAB-F27E-D101-BD9E-CC17DBA9537B}"/>
              </a:ext>
            </a:extLst>
          </p:cNvPr>
          <p:cNvSpPr/>
          <p:nvPr/>
        </p:nvSpPr>
        <p:spPr>
          <a:xfrm>
            <a:off x="518809" y="1051560"/>
            <a:ext cx="7985111" cy="91440"/>
          </a:xfrm>
          <a:prstGeom prst="rect">
            <a:avLst/>
          </a:prstGeom>
          <a:solidFill>
            <a:srgbClr val="E8963E"/>
          </a:solidFill>
          <a:ln/>
        </p:spPr>
        <p:txBody>
          <a:bodyPr/>
          <a:lstStyle/>
          <a:p>
            <a:endParaRPr lang="es-AR" noProof="0" dirty="0"/>
          </a:p>
        </p:txBody>
      </p:sp>
      <p:sp>
        <p:nvSpPr>
          <p:cNvPr id="17" name="Text 14">
            <a:extLst>
              <a:ext uri="{FF2B5EF4-FFF2-40B4-BE49-F238E27FC236}">
                <a16:creationId xmlns:a16="http://schemas.microsoft.com/office/drawing/2014/main" id="{48D4550A-ABF2-75D5-5D06-4F53E99A9964}"/>
              </a:ext>
            </a:extLst>
          </p:cNvPr>
          <p:cNvSpPr/>
          <p:nvPr/>
        </p:nvSpPr>
        <p:spPr>
          <a:xfrm>
            <a:off x="856034" y="1322962"/>
            <a:ext cx="7647886" cy="2928998"/>
          </a:xfrm>
          <a:prstGeom prst="rect">
            <a:avLst/>
          </a:prstGeom>
          <a:noFill/>
          <a:ln/>
        </p:spPr>
        <p:txBody>
          <a:bodyPr wrap="square" rtlCol="0" anchor="t"/>
          <a:lstStyle/>
          <a:p>
            <a:pPr marL="342900" indent="-342900">
              <a:spcAft>
                <a:spcPts val="600"/>
              </a:spcAft>
              <a:buSzPct val="100000"/>
              <a:buChar char="•"/>
            </a:pPr>
            <a:r>
              <a:rPr lang="es-AR" sz="1100" noProof="0" dirty="0">
                <a:solidFill>
                  <a:srgbClr val="5A7184"/>
                </a:solidFill>
                <a:latin typeface="Calibri" pitchFamily="34" charset="0"/>
                <a:ea typeface="Calibri" pitchFamily="34" charset="-122"/>
                <a:cs typeface="Calibri" pitchFamily="34" charset="-120"/>
              </a:rPr>
              <a:t>No </a:t>
            </a:r>
            <a:r>
              <a:rPr lang="es-AR" sz="1100" dirty="0">
                <a:solidFill>
                  <a:srgbClr val="5A7184"/>
                </a:solidFill>
                <a:latin typeface="Calibri" pitchFamily="34" charset="0"/>
                <a:ea typeface="Calibri" pitchFamily="34" charset="-122"/>
                <a:cs typeface="Calibri" pitchFamily="34" charset="-120"/>
              </a:rPr>
              <a:t>se toma asistencia, pero intenten venir</a:t>
            </a:r>
          </a:p>
          <a:p>
            <a:pPr marL="342900" indent="-342900">
              <a:spcAft>
                <a:spcPts val="600"/>
              </a:spcAft>
              <a:buSzPct val="100000"/>
              <a:buChar char="•"/>
            </a:pPr>
            <a:r>
              <a:rPr lang="es-AR" sz="1100" noProof="0" dirty="0">
                <a:solidFill>
                  <a:srgbClr val="5A7184"/>
                </a:solidFill>
                <a:latin typeface="Calibri" pitchFamily="34" charset="0"/>
                <a:cs typeface="Calibri" pitchFamily="34" charset="-120"/>
              </a:rPr>
              <a:t>Bibliografía es re</a:t>
            </a:r>
            <a:r>
              <a:rPr lang="es-AR" sz="1100" dirty="0">
                <a:solidFill>
                  <a:srgbClr val="5A7184"/>
                </a:solidFill>
                <a:latin typeface="Calibri" pitchFamily="34" charset="0"/>
                <a:cs typeface="Calibri" pitchFamily="34" charset="-120"/>
              </a:rPr>
              <a:t>comendada, pero no obligatoria. Es un material de apoyo</a:t>
            </a:r>
          </a:p>
          <a:p>
            <a:pPr marL="342900" indent="-342900">
              <a:spcAft>
                <a:spcPts val="600"/>
              </a:spcAft>
              <a:buSzPct val="100000"/>
              <a:buChar char="•"/>
            </a:pPr>
            <a:r>
              <a:rPr lang="es-AR" sz="1100" dirty="0">
                <a:solidFill>
                  <a:srgbClr val="5A7184"/>
                </a:solidFill>
                <a:latin typeface="Calibri" pitchFamily="34" charset="0"/>
                <a:cs typeface="Calibri" pitchFamily="34" charset="-120"/>
              </a:rPr>
              <a:t>Los materiales de la semana (tanto del martes como del viernes) se van a cargar todos los domingos por la tarde</a:t>
            </a:r>
          </a:p>
          <a:p>
            <a:pPr marL="342900" indent="-342900">
              <a:spcAft>
                <a:spcPts val="600"/>
              </a:spcAft>
              <a:buSzPct val="100000"/>
              <a:buChar char="•"/>
            </a:pPr>
            <a:r>
              <a:rPr lang="es-AR" sz="1100" dirty="0">
                <a:solidFill>
                  <a:srgbClr val="5A7184"/>
                </a:solidFill>
                <a:latin typeface="Calibri" pitchFamily="34" charset="0"/>
                <a:cs typeface="Calibri" pitchFamily="34" charset="-120"/>
              </a:rPr>
              <a:t>Los viernes se va a hacer un código en vivo (la mayor parte de las clases), para que el proceso lo vayamos aprendiendo en conjunto. Además de eso, va a haber un contenido ya armado más profundo y comentado, en caso de que alguien no pueda asistir </a:t>
            </a:r>
          </a:p>
          <a:p>
            <a:pPr marL="342900" indent="-342900">
              <a:spcAft>
                <a:spcPts val="600"/>
              </a:spcAft>
              <a:buSzPct val="100000"/>
              <a:buChar char="•"/>
            </a:pPr>
            <a:r>
              <a:rPr lang="es-AR" sz="1100" dirty="0">
                <a:solidFill>
                  <a:srgbClr val="5A7184"/>
                </a:solidFill>
                <a:latin typeface="Calibri" pitchFamily="34" charset="0"/>
                <a:cs typeface="Calibri" pitchFamily="34" charset="-120"/>
              </a:rPr>
              <a:t>Los viernes se van a grabar las clases. Se va a compartir el link de Drive vía Mi </a:t>
            </a:r>
            <a:r>
              <a:rPr lang="es-AR" sz="1100" dirty="0" err="1">
                <a:solidFill>
                  <a:srgbClr val="5A7184"/>
                </a:solidFill>
                <a:latin typeface="Calibri" pitchFamily="34" charset="0"/>
                <a:cs typeface="Calibri" pitchFamily="34" charset="-120"/>
              </a:rPr>
              <a:t>Econ</a:t>
            </a:r>
            <a:r>
              <a:rPr lang="es-AR" sz="1100" dirty="0">
                <a:solidFill>
                  <a:srgbClr val="5A7184"/>
                </a:solidFill>
                <a:latin typeface="Calibri" pitchFamily="34" charset="0"/>
                <a:cs typeface="Calibri" pitchFamily="34" charset="-120"/>
              </a:rPr>
              <a:t>, una vez que arranque el curso </a:t>
            </a:r>
          </a:p>
          <a:p>
            <a:pPr marL="342900" indent="-342900">
              <a:spcAft>
                <a:spcPts val="600"/>
              </a:spcAft>
              <a:buSzPct val="100000"/>
              <a:buChar char="•"/>
            </a:pPr>
            <a:r>
              <a:rPr lang="es-AR" sz="1100" dirty="0">
                <a:solidFill>
                  <a:srgbClr val="5A7184"/>
                </a:solidFill>
                <a:latin typeface="Calibri" pitchFamily="34" charset="0"/>
                <a:cs typeface="Calibri" pitchFamily="34" charset="-120"/>
              </a:rPr>
              <a:t>Los materiales se suben al </a:t>
            </a:r>
            <a:r>
              <a:rPr lang="es-AR" sz="1100" dirty="0" err="1">
                <a:solidFill>
                  <a:srgbClr val="5A7184"/>
                </a:solidFill>
                <a:latin typeface="Calibri" pitchFamily="34" charset="0"/>
                <a:cs typeface="Calibri" pitchFamily="34" charset="-120"/>
              </a:rPr>
              <a:t>Github</a:t>
            </a:r>
            <a:r>
              <a:rPr lang="es-AR" sz="1100" dirty="0">
                <a:solidFill>
                  <a:srgbClr val="5A7184"/>
                </a:solidFill>
                <a:latin typeface="Calibri" pitchFamily="34" charset="0"/>
                <a:cs typeface="Calibri" pitchFamily="34" charset="-120"/>
              </a:rPr>
              <a:t> (el domingo/lunes va a cargarse el link a Mi </a:t>
            </a:r>
            <a:r>
              <a:rPr lang="es-AR" sz="1100" dirty="0" err="1">
                <a:solidFill>
                  <a:srgbClr val="5A7184"/>
                </a:solidFill>
                <a:latin typeface="Calibri" pitchFamily="34" charset="0"/>
                <a:cs typeface="Calibri" pitchFamily="34" charset="-120"/>
              </a:rPr>
              <a:t>Econ</a:t>
            </a:r>
            <a:r>
              <a:rPr lang="es-AR" sz="1100" dirty="0">
                <a:solidFill>
                  <a:srgbClr val="5A7184"/>
                </a:solidFill>
                <a:latin typeface="Calibri" pitchFamily="34" charset="0"/>
                <a:cs typeface="Calibri" pitchFamily="34" charset="-120"/>
              </a:rPr>
              <a:t>). Todos los domingos se van a actualizar los materiales. Ustedes lo pueden tener </a:t>
            </a:r>
            <a:r>
              <a:rPr lang="es-AR" sz="1100" dirty="0" err="1">
                <a:solidFill>
                  <a:srgbClr val="5A7184"/>
                </a:solidFill>
                <a:latin typeface="Calibri" pitchFamily="34" charset="0"/>
                <a:cs typeface="Calibri" pitchFamily="34" charset="-120"/>
              </a:rPr>
              <a:t>forkear</a:t>
            </a:r>
            <a:r>
              <a:rPr lang="es-AR" sz="1100" dirty="0">
                <a:solidFill>
                  <a:srgbClr val="5A7184"/>
                </a:solidFill>
                <a:latin typeface="Calibri" pitchFamily="34" charset="0"/>
                <a:cs typeface="Calibri" pitchFamily="34" charset="-120"/>
              </a:rPr>
              <a:t> (replica propia que pueden modificar) o clonar. </a:t>
            </a:r>
            <a:r>
              <a:rPr lang="es-AR" sz="1100" dirty="0">
                <a:solidFill>
                  <a:srgbClr val="5A7184"/>
                </a:solidFill>
                <a:latin typeface="Calibri" pitchFamily="34" charset="0"/>
                <a:cs typeface="Calibri" pitchFamily="34" charset="-120"/>
                <a:hlinkClick r:id="rId3"/>
              </a:rPr>
              <a:t>https://www.geeksforgeeks.org/git/difference-between-fork-and-clone-in-github/</a:t>
            </a:r>
            <a:r>
              <a:rPr lang="es-AR" sz="1100" dirty="0">
                <a:solidFill>
                  <a:srgbClr val="5A7184"/>
                </a:solidFill>
                <a:latin typeface="Calibri" pitchFamily="34" charset="0"/>
                <a:cs typeface="Calibri" pitchFamily="34" charset="-120"/>
              </a:rPr>
              <a:t> </a:t>
            </a:r>
          </a:p>
          <a:p>
            <a:pPr marL="342900" indent="-342900">
              <a:spcAft>
                <a:spcPts val="600"/>
              </a:spcAft>
              <a:buSzPct val="100000"/>
              <a:buChar char="•"/>
            </a:pPr>
            <a:endParaRPr lang="es-AR" sz="1050" noProof="0" dirty="0"/>
          </a:p>
        </p:txBody>
      </p:sp>
      <p:sp>
        <p:nvSpPr>
          <p:cNvPr id="18" name="Shape 15">
            <a:extLst>
              <a:ext uri="{FF2B5EF4-FFF2-40B4-BE49-F238E27FC236}">
                <a16:creationId xmlns:a16="http://schemas.microsoft.com/office/drawing/2014/main" id="{9AA975C2-5E3C-1921-2CEE-A53201EA1120}"/>
              </a:ext>
            </a:extLst>
          </p:cNvPr>
          <p:cNvSpPr/>
          <p:nvPr/>
        </p:nvSpPr>
        <p:spPr>
          <a:xfrm>
            <a:off x="0" y="4709160"/>
            <a:ext cx="9144000" cy="434340"/>
          </a:xfrm>
          <a:prstGeom prst="rect">
            <a:avLst/>
          </a:prstGeom>
          <a:solidFill>
            <a:srgbClr val="0F2B46"/>
          </a:solidFill>
          <a:ln/>
        </p:spPr>
        <p:txBody>
          <a:bodyPr/>
          <a:lstStyle/>
          <a:p>
            <a:endParaRPr lang="es-AR" noProof="0" dirty="0"/>
          </a:p>
        </p:txBody>
      </p:sp>
      <p:sp>
        <p:nvSpPr>
          <p:cNvPr id="19" name="Text 16">
            <a:extLst>
              <a:ext uri="{FF2B5EF4-FFF2-40B4-BE49-F238E27FC236}">
                <a16:creationId xmlns:a16="http://schemas.microsoft.com/office/drawing/2014/main" id="{6F9F45F0-43C9-6A47-9CFF-EE69E8BFCB16}"/>
              </a:ext>
            </a:extLst>
          </p:cNvPr>
          <p:cNvSpPr/>
          <p:nvPr/>
        </p:nvSpPr>
        <p:spPr>
          <a:xfrm>
            <a:off x="457200" y="4709160"/>
            <a:ext cx="8229600" cy="434340"/>
          </a:xfrm>
          <a:prstGeom prst="rect">
            <a:avLst/>
          </a:prstGeom>
          <a:noFill/>
          <a:ln/>
        </p:spPr>
        <p:txBody>
          <a:bodyPr wrap="square" lIns="0" tIns="0" rIns="0" bIns="0" rtlCol="0" anchor="ctr"/>
          <a:lstStyle/>
          <a:p>
            <a:pPr algn="ctr"/>
            <a:r>
              <a:rPr lang="es-AR" sz="850" noProof="0" dirty="0">
                <a:solidFill>
                  <a:srgbClr val="9DC1D9"/>
                </a:solidFill>
                <a:latin typeface="Calibri" pitchFamily="34" charset="0"/>
                <a:ea typeface="Calibri" pitchFamily="34" charset="-122"/>
                <a:cs typeface="Calibri" pitchFamily="34" charset="-120"/>
              </a:rPr>
              <a:t>Ciencia de Datos para Economía y Negocios  |  FCE-UBA  |  Nicolás Sidicaro </a:t>
            </a:r>
            <a:r>
              <a:rPr lang="es-AR" sz="850" dirty="0">
                <a:solidFill>
                  <a:srgbClr val="7FA8C4"/>
                </a:solidFill>
                <a:latin typeface="Calibri" pitchFamily="34" charset="0"/>
                <a:ea typeface="Calibri" pitchFamily="34" charset="-122"/>
                <a:cs typeface="Calibri" pitchFamily="34" charset="-120"/>
              </a:rPr>
              <a:t>y Maida Beltrán</a:t>
            </a:r>
            <a:endParaRPr lang="es-AR" sz="850" noProof="0" dirty="0"/>
          </a:p>
        </p:txBody>
      </p:sp>
      <p:sp>
        <p:nvSpPr>
          <p:cNvPr id="20" name="Text 17">
            <a:extLst>
              <a:ext uri="{FF2B5EF4-FFF2-40B4-BE49-F238E27FC236}">
                <a16:creationId xmlns:a16="http://schemas.microsoft.com/office/drawing/2014/main" id="{2B6F93E7-1E71-F327-35B5-FAE37D94204E}"/>
              </a:ext>
            </a:extLst>
          </p:cNvPr>
          <p:cNvSpPr/>
          <p:nvPr/>
        </p:nvSpPr>
        <p:spPr>
          <a:xfrm>
            <a:off x="8046720" y="4709160"/>
            <a:ext cx="914400" cy="434340"/>
          </a:xfrm>
          <a:prstGeom prst="rect">
            <a:avLst/>
          </a:prstGeom>
          <a:noFill/>
          <a:ln/>
        </p:spPr>
        <p:txBody>
          <a:bodyPr wrap="square" lIns="0" tIns="0" rIns="0" bIns="0" rtlCol="0" anchor="ctr"/>
          <a:lstStyle/>
          <a:p>
            <a:pPr marL="0" indent="0" algn="r">
              <a:buNone/>
            </a:pPr>
            <a:r>
              <a:rPr lang="es-AR" sz="800" noProof="0" dirty="0">
                <a:solidFill>
                  <a:srgbClr val="6A9AB8"/>
                </a:solidFill>
                <a:latin typeface="Calibri" pitchFamily="34" charset="0"/>
                <a:ea typeface="Calibri" pitchFamily="34" charset="-122"/>
                <a:cs typeface="Calibri" pitchFamily="34" charset="-120"/>
              </a:rPr>
              <a:t>9 / 11</a:t>
            </a:r>
            <a:endParaRPr lang="es-AR" sz="800" noProof="0" dirty="0"/>
          </a:p>
        </p:txBody>
      </p:sp>
    </p:spTree>
    <p:extLst>
      <p:ext uri="{BB962C8B-B14F-4D97-AF65-F5344CB8AC3E}">
        <p14:creationId xmlns:p14="http://schemas.microsoft.com/office/powerpoint/2010/main" val="50828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1">
    <p:bg>
      <p:bgPr>
        <a:solidFill>
          <a:srgbClr val="0F2B46"/>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963E"/>
          </a:solidFill>
          <a:ln/>
        </p:spPr>
        <p:txBody>
          <a:bodyPr/>
          <a:lstStyle/>
          <a:p>
            <a:endParaRPr lang="es-AR" noProof="0" dirty="0"/>
          </a:p>
        </p:txBody>
      </p:sp>
      <p:sp>
        <p:nvSpPr>
          <p:cNvPr id="3" name="Shape 1"/>
          <p:cNvSpPr/>
          <p:nvPr/>
        </p:nvSpPr>
        <p:spPr>
          <a:xfrm>
            <a:off x="0" y="54864"/>
            <a:ext cx="36576" cy="5088636"/>
          </a:xfrm>
          <a:prstGeom prst="rect">
            <a:avLst/>
          </a:prstGeom>
          <a:solidFill>
            <a:srgbClr val="2E9EBF">
              <a:alpha val="60000"/>
            </a:srgbClr>
          </a:solidFill>
          <a:ln/>
        </p:spPr>
        <p:txBody>
          <a:bodyPr/>
          <a:lstStyle/>
          <a:p>
            <a:endParaRPr lang="es-AR" noProof="0" dirty="0"/>
          </a:p>
        </p:txBody>
      </p:sp>
      <p:sp>
        <p:nvSpPr>
          <p:cNvPr id="4" name="Text 2"/>
          <p:cNvSpPr/>
          <p:nvPr/>
        </p:nvSpPr>
        <p:spPr>
          <a:xfrm>
            <a:off x="914400" y="1097280"/>
            <a:ext cx="7315200" cy="914400"/>
          </a:xfrm>
          <a:prstGeom prst="rect">
            <a:avLst/>
          </a:prstGeom>
          <a:noFill/>
          <a:ln/>
        </p:spPr>
        <p:txBody>
          <a:bodyPr wrap="square" rtlCol="0" anchor="ctr"/>
          <a:lstStyle/>
          <a:p>
            <a:pPr marL="0" indent="0" algn="ctr">
              <a:buNone/>
            </a:pPr>
            <a:r>
              <a:rPr lang="es-AR" sz="3600" b="1" noProof="0" dirty="0">
                <a:solidFill>
                  <a:srgbClr val="FFFFFF"/>
                </a:solidFill>
                <a:latin typeface="Georgia" pitchFamily="34" charset="0"/>
                <a:ea typeface="Georgia" pitchFamily="34" charset="-122"/>
                <a:cs typeface="Georgia" pitchFamily="34" charset="-120"/>
              </a:rPr>
              <a:t>¡Bienvenidos al curso!</a:t>
            </a:r>
            <a:endParaRPr lang="es-AR" sz="3600" noProof="0" dirty="0"/>
          </a:p>
        </p:txBody>
      </p:sp>
      <p:sp>
        <p:nvSpPr>
          <p:cNvPr id="5" name="Shape 3"/>
          <p:cNvSpPr/>
          <p:nvPr/>
        </p:nvSpPr>
        <p:spPr>
          <a:xfrm>
            <a:off x="3200400" y="2148840"/>
            <a:ext cx="2743200" cy="22860"/>
          </a:xfrm>
          <a:prstGeom prst="rect">
            <a:avLst/>
          </a:prstGeom>
          <a:solidFill>
            <a:srgbClr val="E8963E"/>
          </a:solidFill>
          <a:ln/>
        </p:spPr>
        <p:txBody>
          <a:bodyPr/>
          <a:lstStyle/>
          <a:p>
            <a:endParaRPr lang="es-AR" noProof="0" dirty="0"/>
          </a:p>
        </p:txBody>
      </p:sp>
      <p:sp>
        <p:nvSpPr>
          <p:cNvPr id="6" name="Text 4"/>
          <p:cNvSpPr/>
          <p:nvPr/>
        </p:nvSpPr>
        <p:spPr>
          <a:xfrm>
            <a:off x="1097280" y="2377440"/>
            <a:ext cx="6949440" cy="731520"/>
          </a:xfrm>
          <a:prstGeom prst="rect">
            <a:avLst/>
          </a:prstGeom>
          <a:noFill/>
          <a:ln/>
        </p:spPr>
        <p:txBody>
          <a:bodyPr wrap="square" rtlCol="0" anchor="ctr"/>
          <a:lstStyle/>
          <a:p>
            <a:pPr marL="0" indent="0" algn="ctr">
              <a:lnSpc>
                <a:spcPct val="140000"/>
              </a:lnSpc>
              <a:buNone/>
            </a:pPr>
            <a:r>
              <a:rPr lang="es-AR" sz="1600" i="1" noProof="0" dirty="0">
                <a:solidFill>
                  <a:srgbClr val="B0C8D8"/>
                </a:solidFill>
                <a:latin typeface="Calibri" pitchFamily="34" charset="0"/>
                <a:ea typeface="Calibri" pitchFamily="34" charset="-122"/>
                <a:cs typeface="Calibri" pitchFamily="34" charset="-120"/>
              </a:rPr>
              <a:t>La Ciencia de Datos es una herramienta fundamental</a:t>
            </a:r>
            <a:endParaRPr lang="es-AR" sz="1600" noProof="0" dirty="0"/>
          </a:p>
          <a:p>
            <a:pPr marL="0" indent="0" algn="ctr">
              <a:lnSpc>
                <a:spcPct val="140000"/>
              </a:lnSpc>
              <a:buNone/>
            </a:pPr>
            <a:r>
              <a:rPr lang="es-AR" sz="1600" i="1" noProof="0" dirty="0">
                <a:solidFill>
                  <a:srgbClr val="B0C8D8"/>
                </a:solidFill>
                <a:latin typeface="Calibri" pitchFamily="34" charset="0"/>
                <a:ea typeface="Calibri" pitchFamily="34" charset="-122"/>
                <a:cs typeface="Calibri" pitchFamily="34" charset="-120"/>
              </a:rPr>
              <a:t>para el economista del siglo XXI.</a:t>
            </a:r>
            <a:endParaRPr lang="es-AR" sz="1600" noProof="0" dirty="0"/>
          </a:p>
        </p:txBody>
      </p:sp>
      <p:sp>
        <p:nvSpPr>
          <p:cNvPr id="7" name="Text 5"/>
          <p:cNvSpPr/>
          <p:nvPr/>
        </p:nvSpPr>
        <p:spPr>
          <a:xfrm>
            <a:off x="1828800" y="3383280"/>
            <a:ext cx="5486400" cy="914400"/>
          </a:xfrm>
          <a:prstGeom prst="rect">
            <a:avLst/>
          </a:prstGeom>
          <a:noFill/>
          <a:ln/>
        </p:spPr>
        <p:txBody>
          <a:bodyPr wrap="square" rtlCol="0" anchor="ctr"/>
          <a:lstStyle/>
          <a:p>
            <a:pPr marL="0" indent="0" algn="ctr">
              <a:lnSpc>
                <a:spcPct val="150000"/>
              </a:lnSpc>
              <a:buNone/>
            </a:pPr>
            <a:r>
              <a:rPr lang="es-AR" sz="1400" noProof="0" dirty="0">
                <a:solidFill>
                  <a:srgbClr val="7FA8C4"/>
                </a:solidFill>
                <a:latin typeface="Calibri" pitchFamily="34" charset="0"/>
                <a:ea typeface="Calibri" pitchFamily="34" charset="-122"/>
                <a:cs typeface="Calibri" pitchFamily="34" charset="-120"/>
              </a:rPr>
              <a:t>Nicolás Sidicaro</a:t>
            </a:r>
            <a:endParaRPr lang="es-AR" sz="1400" noProof="0" dirty="0"/>
          </a:p>
          <a:p>
            <a:pPr marL="0" indent="0" algn="ctr">
              <a:lnSpc>
                <a:spcPct val="150000"/>
              </a:lnSpc>
              <a:buNone/>
            </a:pPr>
            <a:r>
              <a:rPr lang="es-AR" sz="1400" noProof="0" dirty="0">
                <a:solidFill>
                  <a:srgbClr val="7FA8C4"/>
                </a:solidFill>
                <a:latin typeface="Calibri" pitchFamily="34" charset="0"/>
                <a:ea typeface="Calibri" pitchFamily="34" charset="-122"/>
                <a:cs typeface="Calibri" pitchFamily="34" charset="-120"/>
              </a:rPr>
              <a:t>Facultad de Ciencias Económicas — UBA</a:t>
            </a:r>
            <a:endParaRPr lang="es-AR" sz="1400" noProof="0" dirty="0"/>
          </a:p>
          <a:p>
            <a:pPr marL="0" indent="0" algn="ctr">
              <a:lnSpc>
                <a:spcPct val="150000"/>
              </a:lnSpc>
              <a:buNone/>
            </a:pPr>
            <a:r>
              <a:rPr lang="es-AR" sz="1400" dirty="0">
                <a:solidFill>
                  <a:srgbClr val="7FA8C4"/>
                </a:solidFill>
                <a:latin typeface="Calibri" pitchFamily="34" charset="0"/>
                <a:ea typeface="Calibri" pitchFamily="34" charset="-122"/>
                <a:cs typeface="Calibri" pitchFamily="34" charset="-120"/>
              </a:rPr>
              <a:t>2do</a:t>
            </a:r>
            <a:r>
              <a:rPr lang="es-AR" sz="1400" noProof="0" dirty="0">
                <a:solidFill>
                  <a:srgbClr val="7FA8C4"/>
                </a:solidFill>
                <a:latin typeface="Calibri" pitchFamily="34" charset="0"/>
                <a:ea typeface="Calibri" pitchFamily="34" charset="-122"/>
                <a:cs typeface="Calibri" pitchFamily="34" charset="-120"/>
              </a:rPr>
              <a:t> Cuatrimestre 2026</a:t>
            </a:r>
            <a:endParaRPr lang="es-AR" sz="1400" noProof="0" dirty="0"/>
          </a:p>
        </p:txBody>
      </p:sp>
      <p:sp>
        <p:nvSpPr>
          <p:cNvPr id="8" name="Shape 6"/>
          <p:cNvSpPr/>
          <p:nvPr/>
        </p:nvSpPr>
        <p:spPr>
          <a:xfrm>
            <a:off x="0" y="4709160"/>
            <a:ext cx="9144000" cy="434340"/>
          </a:xfrm>
          <a:prstGeom prst="rect">
            <a:avLst/>
          </a:prstGeom>
          <a:solidFill>
            <a:srgbClr val="071520"/>
          </a:solidFill>
          <a:ln/>
        </p:spPr>
        <p:txBody>
          <a:bodyPr/>
          <a:lstStyle/>
          <a:p>
            <a:endParaRPr lang="es-AR" noProof="0" dirty="0"/>
          </a:p>
        </p:txBody>
      </p:sp>
      <p:sp>
        <p:nvSpPr>
          <p:cNvPr id="9" name="Text 7"/>
          <p:cNvSpPr/>
          <p:nvPr/>
        </p:nvSpPr>
        <p:spPr>
          <a:xfrm>
            <a:off x="457200" y="4709160"/>
            <a:ext cx="8229600" cy="434340"/>
          </a:xfrm>
          <a:prstGeom prst="rect">
            <a:avLst/>
          </a:prstGeom>
          <a:noFill/>
          <a:ln/>
        </p:spPr>
        <p:txBody>
          <a:bodyPr wrap="square" lIns="0" tIns="0" rIns="0" bIns="0" rtlCol="0" anchor="ctr"/>
          <a:lstStyle/>
          <a:p>
            <a:pPr algn="ctr"/>
            <a:r>
              <a:rPr lang="es-AR" sz="850" noProof="0" dirty="0">
                <a:solidFill>
                  <a:srgbClr val="7FA8C4"/>
                </a:solidFill>
                <a:latin typeface="Calibri" pitchFamily="34" charset="0"/>
                <a:ea typeface="Calibri" pitchFamily="34" charset="-122"/>
                <a:cs typeface="Calibri" pitchFamily="34" charset="-120"/>
              </a:rPr>
              <a:t>Ciencia de Datos para Economía y Negocios  |  FCE-UBA  |  Nicolás Sidicaro</a:t>
            </a:r>
            <a:r>
              <a:rPr lang="es-AR" sz="850" dirty="0">
                <a:solidFill>
                  <a:srgbClr val="7FA8C4"/>
                </a:solidFill>
                <a:latin typeface="Calibri" pitchFamily="34" charset="0"/>
                <a:ea typeface="Calibri" pitchFamily="34" charset="-122"/>
                <a:cs typeface="Calibri" pitchFamily="34" charset="-120"/>
              </a:rPr>
              <a:t> y Maida Beltrán</a:t>
            </a:r>
            <a:endParaRPr lang="es-AR" sz="850"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1570</TotalTime>
  <Words>2074</Words>
  <Application>Microsoft Office PowerPoint</Application>
  <PresentationFormat>Presentación en pantalla (16:9)</PresentationFormat>
  <Paragraphs>287</Paragraphs>
  <Slides>19</Slides>
  <Notes>19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19</vt:i4>
      </vt:variant>
    </vt:vector>
  </HeadingPairs>
  <TitlesOfParts>
    <vt:vector size="24" baseType="lpstr">
      <vt:lpstr>Arial</vt:lpstr>
      <vt:lpstr>Calibri</vt:lpstr>
      <vt:lpstr>Consolas</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Ciencia de Datos para Economía y Negocios - Clase 1</dc:title>
  <dc:subject>PptxGenJS Presentation</dc:subject>
  <dc:creator>Nicolás Sidicaro</dc:creator>
  <cp:lastModifiedBy>SIDICARO NICOLAS LEONARDO</cp:lastModifiedBy>
  <cp:revision>10</cp:revision>
  <dcterms:created xsi:type="dcterms:W3CDTF">2026-03-02T01:41:13Z</dcterms:created>
  <dcterms:modified xsi:type="dcterms:W3CDTF">2026-08-14T11:45:13Z</dcterms:modified>
</cp:coreProperties>
</file>